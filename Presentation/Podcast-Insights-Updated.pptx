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4" r:id="rId35"/>
    <p:sldId id="285" r:id="rId36"/>
    <p:sldId id="286" r:id="rId37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-1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69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8.svg"/></Relationships>
</file>

<file path=ppt/slides/_rels/slide20.xml.rels><?xml version="1.0" encoding="UTF-8"?>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7.sv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svg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svg"/><Relationship Id="rId4" Type="http://schemas.openxmlformats.org/officeDocument/2006/relationships/image" Target="../media/image8.svg"/></Relationships>
</file>

<file path=ppt/slides/_rels/slide28.xml.rels><?xml version="1.0" encoding="UTF-8"?>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6.jpe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8.svg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6263" y="-1671637"/>
            <a:ext cx="6315075" cy="63150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40173" y="1671638"/>
            <a:ext cx="5400675" cy="54006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357" y="359792"/>
            <a:ext cx="238125" cy="238125"/>
          </a:xfrm>
          <a:prstGeom prst="roundRect">
            <a:avLst>
              <a:gd name="adj" fmla="val 2304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2"/>
          <p:cNvSpPr/>
          <p:nvPr/>
        </p:nvSpPr>
        <p:spPr>
          <a:xfrm>
            <a:off x="622176" y="433611"/>
            <a:ext cx="90488" cy="90488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3"/>
          <p:cNvSpPr/>
          <p:nvPr/>
        </p:nvSpPr>
        <p:spPr>
          <a:xfrm>
            <a:off x="877639" y="390302"/>
            <a:ext cx="15648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-27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</a:t>
            </a:r>
            <a:endParaRPr lang="en-US" sz="1080" dirty="0"/>
          </a:p>
        </p:txBody>
      </p:sp>
      <p:sp>
        <p:nvSpPr>
          <p:cNvPr id="9" name="Text 4"/>
          <p:cNvSpPr/>
          <p:nvPr/>
        </p:nvSpPr>
        <p:spPr>
          <a:xfrm>
            <a:off x="6975053" y="395660"/>
            <a:ext cx="216362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GRADUATION PROJECT</a:t>
            </a:r>
            <a:endParaRPr lang="en-US" sz="790" dirty="0"/>
          </a:p>
        </p:txBody>
      </p:sp>
      <p:sp>
        <p:nvSpPr>
          <p:cNvPr id="10" name="Text 5"/>
          <p:cNvSpPr/>
          <p:nvPr/>
        </p:nvSpPr>
        <p:spPr>
          <a:xfrm>
            <a:off x="548580" y="1758255"/>
            <a:ext cx="44883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1"/>
              </a:spcAft>
              <a:buNone/>
            </a:pPr>
            <a:r>
              <a:rPr lang="en-US" sz="1010" kern="0" spc="323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ENGINEERING CAPSTONE</a:t>
            </a:r>
            <a:endParaRPr lang="en-US" sz="1010" dirty="0"/>
          </a:p>
        </p:txBody>
      </p:sp>
      <p:sp>
        <p:nvSpPr>
          <p:cNvPr id="11" name="Text 6"/>
          <p:cNvSpPr/>
          <p:nvPr/>
        </p:nvSpPr>
        <p:spPr>
          <a:xfrm>
            <a:off x="548580" y="1934766"/>
            <a:ext cx="8426269" cy="947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148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</a:t>
            </a:r>
            <a:endParaRPr lang="en-US" sz="5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11" y="2921310"/>
            <a:ext cx="2009775" cy="23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580" y="3139976"/>
            <a:ext cx="7006344" cy="90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sz="16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modern web platform for discovering, streaming, and</a:t>
            </a:r>
            <a:endParaRPr lang="en-US" sz="1660" dirty="0"/>
          </a:p>
          <a:p>
            <a:pPr marL="0" indent="0" algn="l">
              <a:lnSpc>
                <a:spcPts val="2484"/>
              </a:lnSpc>
              <a:buNone/>
            </a:pPr>
            <a:r>
              <a:rPr lang="en-US" sz="16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podcasts — powered by AI</a:t>
            </a:r>
            <a:endParaRPr lang="en-US" sz="1660" dirty="0"/>
          </a:p>
          <a:p>
            <a:pPr marL="0" indent="0" algn="l">
              <a:lnSpc>
                <a:spcPts val="2484"/>
              </a:lnSpc>
              <a:buNone/>
            </a:pPr>
            <a:r>
              <a:rPr lang="en-US" sz="16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and a personal analytics dashboard.</a:t>
            </a:r>
            <a:endParaRPr lang="en-US" sz="1660" dirty="0"/>
          </a:p>
        </p:txBody>
      </p:sp>
      <p:sp>
        <p:nvSpPr>
          <p:cNvPr id="14" name="Text 8"/>
          <p:cNvSpPr/>
          <p:nvPr/>
        </p:nvSpPr>
        <p:spPr>
          <a:xfrm>
            <a:off x="548580" y="4387155"/>
            <a:ext cx="9695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WITH</a:t>
            </a:r>
            <a:endParaRPr lang="en-US" sz="720" dirty="0"/>
          </a:p>
        </p:txBody>
      </p:sp>
      <p:sp>
        <p:nvSpPr>
          <p:cNvPr id="15" name="Text 9"/>
          <p:cNvSpPr/>
          <p:nvPr/>
        </p:nvSpPr>
        <p:spPr>
          <a:xfrm>
            <a:off x="548580" y="4564633"/>
            <a:ext cx="305448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React · Vite · JavaScript · CSS</a:t>
            </a:r>
            <a:endParaRPr lang="en-US" sz="1220" dirty="0"/>
          </a:p>
        </p:txBody>
      </p:sp>
      <p:sp>
        <p:nvSpPr>
          <p:cNvPr id="16" name="Text 10"/>
          <p:cNvSpPr/>
          <p:nvPr/>
        </p:nvSpPr>
        <p:spPr>
          <a:xfrm>
            <a:off x="7355547" y="4387155"/>
            <a:ext cx="123987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kern="0" spc="1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TO</a:t>
            </a:r>
            <a:endParaRPr lang="en-US" sz="72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BD4D60-6E39-01B5-EBDF-36A0B14F0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83" y="623088"/>
            <a:ext cx="716217" cy="7162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091790-1637-AF93-C501-EADDDA63FD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4650" y="597917"/>
            <a:ext cx="637585" cy="6952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7B60140-EE9E-4F38-18B9-C28E329EC906}"/>
              </a:ext>
            </a:extLst>
          </p:cNvPr>
          <p:cNvSpPr txBox="1"/>
          <p:nvPr/>
        </p:nvSpPr>
        <p:spPr>
          <a:xfrm>
            <a:off x="7787050" y="4522912"/>
            <a:ext cx="169037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DEPI</a:t>
            </a:r>
            <a:endParaRPr lang="ar-EG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345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508642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Introduction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1759296" y="1604962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968995" y="1809825"/>
            <a:ext cx="15557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One</a:t>
            </a:r>
            <a:endParaRPr lang="en-US" sz="1370" dirty="0"/>
          </a:p>
        </p:txBody>
      </p:sp>
      <p:sp>
        <p:nvSpPr>
          <p:cNvPr id="12" name="Shape 8"/>
          <p:cNvSpPr/>
          <p:nvPr/>
        </p:nvSpPr>
        <p:spPr>
          <a:xfrm>
            <a:off x="4314118" y="2407964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9"/>
          <p:cNvSpPr/>
          <p:nvPr/>
        </p:nvSpPr>
        <p:spPr>
          <a:xfrm>
            <a:off x="4502646" y="2664818"/>
            <a:ext cx="155533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Four</a:t>
            </a:r>
            <a:endParaRPr lang="en-US" sz="1370" dirty="0"/>
          </a:p>
        </p:txBody>
      </p:sp>
      <p:sp>
        <p:nvSpPr>
          <p:cNvPr id="17" name="Shape 12"/>
          <p:cNvSpPr/>
          <p:nvPr/>
        </p:nvSpPr>
        <p:spPr>
          <a:xfrm>
            <a:off x="6821316" y="2414343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3"/>
          <p:cNvSpPr/>
          <p:nvPr/>
        </p:nvSpPr>
        <p:spPr>
          <a:xfrm>
            <a:off x="7009844" y="2615809"/>
            <a:ext cx="173139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Five</a:t>
            </a:r>
            <a:endParaRPr lang="en-US" sz="1370" dirty="0"/>
          </a:p>
        </p:txBody>
      </p:sp>
      <p:sp>
        <p:nvSpPr>
          <p:cNvPr id="22" name="Shape 16"/>
          <p:cNvSpPr/>
          <p:nvPr/>
        </p:nvSpPr>
        <p:spPr>
          <a:xfrm>
            <a:off x="6841702" y="240384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24" name="Text 17"/>
          <p:cNvSpPr/>
          <p:nvPr/>
        </p:nvSpPr>
        <p:spPr>
          <a:xfrm>
            <a:off x="7030192" y="440977"/>
            <a:ext cx="15894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Three</a:t>
            </a:r>
            <a:endParaRPr lang="en-US" sz="1370" dirty="0"/>
          </a:p>
        </p:txBody>
      </p:sp>
      <p:sp>
        <p:nvSpPr>
          <p:cNvPr id="27" name="Text 20"/>
          <p:cNvSpPr/>
          <p:nvPr/>
        </p:nvSpPr>
        <p:spPr>
          <a:xfrm>
            <a:off x="548580" y="4601021"/>
            <a:ext cx="289980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Supervised by </a:t>
            </a: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Dr. [Supervisor Name]</a:t>
            </a:r>
            <a:endParaRPr lang="en-US" sz="1010" dirty="0"/>
          </a:p>
        </p:txBody>
      </p:sp>
      <p:sp>
        <p:nvSpPr>
          <p:cNvPr id="28" name="Text 21"/>
          <p:cNvSpPr/>
          <p:nvPr/>
        </p:nvSpPr>
        <p:spPr>
          <a:xfrm>
            <a:off x="2918073" y="4635103"/>
            <a:ext cx="8036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A23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|</a:t>
            </a:r>
            <a:endParaRPr lang="en-US" sz="600" dirty="0"/>
          </a:p>
        </p:txBody>
      </p:sp>
      <p:sp>
        <p:nvSpPr>
          <p:cNvPr id="29" name="Text 22"/>
          <p:cNvSpPr/>
          <p:nvPr/>
        </p:nvSpPr>
        <p:spPr>
          <a:xfrm>
            <a:off x="3118768" y="4601021"/>
            <a:ext cx="267517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Department of Computer Science</a:t>
            </a:r>
            <a:endParaRPr lang="en-US" sz="1010" dirty="0"/>
          </a:p>
        </p:txBody>
      </p:sp>
      <p:sp>
        <p:nvSpPr>
          <p:cNvPr id="31" name="Text 24"/>
          <p:cNvSpPr/>
          <p:nvPr/>
        </p:nvSpPr>
        <p:spPr>
          <a:xfrm>
            <a:off x="2858319" y="2061493"/>
            <a:ext cx="3642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923234" y="2061493"/>
            <a:ext cx="3446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972151" y="2061493"/>
            <a:ext cx="3667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762962A6-5E39-238A-4AFC-13B966FF711F}"/>
              </a:ext>
            </a:extLst>
          </p:cNvPr>
          <p:cNvSpPr/>
          <p:nvPr/>
        </p:nvSpPr>
        <p:spPr>
          <a:xfrm>
            <a:off x="4374973" y="240384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81331A4A-BD6F-25E7-2E46-7006FFD78D28}"/>
              </a:ext>
            </a:extLst>
          </p:cNvPr>
          <p:cNvSpPr/>
          <p:nvPr/>
        </p:nvSpPr>
        <p:spPr>
          <a:xfrm>
            <a:off x="4563501" y="485625"/>
            <a:ext cx="15557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Two</a:t>
            </a:r>
            <a:endParaRPr lang="en-US" sz="137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3DB851-DB28-8DC0-6BB4-0A89F92FA37E}"/>
              </a:ext>
            </a:extLst>
          </p:cNvPr>
          <p:cNvSpPr txBox="1"/>
          <p:nvPr/>
        </p:nvSpPr>
        <p:spPr>
          <a:xfrm>
            <a:off x="1893951" y="2091448"/>
            <a:ext cx="164295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Adel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abd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elzaher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 adel 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0B1FD-0B93-9069-545D-526AFCD57D13}"/>
              </a:ext>
            </a:extLst>
          </p:cNvPr>
          <p:cNvSpPr txBox="1"/>
          <p:nvPr/>
        </p:nvSpPr>
        <p:spPr>
          <a:xfrm>
            <a:off x="4511351" y="841621"/>
            <a:ext cx="164295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Habiba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mohamed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saleh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521B02-C55C-B452-A941-9FBFEF3F098C}"/>
              </a:ext>
            </a:extLst>
          </p:cNvPr>
          <p:cNvSpPr txBox="1"/>
          <p:nvPr/>
        </p:nvSpPr>
        <p:spPr>
          <a:xfrm>
            <a:off x="7049188" y="3069876"/>
            <a:ext cx="164295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Mahmoud Mohamed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AbdElaziz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292D1F-4B3D-48CB-E275-E4496959953D}"/>
              </a:ext>
            </a:extLst>
          </p:cNvPr>
          <p:cNvSpPr txBox="1"/>
          <p:nvPr/>
        </p:nvSpPr>
        <p:spPr>
          <a:xfrm>
            <a:off x="4491705" y="3089597"/>
            <a:ext cx="164295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Ibrahem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ayman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mohamed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D71FA7-3400-FF09-E0FD-C99BD290E593}"/>
              </a:ext>
            </a:extLst>
          </p:cNvPr>
          <p:cNvSpPr txBox="1"/>
          <p:nvPr/>
        </p:nvSpPr>
        <p:spPr>
          <a:xfrm>
            <a:off x="6972151" y="896313"/>
            <a:ext cx="164295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Jassy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kamal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naeim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 xml:space="preserve"> 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3840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203723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5398361" cy="91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Platform is a single-page web</a:t>
            </a:r>
            <a:endParaRPr lang="en-US" sz="1580" dirty="0"/>
          </a:p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application that lets listeners </a:t>
            </a:r>
            <a:r>
              <a:rPr lang="en-US" sz="15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</a:t>
            </a: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1580" dirty="0"/>
          </a:p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</a:t>
            </a: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, and </a:t>
            </a:r>
            <a:r>
              <a:rPr lang="en-US" sz="15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</a:t>
            </a: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podcasts in one place.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548580" y="2907283"/>
            <a:ext cx="5418192" cy="70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9"/>
              </a:lnSpc>
              <a:buNone/>
            </a:pPr>
            <a:r>
              <a:rPr lang="en-US" sz="12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playback, it learns from each user's habits to</a:t>
            </a:r>
            <a:endParaRPr lang="en-US" sz="1220" dirty="0"/>
          </a:p>
          <a:p>
            <a:pPr marL="0" indent="0" algn="l">
              <a:lnSpc>
                <a:spcPts val="1989"/>
              </a:lnSpc>
              <a:buNone/>
            </a:pPr>
            <a:r>
              <a:rPr lang="en-US" sz="12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 relevant shows and turns raw listening data into a</a:t>
            </a:r>
            <a:endParaRPr lang="en-US" sz="1220" dirty="0"/>
          </a:p>
          <a:p>
            <a:pPr marL="0" indent="0" algn="l">
              <a:lnSpc>
                <a:spcPts val="1989"/>
              </a:lnSpc>
              <a:buNone/>
            </a:pPr>
            <a:r>
              <a:rPr lang="en-US" sz="12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personal analytics dashboard.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001145" y="1697720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6171293" y="1823740"/>
            <a:ext cx="33846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171293" y="2238449"/>
            <a:ext cx="11516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modules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6171293" y="2461245"/>
            <a:ext cx="1758486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playback, favorites,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AI, analytics, history, Gemini AI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4936964" y="3083086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5107112" y="3209106"/>
            <a:ext cx="894033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SPA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5107112" y="3623816"/>
            <a:ext cx="10466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5107112" y="3846612"/>
            <a:ext cx="1205143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Vite client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6838913" y="3083086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7009061" y="3209106"/>
            <a:ext cx="512981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7009061" y="3623816"/>
            <a:ext cx="12421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7009061" y="3846612"/>
            <a:ext cx="1540825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+ collaborative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</a:rPr>
              <a:t>Ai agent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48580" y="4601021"/>
            <a:ext cx="885027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deliver a focused, fast, and personal listening experience that stays usable as the catalog and audience grow.</a:t>
            </a:r>
            <a:endParaRPr lang="en-US" sz="101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463876"/>
            <a:ext cx="8048625" cy="319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21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808241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846883"/>
            <a:ext cx="5501387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Listeners have more podcasts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548580" y="2189708"/>
            <a:ext cx="4548999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 ever, yet finding the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548580" y="2532534"/>
            <a:ext cx="5051747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right one and tracking their</a:t>
            </a:r>
            <a:endParaRPr lang="en-US" sz="2160" dirty="0"/>
          </a:p>
        </p:txBody>
      </p:sp>
      <p:sp>
        <p:nvSpPr>
          <p:cNvPr id="10" name="Text 7"/>
          <p:cNvSpPr/>
          <p:nvPr/>
        </p:nvSpPr>
        <p:spPr>
          <a:xfrm>
            <a:off x="548580" y="2875359"/>
            <a:ext cx="4633548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 habits remains hard.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5487107" y="1790440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5678388" y="1748730"/>
            <a:ext cx="3645947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 relies on generic top charts, not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taste.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5487107" y="2283061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5678388" y="2241352"/>
            <a:ext cx="3552788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history is invisible — users can't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their own patterns.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5487107" y="277568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5678388" y="2733973"/>
            <a:ext cx="3578520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is often slow, shallow, or limited to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titles.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5487107" y="3268303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5678388" y="3226594"/>
            <a:ext cx="3664521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Favorites and resume points are scattered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apps.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48580" y="4587329"/>
            <a:ext cx="105175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How can one lightweight web app make podcast discovery </a:t>
            </a: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</a:t>
            </a: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, listening </a:t>
            </a: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measurable</a:t>
            </a: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, and the whole experience </a:t>
            </a: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cohesive</a:t>
            </a: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?</a:t>
            </a:r>
            <a:endParaRPr lang="en-US" sz="108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449887"/>
            <a:ext cx="80486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10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9428"/>
            <a:ext cx="949319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310" b="1" kern="0" spc="-83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Existing Problems in Podcast Apps</a:t>
            </a:r>
            <a:endParaRPr lang="en-US" sz="3310" dirty="0"/>
          </a:p>
        </p:txBody>
      </p:sp>
      <p:sp>
        <p:nvSpPr>
          <p:cNvPr id="6" name="Shape 3"/>
          <p:cNvSpPr/>
          <p:nvPr/>
        </p:nvSpPr>
        <p:spPr>
          <a:xfrm>
            <a:off x="549511" y="1131019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7689"/>
            <a:ext cx="2562225" cy="1566862"/>
          </a:xfrm>
          <a:prstGeom prst="roundRect">
            <a:avLst>
              <a:gd name="adj" fmla="val 7003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50616"/>
            <a:ext cx="2899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736178" y="2219325"/>
            <a:ext cx="20067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Weak Discovery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736178" y="2560886"/>
            <a:ext cx="2808097" cy="54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default to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popularity charts and ignore individual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behavior.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290850" y="1747689"/>
            <a:ext cx="2562225" cy="1566862"/>
          </a:xfrm>
          <a:prstGeom prst="roundRect">
            <a:avLst>
              <a:gd name="adj" fmla="val 7003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3479378" y="1950616"/>
            <a:ext cx="3242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3479378" y="2219325"/>
            <a:ext cx="19235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Self-Insight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479378" y="2560886"/>
            <a:ext cx="2717840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cannot see how much, what, or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they listen across categories.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6034050" y="1747689"/>
            <a:ext cx="2562225" cy="1566862"/>
          </a:xfrm>
          <a:prstGeom prst="roundRect">
            <a:avLst>
              <a:gd name="adj" fmla="val 7003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6222578" y="1950616"/>
            <a:ext cx="3246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6222578" y="2219325"/>
            <a:ext cx="2434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Fragmented Search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222578" y="2560886"/>
            <a:ext cx="2553965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matches titles only, missing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topics, hosts, and descriptions.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47650" y="3496382"/>
            <a:ext cx="2562225" cy="13716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36178" y="3698230"/>
            <a:ext cx="3318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010" dirty="0"/>
          </a:p>
        </p:txBody>
      </p:sp>
      <p:sp>
        <p:nvSpPr>
          <p:cNvPr id="21" name="Text 18"/>
          <p:cNvSpPr/>
          <p:nvPr/>
        </p:nvSpPr>
        <p:spPr>
          <a:xfrm>
            <a:off x="736178" y="3966939"/>
            <a:ext cx="171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Lost Progress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736178" y="4308500"/>
            <a:ext cx="2594692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 points and favorites do not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 reliably between sessions.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3290850" y="3496382"/>
            <a:ext cx="2562225" cy="13716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1"/>
          <p:cNvSpPr/>
          <p:nvPr/>
        </p:nvSpPr>
        <p:spPr>
          <a:xfrm>
            <a:off x="3479378" y="3698230"/>
            <a:ext cx="3267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3479378" y="3966939"/>
            <a:ext cx="15489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Cluttered UI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3479378" y="4308500"/>
            <a:ext cx="2555126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Heavy interfaces bury core actions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behind ads and dense menus.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6034050" y="3496382"/>
            <a:ext cx="2562225" cy="13716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6222578" y="3698230"/>
            <a:ext cx="3342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6222578" y="3966939"/>
            <a:ext cx="1595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Poor Scaling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6222578" y="4308500"/>
            <a:ext cx="2585889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drops as catalogs and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libraries grow large.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8724" y="-1672121"/>
            <a:ext cx="5310187" cy="5310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3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575198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25885"/>
            <a:ext cx="4735317" cy="118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A unified web platform that pairs </a:t>
            </a: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</a:t>
            </a:r>
            <a:endParaRPr lang="en-US" sz="1510" dirty="0"/>
          </a:p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multi-field search</a:t>
            </a: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with </a:t>
            </a: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</a:t>
            </a:r>
            <a:endParaRPr lang="en-US" sz="1510" dirty="0"/>
          </a:p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</a:t>
            </a: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and a </a:t>
            </a: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analytics</a:t>
            </a:r>
            <a:endParaRPr lang="en-US" sz="1510" dirty="0"/>
          </a:p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— all in one clean interface.</a:t>
            </a:r>
            <a:endParaRPr lang="en-US" sz="1510" dirty="0"/>
          </a:p>
        </p:txBody>
      </p:sp>
      <p:sp>
        <p:nvSpPr>
          <p:cNvPr id="8" name="Text 5"/>
          <p:cNvSpPr/>
          <p:nvPr/>
        </p:nvSpPr>
        <p:spPr>
          <a:xfrm>
            <a:off x="548580" y="3118396"/>
            <a:ext cx="4705037" cy="428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problem on the previous slide maps directly to</a:t>
            </a:r>
            <a:endParaRPr lang="en-US" sz="1150" dirty="0"/>
          </a:p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module designed to solve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5914" y="1697162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4887739" y="1853282"/>
            <a:ext cx="11856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discovery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6295876" y="1839590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538838" y="1839590"/>
            <a:ext cx="23253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recommendation engine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755914" y="2250579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4887739" y="2406700"/>
            <a:ext cx="11085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self-insight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6295876" y="2393007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538838" y="2393007"/>
            <a:ext cx="17906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dashboard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755914" y="2803996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4887739" y="2960117"/>
            <a:ext cx="144621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Fragmented search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6295876" y="2946425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38838" y="2946425"/>
            <a:ext cx="22249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Multi-field search module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4755914" y="3357414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4887739" y="3513534"/>
            <a:ext cx="10254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Lost progress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6295876" y="3499842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538838" y="3499842"/>
            <a:ext cx="20366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Favorites + history sync · Gemini AI summaries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82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57587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62125"/>
            <a:ext cx="48473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1030635" y="1819275"/>
            <a:ext cx="2872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Personalized discovery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1030635" y="2115666"/>
            <a:ext cx="4073336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 shows from each user's actual listening</a:t>
            </a:r>
            <a:endParaRPr lang="en-US" sz="101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behavior.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4754835" y="1762125"/>
            <a:ext cx="558158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5266879" y="1819275"/>
            <a:ext cx="216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Fast, deep search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5266879" y="2115666"/>
            <a:ext cx="3769675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titles, hosts, categories, and descriptions</a:t>
            </a:r>
            <a:endParaRPr lang="en-US" sz="101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instantly.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48580" y="2604418"/>
            <a:ext cx="55893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1060624" y="2661568"/>
            <a:ext cx="22980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habits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1060624" y="2957959"/>
            <a:ext cx="416872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listening history into a clear personal dashboard.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4754835" y="2604418"/>
            <a:ext cx="57460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2160" dirty="0"/>
          </a:p>
        </p:txBody>
      </p:sp>
      <p:sp>
        <p:nvSpPr>
          <p:cNvPr id="17" name="Text 14"/>
          <p:cNvSpPr/>
          <p:nvPr/>
        </p:nvSpPr>
        <p:spPr>
          <a:xfrm>
            <a:off x="5266879" y="2661568"/>
            <a:ext cx="23770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Seamless playback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5266879" y="2957959"/>
            <a:ext cx="43520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Reliable streaming with resume and persistent favorites.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548580" y="3270721"/>
            <a:ext cx="563575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2160" dirty="0"/>
          </a:p>
        </p:txBody>
      </p:sp>
      <p:sp>
        <p:nvSpPr>
          <p:cNvPr id="20" name="Text 17"/>
          <p:cNvSpPr/>
          <p:nvPr/>
        </p:nvSpPr>
        <p:spPr>
          <a:xfrm>
            <a:off x="1060624" y="3327871"/>
            <a:ext cx="21820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Clean experience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1060624" y="3624263"/>
            <a:ext cx="40363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focused, accessible interface across screen sizes.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4754835" y="3270721"/>
            <a:ext cx="579537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2160" dirty="0"/>
          </a:p>
        </p:txBody>
      </p:sp>
      <p:sp>
        <p:nvSpPr>
          <p:cNvPr id="23" name="Text 20"/>
          <p:cNvSpPr/>
          <p:nvPr/>
        </p:nvSpPr>
        <p:spPr>
          <a:xfrm>
            <a:off x="5266879" y="3327871"/>
            <a:ext cx="16256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Built to scale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5266879" y="3624263"/>
            <a:ext cx="40001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modular architecture ready for a growing catalog.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140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998428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Scope of the Project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9511" y="1696194"/>
            <a:ext cx="3838575" cy="2405062"/>
          </a:xfrm>
          <a:prstGeom prst="roundRect">
            <a:avLst>
              <a:gd name="adj" fmla="val 456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72790" y="1945332"/>
            <a:ext cx="122652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Scope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772790" y="2336304"/>
            <a:ext cx="4466191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browsing, multi-field search, and streaming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playback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72790" y="2818656"/>
            <a:ext cx="42480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accounts with favorites and listening history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72790" y="3106117"/>
            <a:ext cx="41208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AI-driven recommendations from user behavior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72790" y="3393579"/>
            <a:ext cx="356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AI episode summarizer (in-platform, no external app)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72790" y="3681040"/>
            <a:ext cx="41149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web interface (desktop and mobile)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755914" y="1696380"/>
            <a:ext cx="3838575" cy="2209800"/>
          </a:xfrm>
          <a:prstGeom prst="roundRect">
            <a:avLst>
              <a:gd name="adj" fmla="val 4966"/>
            </a:avLst>
          </a:prstGeom>
          <a:solidFill>
            <a:srgbClr val="140F2D">
              <a:alpha val="40000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4979194" y="1945332"/>
            <a:ext cx="181149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9A94C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 of Scope</a:t>
            </a:r>
            <a:endParaRPr lang="en-US" sz="1580" dirty="0"/>
          </a:p>
        </p:txBody>
      </p:sp>
      <p:sp>
        <p:nvSpPr>
          <p:cNvPr id="16" name="Text 13"/>
          <p:cNvSpPr/>
          <p:nvPr/>
        </p:nvSpPr>
        <p:spPr>
          <a:xfrm>
            <a:off x="4979194" y="2336304"/>
            <a:ext cx="287736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iOS / Android applications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4979194" y="2623765"/>
            <a:ext cx="34280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hosting or creator upload tools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4979194" y="2911227"/>
            <a:ext cx="37494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Monetization, ads, and payment processing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979194" y="3198688"/>
            <a:ext cx="34831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downloads and background sync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4979194" y="3486150"/>
            <a:ext cx="32694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/ real-time streaming broadcasts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3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3186537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Roles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9661"/>
            <a:ext cx="2562225" cy="2047875"/>
          </a:xfrm>
          <a:prstGeom prst="roundRect">
            <a:avLst>
              <a:gd name="adj" fmla="val 53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754596" y="1953444"/>
            <a:ext cx="542925" cy="228600"/>
          </a:xfrm>
          <a:prstGeom prst="roundRect">
            <a:avLst>
              <a:gd name="adj" fmla="val 50000"/>
            </a:avLst>
          </a:prstGeom>
          <a:solidFill>
            <a:srgbClr val="2A2450">
              <a:alpha val="50196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864171" y="1994967"/>
            <a:ext cx="4780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2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Guest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754484" y="2307506"/>
            <a:ext cx="189121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Explore freely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754484" y="2688208"/>
            <a:ext cx="14716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the catalog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754484" y="2929905"/>
            <a:ext cx="23500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podcasts and episodes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754484" y="3171602"/>
            <a:ext cx="202364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Preview and play episodes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754484" y="3413299"/>
            <a:ext cx="21480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Prompted to sign up to save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5760500" y="1749661"/>
            <a:ext cx="2562225" cy="2047875"/>
          </a:xfrm>
          <a:prstGeom prst="roundRect">
            <a:avLst>
              <a:gd name="adj" fmla="val 5358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3"/>
          <p:cNvSpPr/>
          <p:nvPr/>
        </p:nvSpPr>
        <p:spPr>
          <a:xfrm>
            <a:off x="5971687" y="1958206"/>
            <a:ext cx="1266825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6081783" y="1999729"/>
            <a:ext cx="14177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2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Registered Listener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5972097" y="2312268"/>
            <a:ext cx="159790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Personalize</a:t>
            </a:r>
            <a:endParaRPr lang="en-US" sz="1580" dirty="0"/>
          </a:p>
        </p:txBody>
      </p:sp>
      <p:sp>
        <p:nvSpPr>
          <p:cNvPr id="19" name="Text 16"/>
          <p:cNvSpPr/>
          <p:nvPr/>
        </p:nvSpPr>
        <p:spPr>
          <a:xfrm>
            <a:off x="5972097" y="2692971"/>
            <a:ext cx="158571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guest capabilities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5972097" y="2934667"/>
            <a:ext cx="25211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favorites and resume points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5972097" y="3176364"/>
            <a:ext cx="22189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AI recommendations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5972097" y="3418061"/>
            <a:ext cx="26481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personal analytics dashboard</a:t>
            </a:r>
            <a:endParaRPr lang="en-US" sz="9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003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749496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Functional Requirements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11598"/>
            <a:ext cx="42688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FR-1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1110704" y="1697310"/>
            <a:ext cx="3376144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registration, login, and session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4754835" y="1711598"/>
            <a:ext cx="46122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FR-2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340028" y="1697310"/>
            <a:ext cx="339433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and filter podcasts by category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548580" y="2235101"/>
            <a:ext cx="46151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FR-3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1133773" y="2220813"/>
            <a:ext cx="38032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across titles, hosts, and descriptions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4754835" y="2235101"/>
            <a:ext cx="4688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FR-4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5323508" y="2220813"/>
            <a:ext cx="3784669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 episodes with play, pause, seek, and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548580" y="2758604"/>
            <a:ext cx="4636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FR-5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1133773" y="2744316"/>
            <a:ext cx="40334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and remove favorites that persist per user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4754835" y="2758604"/>
            <a:ext cx="4711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FR-6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5340028" y="2744316"/>
            <a:ext cx="32545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listening history automatically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48580" y="3087216"/>
            <a:ext cx="45822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FR-7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1133773" y="3072929"/>
            <a:ext cx="422821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AI recommendations from user activity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754835" y="3087216"/>
            <a:ext cx="4679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FR-8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5340028" y="3072929"/>
            <a:ext cx="33924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 a personal analytics dashboard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548580" y="3415829"/>
            <a:ext cx="4711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FR-9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1133773" y="3401541"/>
            <a:ext cx="37549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management of the podcast catalog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754835" y="3415829"/>
            <a:ext cx="5548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FR-10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340028" y="3401541"/>
            <a:ext cx="32875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layout across device sizes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487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9428"/>
            <a:ext cx="869945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460" b="1" kern="0" spc="-86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Non-Functional Requirements</a:t>
            </a:r>
            <a:endParaRPr lang="en-US" sz="3460" dirty="0"/>
          </a:p>
        </p:txBody>
      </p:sp>
      <p:sp>
        <p:nvSpPr>
          <p:cNvPr id="6" name="Shape 3"/>
          <p:cNvSpPr/>
          <p:nvPr/>
        </p:nvSpPr>
        <p:spPr>
          <a:xfrm>
            <a:off x="549511" y="1149325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921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27025" y="1946225"/>
            <a:ext cx="15492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</a:t>
            </a:r>
            <a:endParaRPr lang="en-US" sz="1370" dirty="0"/>
          </a:p>
        </p:txBody>
      </p:sp>
      <p:sp>
        <p:nvSpPr>
          <p:cNvPr id="9" name="Text 6"/>
          <p:cNvSpPr/>
          <p:nvPr/>
        </p:nvSpPr>
        <p:spPr>
          <a:xfrm>
            <a:off x="727025" y="2249463"/>
            <a:ext cx="2660861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results and page loads under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second on a typical connection.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3290850" y="174921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3470225" y="1946225"/>
            <a:ext cx="12791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Scalability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3470225" y="2249463"/>
            <a:ext cx="2567702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 design supports a growing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catalog and user base.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034050" y="174921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213425" y="1946225"/>
            <a:ext cx="10877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Usability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6213425" y="2249463"/>
            <a:ext cx="2582019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 navigation with consistent,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accessible controls.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47650" y="293790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727025" y="3134916"/>
            <a:ext cx="12301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Reliability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727025" y="3438153"/>
            <a:ext cx="2639191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 playback and persistent data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sessions.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3290850" y="293790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3470225" y="3134916"/>
            <a:ext cx="10230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Security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3470225" y="3438153"/>
            <a:ext cx="2770175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Protected accounts and safe handling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user data.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6034050" y="293790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213425" y="3134916"/>
            <a:ext cx="18048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Maintainability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6213425" y="3438153"/>
            <a:ext cx="2896322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Component-based code that is easy to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 and test.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841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612264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88" y="1594656"/>
            <a:ext cx="8048625" cy="776287"/>
          </a:xfrm>
          <a:prstGeom prst="roundRect">
            <a:avLst>
              <a:gd name="adj" fmla="val 1177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706835"/>
            <a:ext cx="19558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LAYER</a:t>
            </a:r>
            <a:endParaRPr lang="en-US" sz="790" dirty="0"/>
          </a:p>
        </p:txBody>
      </p:sp>
      <p:sp>
        <p:nvSpPr>
          <p:cNvPr id="9" name="Shape 6"/>
          <p:cNvSpPr/>
          <p:nvPr/>
        </p:nvSpPr>
        <p:spPr>
          <a:xfrm>
            <a:off x="735099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797187" y="2011189"/>
            <a:ext cx="169986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UI Components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2685008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959194" y="2011189"/>
            <a:ext cx="127566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 &amp; Pages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4634917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5049132" y="2011189"/>
            <a:ext cx="9956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 Player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6584826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6812008" y="2011189"/>
            <a:ext cx="13695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Views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4509269" y="2450157"/>
            <a:ext cx="220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7688" y="2723294"/>
            <a:ext cx="8048625" cy="776287"/>
          </a:xfrm>
          <a:prstGeom prst="roundRect">
            <a:avLst>
              <a:gd name="adj" fmla="val 1177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736178" y="2835473"/>
            <a:ext cx="24379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LOGIC LAYER</a:t>
            </a:r>
            <a:endParaRPr lang="en-US" sz="790" dirty="0"/>
          </a:p>
        </p:txBody>
      </p:sp>
      <p:sp>
        <p:nvSpPr>
          <p:cNvPr id="20" name="Shape 17"/>
          <p:cNvSpPr/>
          <p:nvPr/>
        </p:nvSpPr>
        <p:spPr>
          <a:xfrm>
            <a:off x="735099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8"/>
          <p:cNvSpPr/>
          <p:nvPr/>
        </p:nvSpPr>
        <p:spPr>
          <a:xfrm>
            <a:off x="1055575" y="3139827"/>
            <a:ext cx="11830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Service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2685008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2626705" y="3139827"/>
            <a:ext cx="19406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 Engine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4634917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4767925" y="3139827"/>
            <a:ext cx="15579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Processor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6584826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Text 24"/>
          <p:cNvSpPr/>
          <p:nvPr/>
        </p:nvSpPr>
        <p:spPr>
          <a:xfrm>
            <a:off x="6875082" y="3139827"/>
            <a:ext cx="124345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&amp; State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4509269" y="3578796"/>
            <a:ext cx="220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7688" y="3851932"/>
            <a:ext cx="8048625" cy="776287"/>
          </a:xfrm>
          <a:prstGeom prst="roundRect">
            <a:avLst>
              <a:gd name="adj" fmla="val 1177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736178" y="3964112"/>
            <a:ext cx="11018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LAYER</a:t>
            </a:r>
            <a:endParaRPr lang="en-US" sz="790" dirty="0"/>
          </a:p>
        </p:txBody>
      </p:sp>
      <p:sp>
        <p:nvSpPr>
          <p:cNvPr id="31" name="Shape 28"/>
          <p:cNvSpPr/>
          <p:nvPr/>
        </p:nvSpPr>
        <p:spPr>
          <a:xfrm>
            <a:off x="736253" y="4182442"/>
            <a:ext cx="2471738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29"/>
          <p:cNvSpPr/>
          <p:nvPr/>
        </p:nvSpPr>
        <p:spPr>
          <a:xfrm>
            <a:off x="1352583" y="4268465"/>
            <a:ext cx="123900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&amp; Profiles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3336131" y="4182442"/>
            <a:ext cx="2471738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1"/>
          <p:cNvSpPr/>
          <p:nvPr/>
        </p:nvSpPr>
        <p:spPr>
          <a:xfrm>
            <a:off x="3925848" y="4268465"/>
            <a:ext cx="12923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Catalog</a:t>
            </a:r>
            <a:endParaRPr lang="en-US" sz="970" dirty="0"/>
          </a:p>
        </p:txBody>
      </p:sp>
      <p:sp>
        <p:nvSpPr>
          <p:cNvPr id="35" name="Shape 32"/>
          <p:cNvSpPr/>
          <p:nvPr/>
        </p:nvSpPr>
        <p:spPr>
          <a:xfrm>
            <a:off x="5936010" y="4182442"/>
            <a:ext cx="2471738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3"/>
          <p:cNvSpPr/>
          <p:nvPr/>
        </p:nvSpPr>
        <p:spPr>
          <a:xfrm>
            <a:off x="6197214" y="4268465"/>
            <a:ext cx="19492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 &amp; Analytics Store</a:t>
            </a:r>
            <a:endParaRPr lang="en-US" sz="9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868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308394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41091"/>
            <a:ext cx="11478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736178" y="2187773"/>
            <a:ext cx="9863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React</a:t>
            </a:r>
            <a:endParaRPr lang="en-US" sz="1870" dirty="0"/>
          </a:p>
        </p:txBody>
      </p:sp>
      <p:sp>
        <p:nvSpPr>
          <p:cNvPr id="10" name="Text 7"/>
          <p:cNvSpPr/>
          <p:nvPr/>
        </p:nvSpPr>
        <p:spPr>
          <a:xfrm>
            <a:off x="736178" y="2587749"/>
            <a:ext cx="1961637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Component-based UI with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declarative, reusable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2605050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793578" y="1941091"/>
            <a:ext cx="11124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TOOL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2793578" y="2187773"/>
            <a:ext cx="7171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Vite</a:t>
            </a:r>
            <a:endParaRPr lang="en-US" sz="1870" dirty="0"/>
          </a:p>
        </p:txBody>
      </p:sp>
      <p:sp>
        <p:nvSpPr>
          <p:cNvPr id="14" name="Text 11"/>
          <p:cNvSpPr/>
          <p:nvPr/>
        </p:nvSpPr>
        <p:spPr>
          <a:xfrm>
            <a:off x="2793578" y="2587749"/>
            <a:ext cx="1603318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dev server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production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bundling.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662450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4850978" y="1941091"/>
            <a:ext cx="9998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4850978" y="2187773"/>
            <a:ext cx="17914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JavaScript</a:t>
            </a:r>
            <a:endParaRPr lang="en-US" sz="1870" dirty="0"/>
          </a:p>
        </p:txBody>
      </p:sp>
      <p:sp>
        <p:nvSpPr>
          <p:cNvPr id="18" name="Text 15"/>
          <p:cNvSpPr/>
          <p:nvPr/>
        </p:nvSpPr>
        <p:spPr>
          <a:xfrm>
            <a:off x="4850978" y="2587749"/>
            <a:ext cx="1680418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logic, state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handling, and data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6719888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6908378" y="1941091"/>
            <a:ext cx="7975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STYLING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6908378" y="2187773"/>
            <a:ext cx="712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CSS</a:t>
            </a:r>
            <a:endParaRPr lang="en-US" sz="1870" dirty="0"/>
          </a:p>
        </p:txBody>
      </p:sp>
      <p:sp>
        <p:nvSpPr>
          <p:cNvPr id="22" name="Text 19"/>
          <p:cNvSpPr/>
          <p:nvPr/>
        </p:nvSpPr>
        <p:spPr>
          <a:xfrm>
            <a:off x="6908378" y="2587749"/>
            <a:ext cx="1776189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layouts,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theming, and the design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47650" y="405032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4" name="Text 21"/>
          <p:cNvSpPr/>
          <p:nvPr/>
        </p:nvSpPr>
        <p:spPr>
          <a:xfrm>
            <a:off x="548580" y="4171504"/>
            <a:ext cx="251575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Component Architecture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580" y="4422502"/>
            <a:ext cx="30383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Reusable, isolated UI pieces composed into</a:t>
            </a:r>
            <a:endParaRPr lang="en-US" sz="900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90850" y="405032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7" name="Text 24"/>
          <p:cNvSpPr/>
          <p:nvPr/>
        </p:nvSpPr>
        <p:spPr>
          <a:xfrm>
            <a:off x="3291780" y="4171504"/>
            <a:ext cx="20079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Client-Side Routing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291780" y="4422502"/>
            <a:ext cx="303523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navigation without full page reloads.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34050" y="405032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6034980" y="4171504"/>
            <a:ext cx="19044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34980" y="4422502"/>
            <a:ext cx="331161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playback, auth, and user data state.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50" y="4050320"/>
            <a:ext cx="2562225" cy="681038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0850" y="4050320"/>
            <a:ext cx="2562225" cy="681038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050" y="4050320"/>
            <a:ext cx="2562225" cy="6810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90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046814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595326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7C3AED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552413" y="1599195"/>
            <a:ext cx="2552700" cy="342900"/>
          </a:xfrm>
          <a:prstGeom prst="rect">
            <a:avLst/>
          </a:prstGeom>
          <a:solidFill>
            <a:srgbClr val="7D3CEB">
              <a:alpha val="2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681335" y="1675209"/>
            <a:ext cx="6115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1335" y="2023542"/>
            <a:ext cx="79565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user_id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1335" y="2241277"/>
            <a:ext cx="91502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· email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1335" y="2459013"/>
            <a:ext cx="114574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1335" y="2676748"/>
            <a:ext cx="119256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 · created_at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0850" y="1595326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3295613" y="159919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3424535" y="1675209"/>
            <a:ext cx="96078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24535" y="2023542"/>
            <a:ext cx="10663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podcast_id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24535" y="2241277"/>
            <a:ext cx="73847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· host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24535" y="2459013"/>
            <a:ext cx="156036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· description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24535" y="2676748"/>
            <a:ext cx="7118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cover_url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4050" y="1595326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Shape 19"/>
          <p:cNvSpPr/>
          <p:nvPr/>
        </p:nvSpPr>
        <p:spPr>
          <a:xfrm>
            <a:off x="6038813" y="159919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167735" y="1675209"/>
            <a:ext cx="9541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Episodes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167735" y="2023542"/>
            <a:ext cx="1049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episode_id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67735" y="2241277"/>
            <a:ext cx="105964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podcast_id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67735" y="2459013"/>
            <a:ext cx="101466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· duration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67735" y="2676748"/>
            <a:ext cx="173256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audio_url · published_at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7650" y="3099085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Shape 26"/>
          <p:cNvSpPr/>
          <p:nvPr/>
        </p:nvSpPr>
        <p:spPr>
          <a:xfrm>
            <a:off x="552413" y="310295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681335" y="3178969"/>
            <a:ext cx="95314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Favorites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1335" y="3527301"/>
            <a:ext cx="101602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favorite_id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1335" y="3745037"/>
            <a:ext cx="788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user_id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1335" y="3962772"/>
            <a:ext cx="105964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podcast_id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1335" y="4180508"/>
            <a:ext cx="73702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added_at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90850" y="3099085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3"/>
          <p:cNvSpPr/>
          <p:nvPr/>
        </p:nvSpPr>
        <p:spPr>
          <a:xfrm>
            <a:off x="3295613" y="310295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7" name="Text 34"/>
          <p:cNvSpPr/>
          <p:nvPr/>
        </p:nvSpPr>
        <p:spPr>
          <a:xfrm>
            <a:off x="3424535" y="3178969"/>
            <a:ext cx="16846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ListeningHistory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3424535" y="3527301"/>
            <a:ext cx="97084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history_id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4535" y="3745037"/>
            <a:ext cx="788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user_id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424535" y="3962772"/>
            <a:ext cx="104330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episode_id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424535" y="4180508"/>
            <a:ext cx="145753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 · played_at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34050" y="3099085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3" name="Shape 40"/>
          <p:cNvSpPr/>
          <p:nvPr/>
        </p:nvSpPr>
        <p:spPr>
          <a:xfrm>
            <a:off x="6038813" y="310295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4" name="Text 41"/>
          <p:cNvSpPr/>
          <p:nvPr/>
        </p:nvSpPr>
        <p:spPr>
          <a:xfrm>
            <a:off x="6167735" y="3178969"/>
            <a:ext cx="9702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167735" y="3527301"/>
            <a:ext cx="9447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metric_id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167735" y="3745037"/>
            <a:ext cx="788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 user_id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167735" y="3962772"/>
            <a:ext cx="132887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· minutes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167735" y="4180508"/>
            <a:ext cx="50649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48580" y="4487987"/>
            <a:ext cx="10106226" cy="3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Relationships: a user has many favorites, history entries, and analytics rows; a podcast has many episodes; each history entry references one</a:t>
            </a:r>
            <a:endParaRPr lang="en-US" sz="94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episode.</a:t>
            </a:r>
            <a:endParaRPr lang="en-US" sz="940" dirty="0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371901"/>
            <a:ext cx="8048625" cy="4619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893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295049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Flow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13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1073430" y="2227511"/>
            <a:ext cx="1389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7038" y="2493615"/>
            <a:ext cx="5717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in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41757" y="2706886"/>
            <a:ext cx="120233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browse as guest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1923529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2262039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2768229" y="2227511"/>
            <a:ext cx="1781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488644" y="2493615"/>
            <a:ext cx="7374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2306583" y="2706886"/>
            <a:ext cx="110153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or browse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3637955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3976464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4482461" y="2227511"/>
            <a:ext cx="1785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381757" y="2493615"/>
            <a:ext cx="37996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3981164" y="2706886"/>
            <a:ext cx="11811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 an episode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5352380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5690890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192727" y="2227511"/>
            <a:ext cx="18687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72857" y="2493615"/>
            <a:ext cx="4266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5720741" y="2706886"/>
            <a:ext cx="11308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 &amp; resume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7066806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27" name="Shape 24"/>
          <p:cNvSpPr/>
          <p:nvPr/>
        </p:nvSpPr>
        <p:spPr>
          <a:xfrm>
            <a:off x="7405315" y="2057735"/>
            <a:ext cx="1190625" cy="942975"/>
          </a:xfrm>
          <a:prstGeom prst="roundRect">
            <a:avLst>
              <a:gd name="adj" fmla="val 9697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7910140" y="2227511"/>
            <a:ext cx="1809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697714" y="2493615"/>
            <a:ext cx="6057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7488071" y="2706886"/>
            <a:ext cx="102511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recs &amp; analytics</a:t>
            </a:r>
            <a:endParaRPr lang="en-US" sz="790" dirty="0"/>
          </a:p>
        </p:txBody>
      </p:sp>
      <p:sp>
        <p:nvSpPr>
          <p:cNvPr id="31" name="Text 28"/>
          <p:cNvSpPr/>
          <p:nvPr/>
        </p:nvSpPr>
        <p:spPr>
          <a:xfrm>
            <a:off x="548580" y="4601021"/>
            <a:ext cx="104895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play feeds listening history, which powers both AI recommendations and the analytics dashboard — a loop that improves with use.</a:t>
            </a:r>
            <a:endParaRPr lang="en-US" sz="101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463876"/>
            <a:ext cx="8048625" cy="319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6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63557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Search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663924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multi-field search that matches across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titles, hosts, categories, and descriptions in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time.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43074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results as the user types (debounced input)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3284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by category and sort by relevance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37914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partial matches and typos gracefully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7820" y="1698203"/>
            <a:ext cx="3657600" cy="2362200"/>
          </a:xfrm>
          <a:prstGeom prst="roundRect">
            <a:avLst>
              <a:gd name="adj" fmla="val 541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5125938" y="1883792"/>
            <a:ext cx="3281363" cy="347663"/>
          </a:xfrm>
          <a:prstGeom prst="roundRect">
            <a:avLst>
              <a:gd name="adj" fmla="val 21041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3"/>
          <p:cNvSpPr/>
          <p:nvPr/>
        </p:nvSpPr>
        <p:spPr>
          <a:xfrm>
            <a:off x="5257874" y="1993329"/>
            <a:ext cx="128588" cy="128588"/>
          </a:xfrm>
          <a:prstGeom prst="ellipse">
            <a:avLst/>
          </a:prstGeom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477545" y="1971154"/>
            <a:ext cx="17452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interviews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5125938" y="2322686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9" y="2422699"/>
            <a:ext cx="276225" cy="2762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843" y="2398886"/>
            <a:ext cx="11945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Build Hour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5623843" y="2586112"/>
            <a:ext cx="158203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· 42 episodes</a:t>
            </a:r>
            <a:endParaRPr lang="en-US" sz="790" dirty="0"/>
          </a:p>
        </p:txBody>
      </p:sp>
      <p:sp>
        <p:nvSpPr>
          <p:cNvPr id="22" name="Shape 18"/>
          <p:cNvSpPr/>
          <p:nvPr/>
        </p:nvSpPr>
        <p:spPr>
          <a:xfrm>
            <a:off x="5125938" y="2860179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899" y="2960191"/>
            <a:ext cx="276225" cy="2762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623843" y="2936379"/>
            <a:ext cx="12065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Notes</a:t>
            </a:r>
            <a:endParaRPr lang="en-US" sz="1010" dirty="0"/>
          </a:p>
        </p:txBody>
      </p:sp>
      <p:sp>
        <p:nvSpPr>
          <p:cNvPr id="25" name="Text 20"/>
          <p:cNvSpPr/>
          <p:nvPr/>
        </p:nvSpPr>
        <p:spPr>
          <a:xfrm>
            <a:off x="5623843" y="3123605"/>
            <a:ext cx="15069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 · 28 episodes</a:t>
            </a:r>
            <a:endParaRPr lang="en-US" sz="790" dirty="0"/>
          </a:p>
        </p:txBody>
      </p:sp>
      <p:sp>
        <p:nvSpPr>
          <p:cNvPr id="26" name="Shape 21"/>
          <p:cNvSpPr/>
          <p:nvPr/>
        </p:nvSpPr>
        <p:spPr>
          <a:xfrm>
            <a:off x="5125938" y="3397672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9" y="3497684"/>
            <a:ext cx="276225" cy="2762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843" y="3473872"/>
            <a:ext cx="12146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&amp; Coffee</a:t>
            </a:r>
            <a:endParaRPr lang="en-US" sz="1010" dirty="0"/>
          </a:p>
        </p:txBody>
      </p:sp>
      <p:sp>
        <p:nvSpPr>
          <p:cNvPr id="29" name="Text 23"/>
          <p:cNvSpPr/>
          <p:nvPr/>
        </p:nvSpPr>
        <p:spPr>
          <a:xfrm>
            <a:off x="5623843" y="3661097"/>
            <a:ext cx="15758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· 67 episodes</a:t>
            </a:r>
            <a:endParaRPr lang="en-US" sz="7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514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67117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Audio Playback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603656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persistent player that streams episodes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reliably and remembers exactly where each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listener stopped.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32867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Play, pause, seek, and adjustable speed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0575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 from the last saved position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296065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 stays docked while browsing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9213" y="3573177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740494" y="3531468"/>
            <a:ext cx="29834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session feeds listening history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937820" y="1954634"/>
            <a:ext cx="3657600" cy="1795462"/>
          </a:xfrm>
          <a:prstGeom prst="roundRect">
            <a:avLst>
              <a:gd name="adj" fmla="val 713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170" y="2160836"/>
            <a:ext cx="547687" cy="5476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20296" y="2234282"/>
            <a:ext cx="13378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Episode 42</a:t>
            </a:r>
            <a:endParaRPr lang="en-US" sz="1370" dirty="0"/>
          </a:p>
        </p:txBody>
      </p:sp>
      <p:sp>
        <p:nvSpPr>
          <p:cNvPr id="19" name="Text 15"/>
          <p:cNvSpPr/>
          <p:nvPr/>
        </p:nvSpPr>
        <p:spPr>
          <a:xfrm>
            <a:off x="5820296" y="2485355"/>
            <a:ext cx="202093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Build Hour · Technology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5142607" y="2831455"/>
            <a:ext cx="3248025" cy="42863"/>
          </a:xfrm>
          <a:prstGeom prst="roundRect">
            <a:avLst>
              <a:gd name="adj" fmla="val 49999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393" y="2831455"/>
            <a:ext cx="1881187" cy="428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43723" y="2929607"/>
            <a:ext cx="3562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24:18</a:t>
            </a:r>
            <a:endParaRPr lang="en-US" sz="790" dirty="0"/>
          </a:p>
        </p:txBody>
      </p:sp>
      <p:sp>
        <p:nvSpPr>
          <p:cNvPr id="23" name="Text 18"/>
          <p:cNvSpPr/>
          <p:nvPr/>
        </p:nvSpPr>
        <p:spPr>
          <a:xfrm>
            <a:off x="8146703" y="2929607"/>
            <a:ext cx="3728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41:50</a:t>
            </a:r>
            <a:endParaRPr lang="en-US" sz="790" dirty="0"/>
          </a:p>
        </p:txBody>
      </p:sp>
      <p:sp>
        <p:nvSpPr>
          <p:cNvPr id="24" name="Shape 19"/>
          <p:cNvSpPr/>
          <p:nvPr/>
        </p:nvSpPr>
        <p:spPr>
          <a:xfrm>
            <a:off x="6126361" y="3242370"/>
            <a:ext cx="238125" cy="238125"/>
          </a:xfrm>
          <a:prstGeom prst="ellipse">
            <a:avLst/>
          </a:prstGeom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Shape 20"/>
          <p:cNvSpPr/>
          <p:nvPr/>
        </p:nvSpPr>
        <p:spPr>
          <a:xfrm>
            <a:off x="6583226" y="3178113"/>
            <a:ext cx="366712" cy="36671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413" y="3270945"/>
            <a:ext cx="142875" cy="1809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168679" y="3242370"/>
            <a:ext cx="238125" cy="238125"/>
          </a:xfrm>
          <a:prstGeom prst="ellipse">
            <a:avLst/>
          </a:prstGeom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629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2772207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Favorites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526168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personal library where listeners save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once and find them instantly across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session.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33587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One-tap add and remove from any view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8419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Persisted per user and synced across devices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43031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Feeds the recommendation engine as a taste signal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6778" y="1697534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128" y="1830995"/>
            <a:ext cx="1500188" cy="4095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0574" y="2312715"/>
            <a:ext cx="11945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Build Hour</a:t>
            </a:r>
            <a:endParaRPr lang="en-US" sz="1010" dirty="0"/>
          </a:p>
        </p:txBody>
      </p:sp>
      <p:sp>
        <p:nvSpPr>
          <p:cNvPr id="17" name="Text 13"/>
          <p:cNvSpPr/>
          <p:nvPr/>
        </p:nvSpPr>
        <p:spPr>
          <a:xfrm>
            <a:off x="5070574" y="2499940"/>
            <a:ext cx="7448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790" dirty="0"/>
          </a:p>
        </p:txBody>
      </p:sp>
      <p:sp>
        <p:nvSpPr>
          <p:cNvPr id="18" name="Shape 14"/>
          <p:cNvSpPr/>
          <p:nvPr/>
        </p:nvSpPr>
        <p:spPr>
          <a:xfrm>
            <a:off x="6829574" y="1697534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924" y="1830995"/>
            <a:ext cx="1500188" cy="4095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63370" y="2312715"/>
            <a:ext cx="12065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Notes</a:t>
            </a:r>
            <a:endParaRPr lang="en-US" sz="1010" dirty="0"/>
          </a:p>
        </p:txBody>
      </p:sp>
      <p:sp>
        <p:nvSpPr>
          <p:cNvPr id="21" name="Text 16"/>
          <p:cNvSpPr/>
          <p:nvPr/>
        </p:nvSpPr>
        <p:spPr>
          <a:xfrm>
            <a:off x="6963370" y="2499940"/>
            <a:ext cx="6720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</a:t>
            </a:r>
            <a:endParaRPr lang="en-US" sz="790" dirty="0"/>
          </a:p>
        </p:txBody>
      </p:sp>
      <p:sp>
        <p:nvSpPr>
          <p:cNvPr id="22" name="Shape 17"/>
          <p:cNvSpPr/>
          <p:nvPr/>
        </p:nvSpPr>
        <p:spPr>
          <a:xfrm>
            <a:off x="4936778" y="2907060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128" y="3040521"/>
            <a:ext cx="1500188" cy="4095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0574" y="3522241"/>
            <a:ext cx="12146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&amp; Coffee</a:t>
            </a:r>
            <a:endParaRPr lang="en-US" sz="1010" dirty="0"/>
          </a:p>
        </p:txBody>
      </p:sp>
      <p:sp>
        <p:nvSpPr>
          <p:cNvPr id="25" name="Text 19"/>
          <p:cNvSpPr/>
          <p:nvPr/>
        </p:nvSpPr>
        <p:spPr>
          <a:xfrm>
            <a:off x="5070574" y="3709467"/>
            <a:ext cx="7448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790" dirty="0"/>
          </a:p>
        </p:txBody>
      </p:sp>
      <p:sp>
        <p:nvSpPr>
          <p:cNvPr id="26" name="Shape 20"/>
          <p:cNvSpPr/>
          <p:nvPr/>
        </p:nvSpPr>
        <p:spPr>
          <a:xfrm>
            <a:off x="6829574" y="2907060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924" y="3040521"/>
            <a:ext cx="1500188" cy="4095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63370" y="3522241"/>
            <a:ext cx="97925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Focus</a:t>
            </a:r>
            <a:endParaRPr lang="en-US" sz="1010" dirty="0"/>
          </a:p>
        </p:txBody>
      </p:sp>
      <p:sp>
        <p:nvSpPr>
          <p:cNvPr id="29" name="Text 22"/>
          <p:cNvSpPr/>
          <p:nvPr/>
        </p:nvSpPr>
        <p:spPr>
          <a:xfrm>
            <a:off x="6963370" y="3709467"/>
            <a:ext cx="6669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</a:t>
            </a:r>
            <a:endParaRPr lang="en-US" sz="7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911" y="-1672121"/>
            <a:ext cx="5310187" cy="531018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4953" y="1871663"/>
            <a:ext cx="4943475" cy="4943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80" y="369540"/>
            <a:ext cx="186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31 · MODULE</a:t>
            </a:r>
            <a:endParaRPr lang="en-US" sz="860" dirty="0"/>
          </a:p>
        </p:txBody>
      </p:sp>
      <p:sp>
        <p:nvSpPr>
          <p:cNvPr id="6" name="Text 2"/>
          <p:cNvSpPr/>
          <p:nvPr/>
        </p:nvSpPr>
        <p:spPr>
          <a:xfrm>
            <a:off x="548580" y="534665"/>
            <a:ext cx="828135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Recommendation Engine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4"/>
          <p:cNvSpPr/>
          <p:nvPr/>
        </p:nvSpPr>
        <p:spPr>
          <a:xfrm>
            <a:off x="549548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5"/>
          <p:cNvSpPr/>
          <p:nvPr/>
        </p:nvSpPr>
        <p:spPr>
          <a:xfrm>
            <a:off x="699641" y="1862658"/>
            <a:ext cx="25672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010" dirty="0"/>
          </a:p>
        </p:txBody>
      </p:sp>
      <p:sp>
        <p:nvSpPr>
          <p:cNvPr id="10" name="Text 6"/>
          <p:cNvSpPr/>
          <p:nvPr/>
        </p:nvSpPr>
        <p:spPr>
          <a:xfrm>
            <a:off x="699641" y="2106067"/>
            <a:ext cx="125757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Profile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699641" y="2376339"/>
            <a:ext cx="146546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History, favorites, and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dwell time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2408783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639020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0"/>
          <p:cNvSpPr/>
          <p:nvPr/>
        </p:nvSpPr>
        <p:spPr>
          <a:xfrm>
            <a:off x="2789113" y="1862658"/>
            <a:ext cx="2909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2789113" y="2106067"/>
            <a:ext cx="19517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Feature Extraction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2789113" y="2376339"/>
            <a:ext cx="173178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Tags, topics, and listening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weights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4498256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728493" y="1696529"/>
            <a:ext cx="1776413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5"/>
          <p:cNvSpPr/>
          <p:nvPr/>
        </p:nvSpPr>
        <p:spPr>
          <a:xfrm>
            <a:off x="4883348" y="1867421"/>
            <a:ext cx="2913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010" dirty="0"/>
          </a:p>
        </p:txBody>
      </p:sp>
      <p:sp>
        <p:nvSpPr>
          <p:cNvPr id="20" name="Text 16"/>
          <p:cNvSpPr/>
          <p:nvPr/>
        </p:nvSpPr>
        <p:spPr>
          <a:xfrm>
            <a:off x="4883348" y="2110829"/>
            <a:ext cx="16236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Hybrid Scoring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4883348" y="2381101"/>
            <a:ext cx="144263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similarity +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collaborative filtering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6597253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27490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0"/>
          <p:cNvSpPr/>
          <p:nvPr/>
        </p:nvSpPr>
        <p:spPr>
          <a:xfrm>
            <a:off x="6977583" y="1862658"/>
            <a:ext cx="2986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010" dirty="0"/>
          </a:p>
        </p:txBody>
      </p:sp>
      <p:sp>
        <p:nvSpPr>
          <p:cNvPr id="25" name="Text 21"/>
          <p:cNvSpPr/>
          <p:nvPr/>
        </p:nvSpPr>
        <p:spPr>
          <a:xfrm>
            <a:off x="6977583" y="2106067"/>
            <a:ext cx="16507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Ranked Results</a:t>
            </a:r>
            <a:endParaRPr lang="en-US" sz="1220" dirty="0"/>
          </a:p>
        </p:txBody>
      </p:sp>
      <p:sp>
        <p:nvSpPr>
          <p:cNvPr id="26" name="Text 22"/>
          <p:cNvSpPr/>
          <p:nvPr/>
        </p:nvSpPr>
        <p:spPr>
          <a:xfrm>
            <a:off x="6977583" y="2376339"/>
            <a:ext cx="1959702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shows surfaced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the user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5476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8" name="Text 24"/>
          <p:cNvSpPr/>
          <p:nvPr/>
        </p:nvSpPr>
        <p:spPr>
          <a:xfrm>
            <a:off x="548580" y="4222924"/>
            <a:ext cx="15591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Content-based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580" y="4473922"/>
            <a:ext cx="26094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Matches shows by shared topics and</a:t>
            </a:r>
            <a:endParaRPr lang="en-US" sz="900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2908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1" name="Text 27"/>
          <p:cNvSpPr/>
          <p:nvPr/>
        </p:nvSpPr>
        <p:spPr>
          <a:xfrm>
            <a:off x="3291780" y="4222924"/>
            <a:ext cx="13892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Collaborative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291780" y="4473922"/>
            <a:ext cx="273360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from listeners with similar taste.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340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4" name="Text 30"/>
          <p:cNvSpPr/>
          <p:nvPr/>
        </p:nvSpPr>
        <p:spPr>
          <a:xfrm>
            <a:off x="6034980" y="4222924"/>
            <a:ext cx="15410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Self-improving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034980" y="4473922"/>
            <a:ext cx="323519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session refines future recommendations.</a:t>
            </a:r>
            <a:endParaRPr lang="en-US" sz="9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50" y="4101740"/>
            <a:ext cx="2562225" cy="681038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850" y="4101740"/>
            <a:ext cx="2562225" cy="681038"/>
          </a:xfrm>
          <a:prstGeom prst="rect">
            <a:avLst/>
          </a:prstGeom>
        </p:spPr>
      </p:pic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050" y="4101740"/>
            <a:ext cx="2562225" cy="6810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18120"/>
            <a:ext cx="19077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477738"/>
            <a:ext cx="596534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3460" b="1" kern="0" spc="-86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Analytics Dashboard</a:t>
            </a:r>
            <a:endParaRPr lang="en-US" sz="3460" dirty="0"/>
          </a:p>
        </p:txBody>
      </p:sp>
      <p:sp>
        <p:nvSpPr>
          <p:cNvPr id="6" name="Shape 3"/>
          <p:cNvSpPr/>
          <p:nvPr/>
        </p:nvSpPr>
        <p:spPr>
          <a:xfrm>
            <a:off x="549511" y="1067098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9436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681335" y="1577653"/>
            <a:ext cx="86684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minutes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681335" y="1726778"/>
            <a:ext cx="100025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202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1,840</a:t>
            </a:r>
            <a:endParaRPr lang="en-US" sz="2020" dirty="0"/>
          </a:p>
        </p:txBody>
      </p:sp>
      <p:sp>
        <p:nvSpPr>
          <p:cNvPr id="10" name="Shape 7"/>
          <p:cNvSpPr/>
          <p:nvPr/>
        </p:nvSpPr>
        <p:spPr>
          <a:xfrm>
            <a:off x="2597721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2729582" y="1577653"/>
            <a:ext cx="10466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Episodes played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2729582" y="1726778"/>
            <a:ext cx="6435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202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126</a:t>
            </a:r>
            <a:endParaRPr lang="en-US" sz="2020" dirty="0"/>
          </a:p>
        </p:txBody>
      </p:sp>
      <p:sp>
        <p:nvSpPr>
          <p:cNvPr id="13" name="Shape 10"/>
          <p:cNvSpPr/>
          <p:nvPr/>
        </p:nvSpPr>
        <p:spPr>
          <a:xfrm>
            <a:off x="4646005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4777904" y="1577653"/>
            <a:ext cx="6947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streak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4777904" y="1726778"/>
            <a:ext cx="42727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202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</a:t>
            </a:r>
            <a:endParaRPr lang="en-US" sz="2020" dirty="0"/>
          </a:p>
        </p:txBody>
      </p:sp>
      <p:sp>
        <p:nvSpPr>
          <p:cNvPr id="16" name="Shape 13"/>
          <p:cNvSpPr/>
          <p:nvPr/>
        </p:nvSpPr>
        <p:spPr>
          <a:xfrm>
            <a:off x="6694289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6826151" y="1577653"/>
            <a:ext cx="8489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category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6826151" y="1771948"/>
            <a:ext cx="1498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Technology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548097" y="2418308"/>
            <a:ext cx="4024312" cy="1900238"/>
          </a:xfrm>
          <a:prstGeom prst="roundRect">
            <a:avLst>
              <a:gd name="adj" fmla="val 481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17872" y="2600995"/>
            <a:ext cx="24933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Weekly listening (minutes)</a:t>
            </a:r>
            <a:endParaRPr lang="en-US" sz="108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52" y="3415605"/>
            <a:ext cx="433388" cy="55721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2293" y="4017764"/>
            <a:ext cx="2957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</a:t>
            </a:r>
            <a:endParaRPr lang="en-US" sz="72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384" y="3108908"/>
            <a:ext cx="433388" cy="8620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00547" y="4017764"/>
            <a:ext cx="2534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Tue</a:t>
            </a:r>
            <a:endParaRPr lang="en-US" sz="72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416" y="3291967"/>
            <a:ext cx="433388" cy="6810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21594" y="4017764"/>
            <a:ext cx="30808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Wed</a:t>
            </a:r>
            <a:endParaRPr lang="en-US" sz="72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448" y="2915208"/>
            <a:ext cx="433388" cy="10572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482007" y="4017764"/>
            <a:ext cx="2602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Thu</a:t>
            </a:r>
            <a:endParaRPr lang="en-US" sz="72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5480" y="3205907"/>
            <a:ext cx="433388" cy="76676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049786" y="4017764"/>
            <a:ext cx="1932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Fri</a:t>
            </a:r>
            <a:endParaRPr lang="en-US" sz="72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7512" y="2915208"/>
            <a:ext cx="433388" cy="10572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575521" y="4017764"/>
            <a:ext cx="2356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</a:t>
            </a:r>
            <a:endParaRPr lang="en-US" sz="72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9544" y="3009528"/>
            <a:ext cx="433388" cy="9620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107284" y="4017764"/>
            <a:ext cx="2623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</a:t>
            </a:r>
            <a:endParaRPr lang="en-US" sz="720" dirty="0"/>
          </a:p>
        </p:txBody>
      </p:sp>
      <p:sp>
        <p:nvSpPr>
          <p:cNvPr id="35" name="Shape 25"/>
          <p:cNvSpPr/>
          <p:nvPr/>
        </p:nvSpPr>
        <p:spPr>
          <a:xfrm>
            <a:off x="4937820" y="2416969"/>
            <a:ext cx="3657600" cy="2043113"/>
          </a:xfrm>
          <a:prstGeom prst="roundRect">
            <a:avLst>
              <a:gd name="adj" fmla="val 447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26"/>
          <p:cNvSpPr/>
          <p:nvPr/>
        </p:nvSpPr>
        <p:spPr>
          <a:xfrm>
            <a:off x="5107112" y="2600995"/>
            <a:ext cx="20297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Listening by category</a:t>
            </a:r>
            <a:endParaRPr lang="en-US" sz="1080" dirty="0"/>
          </a:p>
        </p:txBody>
      </p:sp>
      <p:sp>
        <p:nvSpPr>
          <p:cNvPr id="37" name="Text 27"/>
          <p:cNvSpPr/>
          <p:nvPr/>
        </p:nvSpPr>
        <p:spPr>
          <a:xfrm>
            <a:off x="5107112" y="2925291"/>
            <a:ext cx="83908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8197007" y="2925291"/>
            <a:ext cx="35500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46%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106888" y="3118284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6070" y="3118284"/>
            <a:ext cx="1528763" cy="7143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07112" y="3292078"/>
            <a:ext cx="75618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8202885" y="3292078"/>
            <a:ext cx="34736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28%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5106888" y="3485071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7409" y="3485071"/>
            <a:ext cx="928688" cy="7143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107112" y="3658865"/>
            <a:ext cx="75047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8230716" y="3658865"/>
            <a:ext cx="31118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16%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5106888" y="3851858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5921" y="3851858"/>
            <a:ext cx="533400" cy="7143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107112" y="4025652"/>
            <a:ext cx="42930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</a:t>
            </a:r>
            <a:endParaRPr lang="en-US" sz="900" dirty="0"/>
          </a:p>
        </p:txBody>
      </p:sp>
      <p:sp>
        <p:nvSpPr>
          <p:cNvPr id="50" name="Text 37"/>
          <p:cNvSpPr/>
          <p:nvPr/>
        </p:nvSpPr>
        <p:spPr>
          <a:xfrm>
            <a:off x="8222382" y="4025652"/>
            <a:ext cx="32201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10%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5106888" y="4218645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6367" y="4218645"/>
            <a:ext cx="333375" cy="714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572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100891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Listening History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75737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automatic, time-stamped record of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a user plays — the data backbone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recommendations and analytics.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4380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 episode, progress, and timestamp on each play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8411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resume points and "continue listening"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34227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Aggregated into the analytics dashboard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7820" y="1697534"/>
            <a:ext cx="3657600" cy="2405062"/>
          </a:xfrm>
          <a:prstGeom prst="roundRect">
            <a:avLst>
              <a:gd name="adj" fmla="val 456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5125417" y="1889671"/>
            <a:ext cx="15109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RECENT ACTIVITY</a:t>
            </a:r>
            <a:endParaRPr lang="en-US" sz="790" dirty="0"/>
          </a:p>
        </p:txBody>
      </p:sp>
      <p:sp>
        <p:nvSpPr>
          <p:cNvPr id="16" name="Shape 13"/>
          <p:cNvSpPr/>
          <p:nvPr/>
        </p:nvSpPr>
        <p:spPr>
          <a:xfrm>
            <a:off x="5125938" y="2128279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125417" y="2137916"/>
            <a:ext cx="22980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42 — The Build Hour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5125417" y="2325142"/>
            <a:ext cx="5618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Finished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8103319" y="2227064"/>
            <a:ext cx="4530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5125938" y="2609590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1" name="Text 18"/>
          <p:cNvSpPr/>
          <p:nvPr/>
        </p:nvSpPr>
        <p:spPr>
          <a:xfrm>
            <a:off x="5125417" y="2619226"/>
            <a:ext cx="226152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12 — Founder Notes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5125417" y="2806452"/>
            <a:ext cx="8657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58% · resume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7908727" y="2708374"/>
            <a:ext cx="705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Yesterday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125938" y="3090900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5125417" y="3100536"/>
            <a:ext cx="2270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31 — Code &amp; Coffee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125417" y="3287762"/>
            <a:ext cx="5618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Finished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7862887" y="3189684"/>
            <a:ext cx="7655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days ago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5125417" y="3581846"/>
            <a:ext cx="20856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07 — Deep Focus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5125417" y="3769072"/>
            <a:ext cx="8571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22% · resume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7861250" y="3670995"/>
            <a:ext cx="7676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days ago</a:t>
            </a:r>
            <a:endParaRPr lang="en-US" sz="86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5938" y="2128279"/>
            <a:ext cx="3281363" cy="409575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5938" y="2609590"/>
            <a:ext cx="3281363" cy="409575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5938" y="3090900"/>
            <a:ext cx="3281363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194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378836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UML Overview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697906"/>
            <a:ext cx="2562225" cy="1604963"/>
          </a:xfrm>
          <a:prstGeom prst="roundRect">
            <a:avLst>
              <a:gd name="adj" fmla="val 683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03958"/>
            <a:ext cx="11793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 Case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736178" y="2251844"/>
            <a:ext cx="22815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Actors: Guest, Listener, Admin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736178" y="2483272"/>
            <a:ext cx="20527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&amp; browse podcasts</a:t>
            </a:r>
            <a:endParaRPr lang="en-US" sz="970" dirty="0"/>
          </a:p>
        </p:txBody>
      </p:sp>
      <p:sp>
        <p:nvSpPr>
          <p:cNvPr id="11" name="Text 8"/>
          <p:cNvSpPr/>
          <p:nvPr/>
        </p:nvSpPr>
        <p:spPr>
          <a:xfrm>
            <a:off x="736178" y="2714699"/>
            <a:ext cx="19425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Play, favorite, view history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736178" y="2946127"/>
            <a:ext cx="18396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catalog (admin)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3290850" y="1697906"/>
            <a:ext cx="2562225" cy="1604963"/>
          </a:xfrm>
          <a:prstGeom prst="roundRect">
            <a:avLst>
              <a:gd name="adj" fmla="val 683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3479378" y="1903958"/>
            <a:ext cx="7203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Class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479378" y="2251844"/>
            <a:ext cx="17400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User, Podcast, Episode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3479378" y="2483272"/>
            <a:ext cx="164182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Favorite, HistoryEntry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3479378" y="2714699"/>
            <a:ext cx="19162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Recommendation, Metric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3479378" y="2946127"/>
            <a:ext cx="21570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Associations &amp; multiplicities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6034050" y="1697906"/>
            <a:ext cx="2562225" cy="1604963"/>
          </a:xfrm>
          <a:prstGeom prst="roundRect">
            <a:avLst>
              <a:gd name="adj" fmla="val 683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6222578" y="1903958"/>
            <a:ext cx="12765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Sequence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6222578" y="2251844"/>
            <a:ext cx="18003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requests playback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6222578" y="2483272"/>
            <a:ext cx="17835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 streams episode</a:t>
            </a:r>
            <a:endParaRPr lang="en-US" sz="970" dirty="0"/>
          </a:p>
        </p:txBody>
      </p:sp>
      <p:sp>
        <p:nvSpPr>
          <p:cNvPr id="23" name="Text 20"/>
          <p:cNvSpPr/>
          <p:nvPr/>
        </p:nvSpPr>
        <p:spPr>
          <a:xfrm>
            <a:off x="6222578" y="2714699"/>
            <a:ext cx="174881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 entry recorded</a:t>
            </a:r>
            <a:endParaRPr lang="en-US" sz="970" dirty="0"/>
          </a:p>
        </p:txBody>
      </p:sp>
      <p:sp>
        <p:nvSpPr>
          <p:cNvPr id="24" name="Text 21"/>
          <p:cNvSpPr/>
          <p:nvPr/>
        </p:nvSpPr>
        <p:spPr>
          <a:xfrm>
            <a:off x="6222578" y="2946127"/>
            <a:ext cx="22056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refreshed</a:t>
            </a:r>
            <a:endParaRPr lang="en-US" sz="970" dirty="0"/>
          </a:p>
        </p:txBody>
      </p:sp>
      <p:sp>
        <p:nvSpPr>
          <p:cNvPr id="25" name="Text 22"/>
          <p:cNvSpPr/>
          <p:nvPr/>
        </p:nvSpPr>
        <p:spPr>
          <a:xfrm>
            <a:off x="548580" y="4409033"/>
            <a:ext cx="10133796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models stay consistent end to end: use cases define behavior, the class diagram maps to the database schema, and sequence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diagrams trace the playback-to-recommendation loop.</a:t>
            </a:r>
            <a:endParaRPr lang="en-US" sz="101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270251"/>
            <a:ext cx="804862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21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18565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UI / UX Design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8580" y="1747837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27025" y="1941463"/>
            <a:ext cx="128108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Clarity 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7025" y="2235771"/>
            <a:ext cx="1957090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actions are always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tap away with minimal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chrome.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2560216" y="1747837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2738661" y="1941463"/>
            <a:ext cx="14296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38661" y="2235771"/>
            <a:ext cx="1562881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shared component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keeps every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 familiar.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548580" y="3086174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727025" y="3279800"/>
            <a:ext cx="13342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7025" y="3574107"/>
            <a:ext cx="1769127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Layouts adapt cleanly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desktop to mobile.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2560216" y="3086174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2738661" y="3279800"/>
            <a:ext cx="1266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38661" y="3574107"/>
            <a:ext cx="1791184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Readable contrast, clear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focus, and labeled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119762" y="1698315"/>
            <a:ext cx="3476625" cy="2295525"/>
          </a:xfrm>
          <a:prstGeom prst="roundRect">
            <a:avLst>
              <a:gd name="adj" fmla="val 557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5308327" y="1889671"/>
            <a:ext cx="13645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SYSTEM</a:t>
            </a:r>
            <a:endParaRPr lang="en-US" sz="790" dirty="0"/>
          </a:p>
        </p:txBody>
      </p:sp>
      <p:sp>
        <p:nvSpPr>
          <p:cNvPr id="21" name="Shape 18"/>
          <p:cNvSpPr/>
          <p:nvPr/>
        </p:nvSpPr>
        <p:spPr>
          <a:xfrm>
            <a:off x="5307843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Shape 19"/>
          <p:cNvSpPr/>
          <p:nvPr/>
        </p:nvSpPr>
        <p:spPr>
          <a:xfrm>
            <a:off x="5783275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Shape 20"/>
          <p:cNvSpPr/>
          <p:nvPr/>
        </p:nvSpPr>
        <p:spPr>
          <a:xfrm>
            <a:off x="6258706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Shape 21"/>
          <p:cNvSpPr/>
          <p:nvPr/>
        </p:nvSpPr>
        <p:spPr>
          <a:xfrm>
            <a:off x="6734138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5308327" y="2631058"/>
            <a:ext cx="22156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73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— Display</a:t>
            </a:r>
            <a:endParaRPr lang="en-US" sz="1730" dirty="0"/>
          </a:p>
        </p:txBody>
      </p:sp>
      <p:sp>
        <p:nvSpPr>
          <p:cNvPr id="26" name="Text 23"/>
          <p:cNvSpPr/>
          <p:nvPr/>
        </p:nvSpPr>
        <p:spPr>
          <a:xfrm>
            <a:off x="5308327" y="3012356"/>
            <a:ext cx="3884116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— Body text for readable interface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copy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307323" y="3550072"/>
            <a:ext cx="962025" cy="257175"/>
          </a:xfrm>
          <a:prstGeom prst="roundRect">
            <a:avLst>
              <a:gd name="adj" fmla="val 21333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5637981" y="3605882"/>
            <a:ext cx="448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Cards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377025" y="3550072"/>
            <a:ext cx="962025" cy="257175"/>
          </a:xfrm>
          <a:prstGeom prst="roundRect">
            <a:avLst>
              <a:gd name="adj" fmla="val 21333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6705600" y="3605882"/>
            <a:ext cx="4534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7446727" y="3550072"/>
            <a:ext cx="962025" cy="257175"/>
          </a:xfrm>
          <a:prstGeom prst="roundRect">
            <a:avLst>
              <a:gd name="adj" fmla="val 21333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29"/>
          <p:cNvSpPr/>
          <p:nvPr/>
        </p:nvSpPr>
        <p:spPr>
          <a:xfrm>
            <a:off x="7757666" y="3605882"/>
            <a:ext cx="4992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Charts</a:t>
            </a:r>
            <a:endParaRPr lang="en-US" sz="8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38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88216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Testing Strategy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8097" y="1697385"/>
            <a:ext cx="4024312" cy="800100"/>
          </a:xfrm>
          <a:prstGeom prst="roundRect">
            <a:avLst>
              <a:gd name="adj" fmla="val 1142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17872" y="1880890"/>
            <a:ext cx="13584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72" y="2164928"/>
            <a:ext cx="456834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Individual components and utility functions verified in isolation.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548097" y="2600474"/>
            <a:ext cx="4024312" cy="800100"/>
          </a:xfrm>
          <a:prstGeom prst="roundRect">
            <a:avLst>
              <a:gd name="adj" fmla="val 1142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17872" y="2783979"/>
            <a:ext cx="2129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72" y="3068017"/>
            <a:ext cx="415479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playback, and data flow checked across modules.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548097" y="3503563"/>
            <a:ext cx="4024312" cy="800100"/>
          </a:xfrm>
          <a:prstGeom prst="roundRect">
            <a:avLst>
              <a:gd name="adj" fmla="val 1142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717872" y="3687068"/>
            <a:ext cx="18675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Usability testing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72" y="3971106"/>
            <a:ext cx="442788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users complete core tasks; feedback drives refinements.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304197" y="1698092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609630" y="1823740"/>
            <a:ext cx="960686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92%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5581189" y="2248719"/>
            <a:ext cx="101756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pass rate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023236" y="1698092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366482" y="1823740"/>
            <a:ext cx="885133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40+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7419011" y="2248719"/>
            <a:ext cx="7800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04197" y="2727015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5920740" y="2852663"/>
            <a:ext cx="33846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5470810" y="3277642"/>
            <a:ext cx="12383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Modules covered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023236" y="2727015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3"/>
          <p:cNvSpPr/>
          <p:nvPr/>
        </p:nvSpPr>
        <p:spPr>
          <a:xfrm>
            <a:off x="7459169" y="2852663"/>
            <a:ext cx="699686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&lt;1s</a:t>
            </a:r>
            <a:endParaRPr lang="en-US" sz="2450" dirty="0"/>
          </a:p>
        </p:txBody>
      </p:sp>
      <p:sp>
        <p:nvSpPr>
          <p:cNvPr id="27" name="Text 24"/>
          <p:cNvSpPr/>
          <p:nvPr/>
        </p:nvSpPr>
        <p:spPr>
          <a:xfrm>
            <a:off x="7205413" y="3277642"/>
            <a:ext cx="120727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response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47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6872168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8580" y="1696269"/>
            <a:ext cx="3657600" cy="971550"/>
          </a:xfrm>
          <a:prstGeom prst="roundRect">
            <a:avLst>
              <a:gd name="adj" fmla="val 9412"/>
            </a:avLst>
          </a:prstGeom>
          <a:solidFill>
            <a:srgbClr val="14102E">
              <a:alpha val="50196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17872" y="1871365"/>
            <a:ext cx="10368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717872" y="2072878"/>
            <a:ext cx="391410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were cold for new users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89016" y="2072878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480" y="1696269"/>
            <a:ext cx="3886200" cy="971550"/>
          </a:xfrm>
          <a:prstGeom prst="roundRect">
            <a:avLst>
              <a:gd name="adj" fmla="val 9412"/>
            </a:avLst>
          </a:prstGeom>
          <a:solidFill>
            <a:srgbClr val="14102E"/>
          </a:solidFill>
          <a:ln w="4763">
            <a:solidFill>
              <a:srgbClr val="7D39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4879032" y="1871365"/>
            <a:ext cx="8892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4879032" y="2072878"/>
            <a:ext cx="3636757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Seed with category and popularity, then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580" y="2770770"/>
            <a:ext cx="3657600" cy="747712"/>
          </a:xfrm>
          <a:prstGeom prst="roundRect">
            <a:avLst>
              <a:gd name="adj" fmla="val 12229"/>
            </a:avLst>
          </a:prstGeom>
          <a:solidFill>
            <a:srgbClr val="14102E">
              <a:alpha val="50196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717872" y="2943671"/>
            <a:ext cx="10368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717872" y="3145185"/>
            <a:ext cx="31451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slowed as the catalog grew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389016" y="3035424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09480" y="2770770"/>
            <a:ext cx="3886200" cy="747712"/>
          </a:xfrm>
          <a:prstGeom prst="roundRect">
            <a:avLst>
              <a:gd name="adj" fmla="val 12229"/>
            </a:avLst>
          </a:prstGeom>
          <a:solidFill>
            <a:srgbClr val="14102E"/>
          </a:solidFill>
          <a:ln w="4763">
            <a:solidFill>
              <a:srgbClr val="7D39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4879032" y="2943671"/>
            <a:ext cx="8892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4879032" y="3145185"/>
            <a:ext cx="34856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Indexed fields and debounced queries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580" y="3623630"/>
            <a:ext cx="3657600" cy="747712"/>
          </a:xfrm>
          <a:prstGeom prst="roundRect">
            <a:avLst>
              <a:gd name="adj" fmla="val 12229"/>
            </a:avLst>
          </a:prstGeom>
          <a:solidFill>
            <a:srgbClr val="14102E">
              <a:alpha val="50196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717872" y="3796531"/>
            <a:ext cx="10368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717872" y="3998044"/>
            <a:ext cx="299944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Playback state lost on navigation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389016" y="3888284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480" y="3623630"/>
            <a:ext cx="3886200" cy="747712"/>
          </a:xfrm>
          <a:prstGeom prst="roundRect">
            <a:avLst>
              <a:gd name="adj" fmla="val 12229"/>
            </a:avLst>
          </a:prstGeom>
          <a:solidFill>
            <a:srgbClr val="14102E"/>
          </a:solidFill>
          <a:ln w="4763">
            <a:solidFill>
              <a:srgbClr val="7D39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3"/>
          <p:cNvSpPr/>
          <p:nvPr/>
        </p:nvSpPr>
        <p:spPr>
          <a:xfrm>
            <a:off x="4879032" y="3796531"/>
            <a:ext cx="8892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4879032" y="3998044"/>
            <a:ext cx="32246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player with centralized state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71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 / 31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643704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8842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55378"/>
            <a:ext cx="23096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Native mobile apps</a:t>
            </a:r>
            <a:endParaRPr lang="en-US" sz="1370" dirty="0"/>
          </a:p>
        </p:txBody>
      </p:sp>
      <p:sp>
        <p:nvSpPr>
          <p:cNvPr id="9" name="Text 6"/>
          <p:cNvSpPr/>
          <p:nvPr/>
        </p:nvSpPr>
        <p:spPr>
          <a:xfrm>
            <a:off x="736178" y="2258616"/>
            <a:ext cx="2569830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iOS and Android clients with offline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downloads.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3290850" y="1748842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3479378" y="1955378"/>
            <a:ext cx="128746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Smarter AI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3479378" y="2258616"/>
            <a:ext cx="2700814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Deeper models using transcripts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 embeddings.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034050" y="1748842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222578" y="1955378"/>
            <a:ext cx="17811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Social features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6222578" y="2258616"/>
            <a:ext cx="2084301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playlists, follows,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47650" y="2955838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736178" y="3162374"/>
            <a:ext cx="159258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Creator tools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736178" y="3465612"/>
            <a:ext cx="27700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Upload, hosting, and creator analytics.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3290850" y="2955838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3479378" y="3162374"/>
            <a:ext cx="240111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Transcripts &amp; search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3479378" y="3465612"/>
            <a:ext cx="27348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Full-text search inside episode audio.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6034050" y="2955838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222578" y="3162374"/>
            <a:ext cx="15643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Accessibility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6222578" y="3465612"/>
            <a:ext cx="2505112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Captions, keyboard shortcuts,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screen-reader polish.</a:t>
            </a:r>
            <a:endParaRPr lang="en-US" sz="9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911" y="-1672121"/>
            <a:ext cx="5310187" cy="531018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4953" y="1871663"/>
            <a:ext cx="4943475" cy="4943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80" y="369540"/>
            <a:ext cx="81161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/ 31</a:t>
            </a:r>
            <a:endParaRPr lang="en-US" sz="860" dirty="0"/>
          </a:p>
        </p:txBody>
      </p:sp>
      <p:sp>
        <p:nvSpPr>
          <p:cNvPr id="6" name="Text 2"/>
          <p:cNvSpPr/>
          <p:nvPr/>
        </p:nvSpPr>
        <p:spPr>
          <a:xfrm>
            <a:off x="548580" y="534665"/>
            <a:ext cx="345634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4"/>
          <p:cNvSpPr/>
          <p:nvPr/>
        </p:nvSpPr>
        <p:spPr>
          <a:xfrm>
            <a:off x="548580" y="1743968"/>
            <a:ext cx="554907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 turns listening</a:t>
            </a:r>
            <a:endParaRPr lang="en-US" sz="2020" dirty="0"/>
          </a:p>
        </p:txBody>
      </p:sp>
      <p:sp>
        <p:nvSpPr>
          <p:cNvPr id="9" name="Text 5"/>
          <p:cNvSpPr/>
          <p:nvPr/>
        </p:nvSpPr>
        <p:spPr>
          <a:xfrm>
            <a:off x="548580" y="2064023"/>
            <a:ext cx="483263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into a personal, measurable,</a:t>
            </a:r>
            <a:endParaRPr lang="en-US" sz="2020" dirty="0"/>
          </a:p>
        </p:txBody>
      </p:sp>
      <p:sp>
        <p:nvSpPr>
          <p:cNvPr id="10" name="Text 6"/>
          <p:cNvSpPr/>
          <p:nvPr/>
        </p:nvSpPr>
        <p:spPr>
          <a:xfrm>
            <a:off x="548580" y="2384078"/>
            <a:ext cx="438783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and cohesive experience.</a:t>
            </a:r>
            <a:endParaRPr lang="en-US" sz="2020" dirty="0"/>
          </a:p>
        </p:txBody>
      </p:sp>
      <p:sp>
        <p:nvSpPr>
          <p:cNvPr id="11" name="Text 7"/>
          <p:cNvSpPr/>
          <p:nvPr/>
        </p:nvSpPr>
        <p:spPr>
          <a:xfrm>
            <a:off x="548580" y="2882205"/>
            <a:ext cx="5609540" cy="66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modular React application that unifies discovery, playback, AI</a:t>
            </a:r>
            <a:endParaRPr lang="en-US" sz="1150" dirty="0"/>
          </a:p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recommendations, and analytics — built on an architecture</a:t>
            </a:r>
            <a:endParaRPr lang="en-US" sz="1150" dirty="0"/>
          </a:p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to scale.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304086" y="1801267"/>
            <a:ext cx="3290887" cy="557213"/>
          </a:xfrm>
          <a:prstGeom prst="roundRect">
            <a:avLst>
              <a:gd name="adj" fmla="val 1641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9"/>
          <p:cNvSpPr/>
          <p:nvPr/>
        </p:nvSpPr>
        <p:spPr>
          <a:xfrm>
            <a:off x="5453546" y="1951286"/>
            <a:ext cx="57150" cy="2571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0"/>
          <p:cNvSpPr/>
          <p:nvPr/>
        </p:nvSpPr>
        <p:spPr>
          <a:xfrm>
            <a:off x="5637535" y="1984400"/>
            <a:ext cx="3228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seven modules delivered and tested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04086" y="2461394"/>
            <a:ext cx="3290887" cy="742950"/>
          </a:xfrm>
          <a:prstGeom prst="roundRect">
            <a:avLst>
              <a:gd name="adj" fmla="val 1230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2"/>
          <p:cNvSpPr/>
          <p:nvPr/>
        </p:nvSpPr>
        <p:spPr>
          <a:xfrm>
            <a:off x="5455295" y="2704281"/>
            <a:ext cx="52388" cy="2571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3"/>
          <p:cNvSpPr/>
          <p:nvPr/>
        </p:nvSpPr>
        <p:spPr>
          <a:xfrm>
            <a:off x="5636270" y="2627709"/>
            <a:ext cx="2488763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and analytics as the core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304086" y="3307259"/>
            <a:ext cx="3290887" cy="557213"/>
          </a:xfrm>
          <a:prstGeom prst="roundRect">
            <a:avLst>
              <a:gd name="adj" fmla="val 1641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5"/>
          <p:cNvSpPr/>
          <p:nvPr/>
        </p:nvSpPr>
        <p:spPr>
          <a:xfrm>
            <a:off x="5453546" y="3457277"/>
            <a:ext cx="57150" cy="2571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6"/>
          <p:cNvSpPr/>
          <p:nvPr/>
        </p:nvSpPr>
        <p:spPr>
          <a:xfrm>
            <a:off x="5637535" y="3490392"/>
            <a:ext cx="33643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roadmap for what comes next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580" y="4587329"/>
            <a:ext cx="72028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to our supervisor and the evaluation committee for their guidance and time.</a:t>
            </a:r>
            <a:endParaRPr lang="en-US" sz="108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449887"/>
            <a:ext cx="80486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6263" y="-1671637"/>
            <a:ext cx="6315075" cy="63150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40173" y="1671638"/>
            <a:ext cx="5400675" cy="54006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357" y="359792"/>
            <a:ext cx="238125" cy="238125"/>
          </a:xfrm>
          <a:prstGeom prst="roundRect">
            <a:avLst>
              <a:gd name="adj" fmla="val 2304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2"/>
          <p:cNvSpPr/>
          <p:nvPr/>
        </p:nvSpPr>
        <p:spPr>
          <a:xfrm>
            <a:off x="622176" y="433611"/>
            <a:ext cx="90488" cy="90488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3"/>
          <p:cNvSpPr/>
          <p:nvPr/>
        </p:nvSpPr>
        <p:spPr>
          <a:xfrm>
            <a:off x="877639" y="390302"/>
            <a:ext cx="15648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-27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</a:t>
            </a:r>
            <a:endParaRPr lang="en-US" sz="1080" dirty="0"/>
          </a:p>
        </p:txBody>
      </p:sp>
      <p:sp>
        <p:nvSpPr>
          <p:cNvPr id="9" name="Text 4"/>
          <p:cNvSpPr/>
          <p:nvPr/>
        </p:nvSpPr>
        <p:spPr>
          <a:xfrm>
            <a:off x="8056587" y="395660"/>
            <a:ext cx="7576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 / 31</a:t>
            </a:r>
            <a:endParaRPr lang="en-US" sz="790" dirty="0"/>
          </a:p>
        </p:txBody>
      </p:sp>
      <p:sp>
        <p:nvSpPr>
          <p:cNvPr id="10" name="Text 5"/>
          <p:cNvSpPr/>
          <p:nvPr/>
        </p:nvSpPr>
        <p:spPr>
          <a:xfrm>
            <a:off x="548580" y="1964010"/>
            <a:ext cx="1557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10" kern="0" spc="323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DISCUSSION</a:t>
            </a:r>
            <a:endParaRPr lang="en-US" sz="1010" dirty="0"/>
          </a:p>
        </p:txBody>
      </p:sp>
      <p:sp>
        <p:nvSpPr>
          <p:cNvPr id="11" name="Text 6"/>
          <p:cNvSpPr/>
          <p:nvPr/>
        </p:nvSpPr>
        <p:spPr>
          <a:xfrm>
            <a:off x="548580" y="2130251"/>
            <a:ext cx="5449052" cy="923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60" b="1" kern="0" spc="-144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Questions?</a:t>
            </a:r>
            <a:endParaRPr lang="en-US" sz="576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3099383"/>
            <a:ext cx="1828800" cy="23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580" y="3307705"/>
            <a:ext cx="7055294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15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you. We welcome your questions and feedback on the</a:t>
            </a:r>
            <a:endParaRPr lang="en-US" sz="1510" dirty="0"/>
          </a:p>
          <a:p>
            <a:pPr marL="0" indent="0" algn="l">
              <a:lnSpc>
                <a:spcPts val="2268"/>
              </a:lnSpc>
              <a:buNone/>
            </a:pPr>
            <a:r>
              <a:rPr lang="en-US" sz="15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design, implementation, and results.</a:t>
            </a:r>
            <a:endParaRPr lang="en-US" sz="1510" dirty="0"/>
          </a:p>
        </p:txBody>
      </p:sp>
      <p:sp>
        <p:nvSpPr>
          <p:cNvPr id="14" name="Shape 8"/>
          <p:cNvSpPr/>
          <p:nvPr/>
        </p:nvSpPr>
        <p:spPr>
          <a:xfrm>
            <a:off x="547688" y="4435859"/>
            <a:ext cx="8048625" cy="347663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9"/>
          <p:cNvSpPr/>
          <p:nvPr/>
        </p:nvSpPr>
        <p:spPr>
          <a:xfrm>
            <a:off x="548580" y="4578325"/>
            <a:ext cx="38614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 — Graduation Project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882854" y="4601021"/>
            <a:ext cx="228348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· Vite · JavaScript · CSS</a:t>
            </a:r>
            <a:endParaRPr lang="en-US" sz="101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88" y="4435859"/>
            <a:ext cx="8048625" cy="347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5D3218-372F-E43C-0783-776533DFB7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83" y="623088"/>
            <a:ext cx="716217" cy="7162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7219AB-5658-05BD-11AD-2D1718A8C7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4650" y="597917"/>
            <a:ext cx="637585" cy="6952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911" y="-1672121"/>
            <a:ext cx="5310187" cy="531018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4953" y="1871663"/>
            <a:ext cx="4943475" cy="4943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80" y="369540"/>
            <a:ext cx="186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31 · MODULE</a:t>
            </a:r>
            <a:endParaRPr lang="en-US" sz="860" dirty="0"/>
          </a:p>
        </p:txBody>
      </p:sp>
      <p:sp>
        <p:nvSpPr>
          <p:cNvPr id="6" name="Text 2"/>
          <p:cNvSpPr/>
          <p:nvPr/>
        </p:nvSpPr>
        <p:spPr>
          <a:xfrm>
            <a:off x="548580" y="534665"/>
            <a:ext cx="828135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Gemini AI Podcast Summarizer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4"/>
          <p:cNvSpPr/>
          <p:nvPr/>
        </p:nvSpPr>
        <p:spPr>
          <a:xfrm>
            <a:off x="549548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5"/>
          <p:cNvSpPr/>
          <p:nvPr/>
        </p:nvSpPr>
        <p:spPr>
          <a:xfrm>
            <a:off x="699641" y="1862658"/>
            <a:ext cx="25672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010" dirty="0"/>
          </a:p>
        </p:txBody>
      </p:sp>
      <p:sp>
        <p:nvSpPr>
          <p:cNvPr id="10" name="Text 6"/>
          <p:cNvSpPr/>
          <p:nvPr/>
        </p:nvSpPr>
        <p:spPr>
          <a:xfrm>
            <a:off x="699641" y="2106067"/>
            <a:ext cx="125757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Episode Selected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699641" y="2376339"/>
            <a:ext cx="146546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opens an episode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taps Summarize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2408783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639020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0"/>
          <p:cNvSpPr/>
          <p:nvPr/>
        </p:nvSpPr>
        <p:spPr>
          <a:xfrm>
            <a:off x="2789113" y="1862658"/>
            <a:ext cx="2909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2789113" y="2106067"/>
            <a:ext cx="19517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Gemini API Call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2789113" y="2376339"/>
            <a:ext cx="173178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metadata sent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Gemini in-platform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4498256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728493" y="1696529"/>
            <a:ext cx="1776413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5"/>
          <p:cNvSpPr/>
          <p:nvPr/>
        </p:nvSpPr>
        <p:spPr>
          <a:xfrm>
            <a:off x="4883348" y="1867421"/>
            <a:ext cx="2913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010" dirty="0"/>
          </a:p>
        </p:txBody>
      </p:sp>
      <p:sp>
        <p:nvSpPr>
          <p:cNvPr id="20" name="Text 16"/>
          <p:cNvSpPr/>
          <p:nvPr/>
        </p:nvSpPr>
        <p:spPr>
          <a:xfrm>
            <a:off x="4883348" y="2110829"/>
            <a:ext cx="16236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Processing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4883348" y="2381101"/>
            <a:ext cx="144263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analyzes &amp;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summary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6597253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27490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0"/>
          <p:cNvSpPr/>
          <p:nvPr/>
        </p:nvSpPr>
        <p:spPr>
          <a:xfrm>
            <a:off x="6977583" y="1862658"/>
            <a:ext cx="2986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010" dirty="0"/>
          </a:p>
        </p:txBody>
      </p:sp>
      <p:sp>
        <p:nvSpPr>
          <p:cNvPr id="25" name="Text 21"/>
          <p:cNvSpPr/>
          <p:nvPr/>
        </p:nvSpPr>
        <p:spPr>
          <a:xfrm>
            <a:off x="6977583" y="2106067"/>
            <a:ext cx="16507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Summary Displayed</a:t>
            </a:r>
            <a:endParaRPr lang="en-US" sz="1220" dirty="0"/>
          </a:p>
        </p:txBody>
      </p:sp>
      <p:sp>
        <p:nvSpPr>
          <p:cNvPr id="26" name="Text 22"/>
          <p:cNvSpPr/>
          <p:nvPr/>
        </p:nvSpPr>
        <p:spPr>
          <a:xfrm>
            <a:off x="6977583" y="2376339"/>
            <a:ext cx="1959702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points shown inline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leaving the app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5476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8" name="Text 24"/>
          <p:cNvSpPr/>
          <p:nvPr/>
        </p:nvSpPr>
        <p:spPr>
          <a:xfrm>
            <a:off x="548580" y="4222924"/>
            <a:ext cx="15591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Zero context-switching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580" y="4473922"/>
            <a:ext cx="26094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Summaries appear inside the platform — no external apps needed.</a:t>
            </a:r>
            <a:endParaRPr lang="en-US" sz="900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2908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1" name="Text 27"/>
          <p:cNvSpPr/>
          <p:nvPr/>
        </p:nvSpPr>
        <p:spPr>
          <a:xfrm>
            <a:off x="3291780" y="4222924"/>
            <a:ext cx="13892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Gemini AI powered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291780" y="4473922"/>
            <a:ext cx="273360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Google’s Gemini delivers accurate, concise episode summaries.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340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4" name="Text 30"/>
          <p:cNvSpPr/>
          <p:nvPr/>
        </p:nvSpPr>
        <p:spPr>
          <a:xfrm>
            <a:off x="6034980" y="4222924"/>
            <a:ext cx="15410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Instant &amp; on-demand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034980" y="4473922"/>
            <a:ext cx="323519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tap generates a full summary — no waiting, no reload.</a:t>
            </a:r>
            <a:endParaRPr lang="en-US" sz="9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50" y="4101740"/>
            <a:ext cx="2562225" cy="681038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850" y="4101740"/>
            <a:ext cx="2562225" cy="681038"/>
          </a:xfrm>
          <a:prstGeom prst="rect">
            <a:avLst/>
          </a:prstGeom>
        </p:spPr>
      </p:pic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050" y="4101740"/>
            <a:ext cx="2562225" cy="6810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6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63557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Summarizer — Key Features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663924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Powered by Gemini AI, the summarizer gives listeners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episode insights — embedded directly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the platform, with no external app needed.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43074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One-tap Gemini summary generated inline on any episode page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3284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Covers key topics, main takeaways, and notable quotes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37914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listeners decide whether to play before committing time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7820" y="1698203"/>
            <a:ext cx="3657600" cy="2362200"/>
          </a:xfrm>
          <a:prstGeom prst="roundRect">
            <a:avLst>
              <a:gd name="adj" fmla="val 541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5125938" y="1883792"/>
            <a:ext cx="3281363" cy="347663"/>
          </a:xfrm>
          <a:prstGeom prst="roundRect">
            <a:avLst>
              <a:gd name="adj" fmla="val 21041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3"/>
          <p:cNvSpPr/>
          <p:nvPr/>
        </p:nvSpPr>
        <p:spPr>
          <a:xfrm>
            <a:off x="5257874" y="1993329"/>
            <a:ext cx="128588" cy="128588"/>
          </a:xfrm>
          <a:prstGeom prst="ellipse">
            <a:avLst/>
          </a:prstGeom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477545" y="1971154"/>
            <a:ext cx="17452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 this episode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5125938" y="2322686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9" y="2422699"/>
            <a:ext cx="276225" cy="2762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843" y="2398886"/>
            <a:ext cx="11945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✨ Key Topics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5623843" y="2586112"/>
            <a:ext cx="158203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AI, product strategy, startup growth</a:t>
            </a:r>
            <a:endParaRPr lang="en-US" sz="790" dirty="0"/>
          </a:p>
        </p:txBody>
      </p:sp>
      <p:sp>
        <p:nvSpPr>
          <p:cNvPr id="22" name="Shape 18"/>
          <p:cNvSpPr/>
          <p:nvPr/>
        </p:nvSpPr>
        <p:spPr>
          <a:xfrm>
            <a:off x="5125938" y="2860179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899" y="2960191"/>
            <a:ext cx="276225" cy="2762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623843" y="2936379"/>
            <a:ext cx="12065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Main Takeaways</a:t>
            </a:r>
            <a:endParaRPr lang="en-US" sz="1010" dirty="0"/>
          </a:p>
        </p:txBody>
      </p:sp>
      <p:sp>
        <p:nvSpPr>
          <p:cNvPr id="25" name="Text 20"/>
          <p:cNvSpPr/>
          <p:nvPr/>
        </p:nvSpPr>
        <p:spPr>
          <a:xfrm>
            <a:off x="5623843" y="3123605"/>
            <a:ext cx="15069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key insights from this episode</a:t>
            </a:r>
            <a:endParaRPr lang="en-US" sz="790" dirty="0"/>
          </a:p>
        </p:txBody>
      </p:sp>
      <p:sp>
        <p:nvSpPr>
          <p:cNvPr id="26" name="Shape 21"/>
          <p:cNvSpPr/>
          <p:nvPr/>
        </p:nvSpPr>
        <p:spPr>
          <a:xfrm>
            <a:off x="5125938" y="3397672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9" y="3497684"/>
            <a:ext cx="276225" cy="2762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843" y="3473872"/>
            <a:ext cx="12146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⏱ Time Saved Estimate</a:t>
            </a:r>
            <a:endParaRPr lang="en-US" sz="1010" dirty="0"/>
          </a:p>
        </p:txBody>
      </p:sp>
      <p:sp>
        <p:nvSpPr>
          <p:cNvPr id="29" name="Text 23"/>
          <p:cNvSpPr/>
          <p:nvPr/>
        </p:nvSpPr>
        <p:spPr>
          <a:xfrm>
            <a:off x="5623843" y="3661097"/>
            <a:ext cx="15758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~35 min by reading first</a:t>
            </a:r>
            <a:endParaRPr lang="en-US" sz="79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572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/ 31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100891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Summary — In-Platform UX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75737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summary panel opens directly inside the episode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— no new tab, no external tool, no interruption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the listening flow.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4380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Tap “Summarize” on any episode — results appear in seconds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8411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 stays visible while the audio player keeps playing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34227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integrated — Gemini runs server-side, invisible to the user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7820" y="1697534"/>
            <a:ext cx="3657600" cy="2405062"/>
          </a:xfrm>
          <a:prstGeom prst="roundRect">
            <a:avLst>
              <a:gd name="adj" fmla="val 456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5125417" y="1889671"/>
            <a:ext cx="15109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SUMMARY</a:t>
            </a:r>
            <a:endParaRPr lang="en-US" sz="790" dirty="0"/>
          </a:p>
        </p:txBody>
      </p:sp>
      <p:sp>
        <p:nvSpPr>
          <p:cNvPr id="16" name="Shape 13"/>
          <p:cNvSpPr/>
          <p:nvPr/>
        </p:nvSpPr>
        <p:spPr>
          <a:xfrm>
            <a:off x="5125938" y="2128279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125417" y="2137916"/>
            <a:ext cx="22980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✨ This episode covers AI-driven product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5125417" y="2325142"/>
            <a:ext cx="5618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 and startup scaling.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8103319" y="2227064"/>
            <a:ext cx="4530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5125938" y="2609590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1" name="Text 18"/>
          <p:cNvSpPr/>
          <p:nvPr/>
        </p:nvSpPr>
        <p:spPr>
          <a:xfrm>
            <a:off x="5125417" y="2619226"/>
            <a:ext cx="226152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Key Takeaways: 3 insights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5125417" y="2806452"/>
            <a:ext cx="8657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by Gemini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7908727" y="2708374"/>
            <a:ext cx="705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in-platform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125938" y="3090900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5125417" y="3100536"/>
            <a:ext cx="2270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 Host Highlights &amp; Quotes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125417" y="3287762"/>
            <a:ext cx="5618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tab switching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7862887" y="3189684"/>
            <a:ext cx="7655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5125417" y="3581846"/>
            <a:ext cx="20856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🔊 [ Summarize ] button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5125417" y="3769072"/>
            <a:ext cx="8571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powered by Gemini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7861250" y="3670995"/>
            <a:ext cx="7676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tap</a:t>
            </a:r>
            <a:endParaRPr lang="en-US" sz="86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5938" y="2128279"/>
            <a:ext cx="3281363" cy="409575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5938" y="2609590"/>
            <a:ext cx="3281363" cy="409575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5938" y="3090900"/>
            <a:ext cx="3281363" cy="409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1971</Words>
  <Application>Microsoft Office PowerPoint</Application>
  <PresentationFormat>On-screen Show (16:9)</PresentationFormat>
  <Paragraphs>571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Bahnschrift SemiCondensed</vt:lpstr>
      <vt:lpstr>DM Sans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adel alkady</cp:lastModifiedBy>
  <cp:revision>5</cp:revision>
  <dcterms:created xsi:type="dcterms:W3CDTF">2026-06-26T08:17:12Z</dcterms:created>
  <dcterms:modified xsi:type="dcterms:W3CDTF">2026-06-27T07:45:41Z</dcterms:modified>
</cp:coreProperties>
</file>