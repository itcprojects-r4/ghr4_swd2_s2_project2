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108" y="-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9692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sv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svg"/><Relationship Id="rId5" Type="http://schemas.openxmlformats.org/officeDocument/2006/relationships/image" Target="../media/image29.svg"/><Relationship Id="rId4" Type="http://schemas.openxmlformats.org/officeDocument/2006/relationships/image" Target="../media/image8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image" Target="../media/image7.sv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svg"/><Relationship Id="rId5" Type="http://schemas.openxmlformats.org/officeDocument/2006/relationships/image" Target="../media/image44.svg"/><Relationship Id="rId4" Type="http://schemas.openxmlformats.org/officeDocument/2006/relationships/image" Target="../media/image43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svg"/><Relationship Id="rId4" Type="http://schemas.openxmlformats.org/officeDocument/2006/relationships/image" Target="../media/image8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image" Target="../media/image48.svg"/><Relationship Id="rId7" Type="http://schemas.openxmlformats.org/officeDocument/2006/relationships/image" Target="../media/image50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86263" y="-1671637"/>
            <a:ext cx="6315075" cy="631507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740173" y="1671638"/>
            <a:ext cx="5400675" cy="5400675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>
            <a:alphaModFix amt="6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548357" y="359792"/>
            <a:ext cx="238125" cy="238125"/>
          </a:xfrm>
          <a:prstGeom prst="roundRect">
            <a:avLst>
              <a:gd name="adj" fmla="val 2304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Shape 2"/>
          <p:cNvSpPr/>
          <p:nvPr/>
        </p:nvSpPr>
        <p:spPr>
          <a:xfrm>
            <a:off x="622176" y="433611"/>
            <a:ext cx="90488" cy="90488"/>
          </a:xfrm>
          <a:prstGeom prst="ellipse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8" name="Text 3"/>
          <p:cNvSpPr/>
          <p:nvPr/>
        </p:nvSpPr>
        <p:spPr>
          <a:xfrm>
            <a:off x="877639" y="390302"/>
            <a:ext cx="156481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-27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Podcast Platform</a:t>
            </a:r>
            <a:endParaRPr lang="en-US" sz="1080" dirty="0"/>
          </a:p>
        </p:txBody>
      </p:sp>
      <p:sp>
        <p:nvSpPr>
          <p:cNvPr id="9" name="Text 4"/>
          <p:cNvSpPr/>
          <p:nvPr/>
        </p:nvSpPr>
        <p:spPr>
          <a:xfrm>
            <a:off x="6975053" y="395660"/>
            <a:ext cx="216362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238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GRADUATION PROJECT</a:t>
            </a:r>
            <a:endParaRPr lang="en-US" sz="790" dirty="0"/>
          </a:p>
        </p:txBody>
      </p:sp>
      <p:sp>
        <p:nvSpPr>
          <p:cNvPr id="10" name="Text 5"/>
          <p:cNvSpPr/>
          <p:nvPr/>
        </p:nvSpPr>
        <p:spPr>
          <a:xfrm>
            <a:off x="548580" y="1758255"/>
            <a:ext cx="448834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91"/>
              </a:spcAft>
              <a:buNone/>
            </a:pPr>
            <a:r>
              <a:rPr lang="en-US" sz="1010" kern="0" spc="323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SOFTWARE ENGINEERING CAPSTONE</a:t>
            </a:r>
            <a:endParaRPr lang="en-US" sz="1010" dirty="0"/>
          </a:p>
        </p:txBody>
      </p:sp>
      <p:sp>
        <p:nvSpPr>
          <p:cNvPr id="11" name="Text 6"/>
          <p:cNvSpPr/>
          <p:nvPr/>
        </p:nvSpPr>
        <p:spPr>
          <a:xfrm>
            <a:off x="548580" y="1934766"/>
            <a:ext cx="8426269" cy="9477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900" b="1" kern="0" spc="-148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Podcast Platform</a:t>
            </a:r>
            <a:endParaRPr lang="en-US" sz="5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511" y="2921310"/>
            <a:ext cx="2009775" cy="2381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8580" y="3139976"/>
            <a:ext cx="7006344" cy="907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84"/>
              </a:lnSpc>
              <a:buNone/>
            </a:pPr>
            <a:r>
              <a:rPr lang="en-US" sz="166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modern web platform for discovering, streaming, and</a:t>
            </a:r>
            <a:endParaRPr lang="en-US" sz="1660" dirty="0"/>
          </a:p>
          <a:p>
            <a:pPr marL="0" indent="0" algn="l">
              <a:lnSpc>
                <a:spcPts val="2484"/>
              </a:lnSpc>
              <a:buNone/>
            </a:pPr>
            <a:r>
              <a:rPr lang="en-US" sz="166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understanding podcasts — powered by AI</a:t>
            </a:r>
            <a:endParaRPr lang="en-US" sz="1660" dirty="0"/>
          </a:p>
          <a:p>
            <a:pPr marL="0" indent="0" algn="l">
              <a:lnSpc>
                <a:spcPts val="2484"/>
              </a:lnSpc>
              <a:buNone/>
            </a:pPr>
            <a:r>
              <a:rPr lang="en-US" sz="166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recommendations and a personal analytics dashboard.</a:t>
            </a:r>
            <a:endParaRPr lang="en-US" sz="1660" dirty="0"/>
          </a:p>
        </p:txBody>
      </p:sp>
      <p:sp>
        <p:nvSpPr>
          <p:cNvPr id="14" name="Text 8"/>
          <p:cNvSpPr/>
          <p:nvPr/>
        </p:nvSpPr>
        <p:spPr>
          <a:xfrm>
            <a:off x="548580" y="4387155"/>
            <a:ext cx="969585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kern="0" spc="18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BUILT WITH</a:t>
            </a:r>
            <a:endParaRPr lang="en-US" sz="720" dirty="0"/>
          </a:p>
        </p:txBody>
      </p:sp>
      <p:sp>
        <p:nvSpPr>
          <p:cNvPr id="15" name="Text 9"/>
          <p:cNvSpPr/>
          <p:nvPr/>
        </p:nvSpPr>
        <p:spPr>
          <a:xfrm>
            <a:off x="548580" y="4564633"/>
            <a:ext cx="3054489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22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React · Vite · JavaScript · CSS</a:t>
            </a:r>
            <a:endParaRPr lang="en-US" sz="1220" dirty="0"/>
          </a:p>
        </p:txBody>
      </p:sp>
      <p:sp>
        <p:nvSpPr>
          <p:cNvPr id="16" name="Text 10"/>
          <p:cNvSpPr/>
          <p:nvPr/>
        </p:nvSpPr>
        <p:spPr>
          <a:xfrm>
            <a:off x="7355547" y="4387155"/>
            <a:ext cx="123987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720" kern="0" spc="18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PRESENTED TO</a:t>
            </a:r>
            <a:endParaRPr lang="en-US" sz="72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EBD4D60-6E39-01B5-EBDF-36A0B14F03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683" y="623088"/>
            <a:ext cx="716217" cy="71621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3091790-1637-AF93-C501-EADDDA63FD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4650" y="597917"/>
            <a:ext cx="637585" cy="69523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7B60140-EE9E-4F38-18B9-C28E329EC906}"/>
              </a:ext>
            </a:extLst>
          </p:cNvPr>
          <p:cNvSpPr txBox="1"/>
          <p:nvPr/>
        </p:nvSpPr>
        <p:spPr>
          <a:xfrm>
            <a:off x="7787050" y="4522912"/>
            <a:ext cx="169037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DEPI</a:t>
            </a:r>
            <a:endParaRPr lang="ar-EG" b="1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74953" y="-1568723"/>
            <a:ext cx="4943475" cy="49434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580" y="369540"/>
            <a:ext cx="83453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 / 28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48580" y="534665"/>
            <a:ext cx="5508642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600" b="1" kern="0" spc="-90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Team Introduction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49511" y="1167631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Shape 4"/>
          <p:cNvSpPr/>
          <p:nvPr/>
        </p:nvSpPr>
        <p:spPr>
          <a:xfrm>
            <a:off x="1759296" y="1604962"/>
            <a:ext cx="1876425" cy="1933575"/>
          </a:xfrm>
          <a:prstGeom prst="roundRect">
            <a:avLst>
              <a:gd name="adj" fmla="val 5848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 dirty="0">
              <a:solidFill>
                <a:schemeClr val="bg1"/>
              </a:solidFill>
            </a:endParaRPr>
          </a:p>
        </p:txBody>
      </p:sp>
      <p:sp>
        <p:nvSpPr>
          <p:cNvPr id="9" name="Text 5"/>
          <p:cNvSpPr/>
          <p:nvPr/>
        </p:nvSpPr>
        <p:spPr>
          <a:xfrm>
            <a:off x="1968995" y="1809825"/>
            <a:ext cx="155572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37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Member One</a:t>
            </a:r>
            <a:endParaRPr lang="en-US" sz="1370" dirty="0"/>
          </a:p>
        </p:txBody>
      </p:sp>
      <p:sp>
        <p:nvSpPr>
          <p:cNvPr id="12" name="Shape 8"/>
          <p:cNvSpPr/>
          <p:nvPr/>
        </p:nvSpPr>
        <p:spPr>
          <a:xfrm>
            <a:off x="4314118" y="2407964"/>
            <a:ext cx="1876425" cy="1933575"/>
          </a:xfrm>
          <a:prstGeom prst="roundRect">
            <a:avLst>
              <a:gd name="adj" fmla="val 5848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4" name="Text 9"/>
          <p:cNvSpPr/>
          <p:nvPr/>
        </p:nvSpPr>
        <p:spPr>
          <a:xfrm>
            <a:off x="4502646" y="2664818"/>
            <a:ext cx="155533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37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Member Four</a:t>
            </a:r>
            <a:endParaRPr lang="en-US" sz="1370" dirty="0"/>
          </a:p>
        </p:txBody>
      </p:sp>
      <p:sp>
        <p:nvSpPr>
          <p:cNvPr id="17" name="Shape 12"/>
          <p:cNvSpPr/>
          <p:nvPr/>
        </p:nvSpPr>
        <p:spPr>
          <a:xfrm>
            <a:off x="6821316" y="2414343"/>
            <a:ext cx="1876425" cy="1933575"/>
          </a:xfrm>
          <a:prstGeom prst="roundRect">
            <a:avLst>
              <a:gd name="adj" fmla="val 5848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9" name="Text 13"/>
          <p:cNvSpPr/>
          <p:nvPr/>
        </p:nvSpPr>
        <p:spPr>
          <a:xfrm>
            <a:off x="7009844" y="2615809"/>
            <a:ext cx="1731399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37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Member Five</a:t>
            </a:r>
            <a:endParaRPr lang="en-US" sz="1370" dirty="0"/>
          </a:p>
        </p:txBody>
      </p:sp>
      <p:sp>
        <p:nvSpPr>
          <p:cNvPr id="22" name="Shape 16"/>
          <p:cNvSpPr/>
          <p:nvPr/>
        </p:nvSpPr>
        <p:spPr>
          <a:xfrm>
            <a:off x="6841702" y="240384"/>
            <a:ext cx="1876425" cy="1933575"/>
          </a:xfrm>
          <a:prstGeom prst="roundRect">
            <a:avLst>
              <a:gd name="adj" fmla="val 5848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 dirty="0"/>
          </a:p>
        </p:txBody>
      </p:sp>
      <p:sp>
        <p:nvSpPr>
          <p:cNvPr id="24" name="Text 17"/>
          <p:cNvSpPr/>
          <p:nvPr/>
        </p:nvSpPr>
        <p:spPr>
          <a:xfrm>
            <a:off x="7030192" y="440977"/>
            <a:ext cx="158948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37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Member Three</a:t>
            </a:r>
            <a:endParaRPr lang="en-US" sz="1370" dirty="0"/>
          </a:p>
        </p:txBody>
      </p:sp>
      <p:sp>
        <p:nvSpPr>
          <p:cNvPr id="27" name="Text 20"/>
          <p:cNvSpPr/>
          <p:nvPr/>
        </p:nvSpPr>
        <p:spPr>
          <a:xfrm>
            <a:off x="548580" y="4601021"/>
            <a:ext cx="289980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Supervised by </a:t>
            </a:r>
            <a:r>
              <a:rPr lang="en-US" sz="10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Dr. [Supervisor Name]</a:t>
            </a:r>
            <a:endParaRPr lang="en-US" sz="1010" dirty="0"/>
          </a:p>
        </p:txBody>
      </p:sp>
      <p:sp>
        <p:nvSpPr>
          <p:cNvPr id="28" name="Text 21"/>
          <p:cNvSpPr/>
          <p:nvPr/>
        </p:nvSpPr>
        <p:spPr>
          <a:xfrm>
            <a:off x="2918073" y="4635103"/>
            <a:ext cx="80367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2A23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|</a:t>
            </a:r>
            <a:endParaRPr lang="en-US" sz="600" dirty="0"/>
          </a:p>
        </p:txBody>
      </p:sp>
      <p:sp>
        <p:nvSpPr>
          <p:cNvPr id="29" name="Text 22"/>
          <p:cNvSpPr/>
          <p:nvPr/>
        </p:nvSpPr>
        <p:spPr>
          <a:xfrm>
            <a:off x="3118768" y="4601021"/>
            <a:ext cx="267517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Department of Computer Science</a:t>
            </a:r>
            <a:endParaRPr lang="en-US" sz="1010" dirty="0"/>
          </a:p>
        </p:txBody>
      </p:sp>
      <p:sp>
        <p:nvSpPr>
          <p:cNvPr id="31" name="Text 24"/>
          <p:cNvSpPr/>
          <p:nvPr/>
        </p:nvSpPr>
        <p:spPr>
          <a:xfrm>
            <a:off x="2858319" y="2061493"/>
            <a:ext cx="36429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4923234" y="2061493"/>
            <a:ext cx="34465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6972151" y="2061493"/>
            <a:ext cx="36671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35" name="Shape 4">
            <a:extLst>
              <a:ext uri="{FF2B5EF4-FFF2-40B4-BE49-F238E27FC236}">
                <a16:creationId xmlns:a16="http://schemas.microsoft.com/office/drawing/2014/main" id="{762962A6-5E39-238A-4AFC-13B966FF711F}"/>
              </a:ext>
            </a:extLst>
          </p:cNvPr>
          <p:cNvSpPr/>
          <p:nvPr/>
        </p:nvSpPr>
        <p:spPr>
          <a:xfrm>
            <a:off x="4374973" y="240384"/>
            <a:ext cx="1876425" cy="1933575"/>
          </a:xfrm>
          <a:prstGeom prst="roundRect">
            <a:avLst>
              <a:gd name="adj" fmla="val 5848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 dirty="0"/>
          </a:p>
        </p:txBody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81331A4A-BD6F-25E7-2E46-7006FFD78D28}"/>
              </a:ext>
            </a:extLst>
          </p:cNvPr>
          <p:cNvSpPr/>
          <p:nvPr/>
        </p:nvSpPr>
        <p:spPr>
          <a:xfrm>
            <a:off x="4563501" y="485625"/>
            <a:ext cx="155572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37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Member Two</a:t>
            </a:r>
            <a:endParaRPr lang="en-US" sz="137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D3DB851-DB28-8DC0-6BB4-0A89F92FA37E}"/>
              </a:ext>
            </a:extLst>
          </p:cNvPr>
          <p:cNvSpPr txBox="1"/>
          <p:nvPr/>
        </p:nvSpPr>
        <p:spPr>
          <a:xfrm>
            <a:off x="1893951" y="2091448"/>
            <a:ext cx="1642959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Bahnschrift SemiCondensed" panose="020B0502040204020203" pitchFamily="34" charset="0"/>
              </a:rPr>
              <a:t>Adel </a:t>
            </a:r>
            <a:r>
              <a:rPr lang="en-US" sz="2000" b="1" dirty="0" err="1">
                <a:solidFill>
                  <a:srgbClr val="00B0F0"/>
                </a:solidFill>
                <a:latin typeface="Bahnschrift SemiCondensed" panose="020B0502040204020203" pitchFamily="34" charset="0"/>
              </a:rPr>
              <a:t>abd</a:t>
            </a:r>
            <a:r>
              <a:rPr lang="en-US" sz="2000" b="1" dirty="0">
                <a:solidFill>
                  <a:srgbClr val="00B0F0"/>
                </a:solidFill>
                <a:latin typeface="Bahnschrift SemiCondensed" panose="020B0502040204020203" pitchFamily="34" charset="0"/>
              </a:rPr>
              <a:t> </a:t>
            </a:r>
            <a:r>
              <a:rPr lang="en-US" sz="2000" b="1" dirty="0" err="1">
                <a:solidFill>
                  <a:srgbClr val="00B0F0"/>
                </a:solidFill>
                <a:latin typeface="Bahnschrift SemiCondensed" panose="020B0502040204020203" pitchFamily="34" charset="0"/>
              </a:rPr>
              <a:t>elzaher</a:t>
            </a:r>
            <a:r>
              <a:rPr lang="en-US" sz="2000" b="1" dirty="0">
                <a:solidFill>
                  <a:srgbClr val="00B0F0"/>
                </a:solidFill>
                <a:latin typeface="Bahnschrift SemiCondensed" panose="020B0502040204020203" pitchFamily="34" charset="0"/>
              </a:rPr>
              <a:t> adel </a:t>
            </a:r>
            <a:endParaRPr lang="ar-EG" sz="2000" b="1" dirty="0">
              <a:solidFill>
                <a:srgbClr val="00B0F0"/>
              </a:solidFill>
              <a:latin typeface="Bahnschrift SemiCondensed" panose="020B0502040204020203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CE0B1FD-0B93-9069-545D-526AFCD57D13}"/>
              </a:ext>
            </a:extLst>
          </p:cNvPr>
          <p:cNvSpPr txBox="1"/>
          <p:nvPr/>
        </p:nvSpPr>
        <p:spPr>
          <a:xfrm>
            <a:off x="4511351" y="841621"/>
            <a:ext cx="1642959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Bahnschrift SemiCondensed" panose="020B0502040204020203" pitchFamily="34" charset="0"/>
              </a:rPr>
              <a:t>Habiba </a:t>
            </a:r>
            <a:r>
              <a:rPr lang="en-US" sz="2000" b="1" dirty="0" err="1">
                <a:solidFill>
                  <a:srgbClr val="00B0F0"/>
                </a:solidFill>
                <a:latin typeface="Bahnschrift SemiCondensed" panose="020B0502040204020203" pitchFamily="34" charset="0"/>
              </a:rPr>
              <a:t>mohamed</a:t>
            </a:r>
            <a:r>
              <a:rPr lang="en-US" sz="2000" b="1" dirty="0">
                <a:solidFill>
                  <a:srgbClr val="00B0F0"/>
                </a:solidFill>
                <a:latin typeface="Bahnschrift SemiCondensed" panose="020B0502040204020203" pitchFamily="34" charset="0"/>
              </a:rPr>
              <a:t> </a:t>
            </a:r>
            <a:r>
              <a:rPr lang="en-US" sz="2000" b="1" dirty="0" err="1">
                <a:solidFill>
                  <a:srgbClr val="00B0F0"/>
                </a:solidFill>
                <a:latin typeface="Bahnschrift SemiCondensed" panose="020B0502040204020203" pitchFamily="34" charset="0"/>
              </a:rPr>
              <a:t>saleh</a:t>
            </a:r>
            <a:endParaRPr lang="ar-EG" sz="2000" b="1" dirty="0">
              <a:solidFill>
                <a:srgbClr val="00B0F0"/>
              </a:solidFill>
              <a:latin typeface="Bahnschrift SemiCondensed" panose="020B0502040204020203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2521B02-C55C-B452-A941-9FBFEF3F098C}"/>
              </a:ext>
            </a:extLst>
          </p:cNvPr>
          <p:cNvSpPr txBox="1"/>
          <p:nvPr/>
        </p:nvSpPr>
        <p:spPr>
          <a:xfrm>
            <a:off x="7049188" y="3069876"/>
            <a:ext cx="1642959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Bahnschrift SemiCondensed" panose="020B0502040204020203" pitchFamily="34" charset="0"/>
              </a:rPr>
              <a:t>Mahmoud Mohamed </a:t>
            </a:r>
            <a:r>
              <a:rPr lang="en-US" sz="2000" b="1" dirty="0" err="1">
                <a:solidFill>
                  <a:srgbClr val="00B0F0"/>
                </a:solidFill>
                <a:latin typeface="Bahnschrift SemiCondensed" panose="020B0502040204020203" pitchFamily="34" charset="0"/>
              </a:rPr>
              <a:t>AbdElaziz</a:t>
            </a:r>
            <a:endParaRPr lang="ar-EG" sz="2000" b="1" dirty="0">
              <a:solidFill>
                <a:srgbClr val="00B0F0"/>
              </a:solidFill>
              <a:latin typeface="Bahnschrift SemiCondensed" panose="020B0502040204020203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D292D1F-4B3D-48CB-E275-E4496959953D}"/>
              </a:ext>
            </a:extLst>
          </p:cNvPr>
          <p:cNvSpPr txBox="1"/>
          <p:nvPr/>
        </p:nvSpPr>
        <p:spPr>
          <a:xfrm>
            <a:off x="4491705" y="3089597"/>
            <a:ext cx="1642959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Bahnschrift SemiCondensed" panose="020B0502040204020203" pitchFamily="34" charset="0"/>
              </a:rPr>
              <a:t>Ibrahem </a:t>
            </a:r>
            <a:r>
              <a:rPr lang="en-US" sz="2000" b="1" dirty="0" err="1">
                <a:solidFill>
                  <a:srgbClr val="00B0F0"/>
                </a:solidFill>
                <a:latin typeface="Bahnschrift SemiCondensed" panose="020B0502040204020203" pitchFamily="34" charset="0"/>
              </a:rPr>
              <a:t>ayman</a:t>
            </a:r>
            <a:r>
              <a:rPr lang="en-US" sz="2000" b="1" dirty="0">
                <a:solidFill>
                  <a:srgbClr val="00B0F0"/>
                </a:solidFill>
                <a:latin typeface="Bahnschrift SemiCondensed" panose="020B0502040204020203" pitchFamily="34" charset="0"/>
              </a:rPr>
              <a:t> </a:t>
            </a:r>
            <a:r>
              <a:rPr lang="en-US" sz="2000" b="1" dirty="0" err="1">
                <a:solidFill>
                  <a:srgbClr val="00B0F0"/>
                </a:solidFill>
                <a:latin typeface="Bahnschrift SemiCondensed" panose="020B0502040204020203" pitchFamily="34" charset="0"/>
              </a:rPr>
              <a:t>mohamed</a:t>
            </a:r>
            <a:endParaRPr lang="ar-EG" sz="2000" b="1" dirty="0">
              <a:solidFill>
                <a:srgbClr val="00B0F0"/>
              </a:solidFill>
              <a:latin typeface="Bahnschrift SemiCondensed" panose="020B0502040204020203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9D71FA7-3400-FF09-E0FD-C99BD290E593}"/>
              </a:ext>
            </a:extLst>
          </p:cNvPr>
          <p:cNvSpPr txBox="1"/>
          <p:nvPr/>
        </p:nvSpPr>
        <p:spPr>
          <a:xfrm>
            <a:off x="6972151" y="896313"/>
            <a:ext cx="1642959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Bahnschrift SemiCondensed" panose="020B0502040204020203" pitchFamily="34" charset="0"/>
              </a:rPr>
              <a:t>Jassy </a:t>
            </a:r>
            <a:r>
              <a:rPr lang="en-US" sz="2000" b="1" dirty="0" err="1">
                <a:solidFill>
                  <a:srgbClr val="00B0F0"/>
                </a:solidFill>
                <a:latin typeface="Bahnschrift SemiCondensed" panose="020B0502040204020203" pitchFamily="34" charset="0"/>
              </a:rPr>
              <a:t>kamal</a:t>
            </a:r>
            <a:r>
              <a:rPr lang="en-US" sz="2000" b="1" dirty="0">
                <a:solidFill>
                  <a:srgbClr val="00B0F0"/>
                </a:solidFill>
                <a:latin typeface="Bahnschrift SemiCondensed" panose="020B0502040204020203" pitchFamily="34" charset="0"/>
              </a:rPr>
              <a:t> </a:t>
            </a:r>
            <a:r>
              <a:rPr lang="en-US" sz="2000" b="1" dirty="0" err="1">
                <a:solidFill>
                  <a:srgbClr val="00B0F0"/>
                </a:solidFill>
                <a:latin typeface="Bahnschrift SemiCondensed" panose="020B0502040204020203" pitchFamily="34" charset="0"/>
              </a:rPr>
              <a:t>naeim</a:t>
            </a:r>
            <a:r>
              <a:rPr lang="en-US" sz="2000" b="1" dirty="0">
                <a:solidFill>
                  <a:srgbClr val="00B0F0"/>
                </a:solidFill>
                <a:latin typeface="Bahnschrift SemiCondensed" panose="020B0502040204020203" pitchFamily="34" charset="0"/>
              </a:rPr>
              <a:t> </a:t>
            </a:r>
            <a:endParaRPr lang="ar-EG" sz="2000" b="1" dirty="0">
              <a:solidFill>
                <a:srgbClr val="00B0F0"/>
              </a:solidFill>
              <a:latin typeface="Bahnschrift SemiCondensed" panose="020B0502040204020203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74428" y="-1568723"/>
            <a:ext cx="4943475" cy="49434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580" y="369540"/>
            <a:ext cx="83840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 / 28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48580" y="534665"/>
            <a:ext cx="5203723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600" b="1" kern="0" spc="-90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49511" y="1167631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Text 4"/>
          <p:cNvSpPr/>
          <p:nvPr/>
        </p:nvSpPr>
        <p:spPr>
          <a:xfrm>
            <a:off x="548580" y="1777305"/>
            <a:ext cx="5398361" cy="915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73"/>
              </a:lnSpc>
              <a:buNone/>
            </a:pPr>
            <a:r>
              <a:rPr lang="en-US" sz="15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Podcast Platform is a single-page web</a:t>
            </a:r>
            <a:endParaRPr lang="en-US" sz="1580" dirty="0"/>
          </a:p>
          <a:p>
            <a:pPr marL="0" indent="0" algn="l">
              <a:lnSpc>
                <a:spcPts val="2573"/>
              </a:lnSpc>
              <a:buNone/>
            </a:pPr>
            <a:r>
              <a:rPr lang="en-US" sz="15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application that lets listeners </a:t>
            </a:r>
            <a:r>
              <a:rPr lang="en-US" sz="158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discover</a:t>
            </a:r>
            <a:r>
              <a:rPr lang="en-US" sz="15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</a:t>
            </a:r>
            <a:endParaRPr lang="en-US" sz="1580" dirty="0"/>
          </a:p>
          <a:p>
            <a:pPr marL="0" indent="0" algn="l">
              <a:lnSpc>
                <a:spcPts val="2573"/>
              </a:lnSpc>
              <a:buNone/>
            </a:pPr>
            <a:r>
              <a:rPr lang="en-US" sz="158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stream</a:t>
            </a:r>
            <a:r>
              <a:rPr lang="en-US" sz="15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and </a:t>
            </a:r>
            <a:r>
              <a:rPr lang="en-US" sz="158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organize</a:t>
            </a:r>
            <a:r>
              <a:rPr lang="en-US" sz="15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podcasts in one place.</a:t>
            </a:r>
            <a:endParaRPr lang="en-US" sz="1580" dirty="0"/>
          </a:p>
        </p:txBody>
      </p:sp>
      <p:sp>
        <p:nvSpPr>
          <p:cNvPr id="8" name="Text 5"/>
          <p:cNvSpPr/>
          <p:nvPr/>
        </p:nvSpPr>
        <p:spPr>
          <a:xfrm>
            <a:off x="548580" y="2907283"/>
            <a:ext cx="5418192" cy="70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9"/>
              </a:lnSpc>
              <a:buNone/>
            </a:pPr>
            <a:r>
              <a:rPr lang="en-US" sz="122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Beyond playback, it learns from each user's habits to</a:t>
            </a:r>
            <a:endParaRPr lang="en-US" sz="1220" dirty="0"/>
          </a:p>
          <a:p>
            <a:pPr marL="0" indent="0" algn="l">
              <a:lnSpc>
                <a:spcPts val="1989"/>
              </a:lnSpc>
              <a:buNone/>
            </a:pPr>
            <a:r>
              <a:rPr lang="en-US" sz="122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surface relevant shows and turns raw listening data into a</a:t>
            </a:r>
            <a:endParaRPr lang="en-US" sz="1220" dirty="0"/>
          </a:p>
          <a:p>
            <a:pPr marL="0" indent="0" algn="l">
              <a:lnSpc>
                <a:spcPts val="1989"/>
              </a:lnSpc>
              <a:buNone/>
            </a:pPr>
            <a:r>
              <a:rPr lang="en-US" sz="122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clear personal analytics dashboard.</a:t>
            </a:r>
            <a:endParaRPr lang="en-US" sz="1220" dirty="0"/>
          </a:p>
        </p:txBody>
      </p:sp>
      <p:sp>
        <p:nvSpPr>
          <p:cNvPr id="9" name="Shape 6"/>
          <p:cNvSpPr/>
          <p:nvPr/>
        </p:nvSpPr>
        <p:spPr>
          <a:xfrm>
            <a:off x="4936964" y="1697720"/>
            <a:ext cx="1757363" cy="1238250"/>
          </a:xfrm>
          <a:prstGeom prst="roundRect">
            <a:avLst>
              <a:gd name="adj" fmla="val 7385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0" name="Text 7"/>
          <p:cNvSpPr/>
          <p:nvPr/>
        </p:nvSpPr>
        <p:spPr>
          <a:xfrm>
            <a:off x="5107112" y="1823740"/>
            <a:ext cx="338465" cy="390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6</a:t>
            </a:r>
            <a:endParaRPr lang="en-US" sz="2450" dirty="0"/>
          </a:p>
        </p:txBody>
      </p:sp>
      <p:sp>
        <p:nvSpPr>
          <p:cNvPr id="11" name="Text 8"/>
          <p:cNvSpPr/>
          <p:nvPr/>
        </p:nvSpPr>
        <p:spPr>
          <a:xfrm>
            <a:off x="5107112" y="2238449"/>
            <a:ext cx="115164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0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modules</a:t>
            </a:r>
            <a:endParaRPr lang="en-US" sz="1010" dirty="0"/>
          </a:p>
        </p:txBody>
      </p:sp>
      <p:sp>
        <p:nvSpPr>
          <p:cNvPr id="12" name="Text 9"/>
          <p:cNvSpPr/>
          <p:nvPr/>
        </p:nvSpPr>
        <p:spPr>
          <a:xfrm>
            <a:off x="5107112" y="2461245"/>
            <a:ext cx="1758486" cy="295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83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Search, playback, favorites,</a:t>
            </a:r>
            <a:endParaRPr lang="en-US" sz="83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83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AI, analytics, history</a:t>
            </a:r>
            <a:endParaRPr lang="en-US" sz="830" dirty="0"/>
          </a:p>
        </p:txBody>
      </p:sp>
      <p:sp>
        <p:nvSpPr>
          <p:cNvPr id="13" name="Shape 10"/>
          <p:cNvSpPr/>
          <p:nvPr/>
        </p:nvSpPr>
        <p:spPr>
          <a:xfrm>
            <a:off x="6838913" y="1697720"/>
            <a:ext cx="1757363" cy="1238250"/>
          </a:xfrm>
          <a:prstGeom prst="roundRect">
            <a:avLst>
              <a:gd name="adj" fmla="val 7385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4" name="Text 11"/>
          <p:cNvSpPr/>
          <p:nvPr/>
        </p:nvSpPr>
        <p:spPr>
          <a:xfrm>
            <a:off x="7009061" y="1823740"/>
            <a:ext cx="314958" cy="390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</a:t>
            </a:r>
            <a:endParaRPr lang="en-US" sz="2450" dirty="0"/>
          </a:p>
        </p:txBody>
      </p:sp>
      <p:sp>
        <p:nvSpPr>
          <p:cNvPr id="15" name="Text 12"/>
          <p:cNvSpPr/>
          <p:nvPr/>
        </p:nvSpPr>
        <p:spPr>
          <a:xfrm>
            <a:off x="7009061" y="2238449"/>
            <a:ext cx="83647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0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 roles</a:t>
            </a:r>
            <a:endParaRPr lang="en-US" sz="1010" dirty="0"/>
          </a:p>
        </p:txBody>
      </p:sp>
      <p:sp>
        <p:nvSpPr>
          <p:cNvPr id="16" name="Text 13"/>
          <p:cNvSpPr/>
          <p:nvPr/>
        </p:nvSpPr>
        <p:spPr>
          <a:xfrm>
            <a:off x="7009061" y="2461245"/>
            <a:ext cx="1666682" cy="295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83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Guest, registered listener,</a:t>
            </a:r>
            <a:endParaRPr lang="en-US" sz="83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83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</a:t>
            </a:r>
            <a:endParaRPr lang="en-US" sz="830" dirty="0"/>
          </a:p>
        </p:txBody>
      </p:sp>
      <p:sp>
        <p:nvSpPr>
          <p:cNvPr id="17" name="Shape 14"/>
          <p:cNvSpPr/>
          <p:nvPr/>
        </p:nvSpPr>
        <p:spPr>
          <a:xfrm>
            <a:off x="4936964" y="3083086"/>
            <a:ext cx="1757363" cy="1238250"/>
          </a:xfrm>
          <a:prstGeom prst="roundRect">
            <a:avLst>
              <a:gd name="adj" fmla="val 7385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8" name="Text 15"/>
          <p:cNvSpPr/>
          <p:nvPr/>
        </p:nvSpPr>
        <p:spPr>
          <a:xfrm>
            <a:off x="5107112" y="3209106"/>
            <a:ext cx="894033" cy="390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SPA</a:t>
            </a:r>
            <a:endParaRPr lang="en-US" sz="2450" dirty="0"/>
          </a:p>
        </p:txBody>
      </p:sp>
      <p:sp>
        <p:nvSpPr>
          <p:cNvPr id="19" name="Text 16"/>
          <p:cNvSpPr/>
          <p:nvPr/>
        </p:nvSpPr>
        <p:spPr>
          <a:xfrm>
            <a:off x="5107112" y="3623816"/>
            <a:ext cx="104668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0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Architecture</a:t>
            </a:r>
            <a:endParaRPr lang="en-US" sz="1010" dirty="0"/>
          </a:p>
        </p:txBody>
      </p:sp>
      <p:sp>
        <p:nvSpPr>
          <p:cNvPr id="20" name="Text 17"/>
          <p:cNvSpPr/>
          <p:nvPr/>
        </p:nvSpPr>
        <p:spPr>
          <a:xfrm>
            <a:off x="5107112" y="3846612"/>
            <a:ext cx="1205143" cy="295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83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React + Vite client</a:t>
            </a:r>
            <a:endParaRPr lang="en-US" sz="83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83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application</a:t>
            </a:r>
            <a:endParaRPr lang="en-US" sz="830" dirty="0"/>
          </a:p>
        </p:txBody>
      </p:sp>
      <p:sp>
        <p:nvSpPr>
          <p:cNvPr id="21" name="Shape 18"/>
          <p:cNvSpPr/>
          <p:nvPr/>
        </p:nvSpPr>
        <p:spPr>
          <a:xfrm>
            <a:off x="6838913" y="3083086"/>
            <a:ext cx="1757363" cy="1238250"/>
          </a:xfrm>
          <a:prstGeom prst="roundRect">
            <a:avLst>
              <a:gd name="adj" fmla="val 7385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2" name="Text 19"/>
          <p:cNvSpPr/>
          <p:nvPr/>
        </p:nvSpPr>
        <p:spPr>
          <a:xfrm>
            <a:off x="7009061" y="3209106"/>
            <a:ext cx="512981" cy="390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AI</a:t>
            </a:r>
            <a:endParaRPr lang="en-US" sz="2450" dirty="0"/>
          </a:p>
        </p:txBody>
      </p:sp>
      <p:sp>
        <p:nvSpPr>
          <p:cNvPr id="23" name="Text 20"/>
          <p:cNvSpPr/>
          <p:nvPr/>
        </p:nvSpPr>
        <p:spPr>
          <a:xfrm>
            <a:off x="7009061" y="3623816"/>
            <a:ext cx="124219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0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Personalization</a:t>
            </a:r>
            <a:endParaRPr lang="en-US" sz="1010" dirty="0"/>
          </a:p>
        </p:txBody>
      </p:sp>
      <p:sp>
        <p:nvSpPr>
          <p:cNvPr id="24" name="Text 21"/>
          <p:cNvSpPr/>
          <p:nvPr/>
        </p:nvSpPr>
        <p:spPr>
          <a:xfrm>
            <a:off x="7009061" y="3846612"/>
            <a:ext cx="1540825" cy="295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83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Content + collaborative</a:t>
            </a:r>
            <a:endParaRPr lang="en-US" sz="83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83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signals</a:t>
            </a:r>
            <a:endParaRPr lang="en-US" sz="830" dirty="0"/>
          </a:p>
        </p:txBody>
      </p:sp>
      <p:sp>
        <p:nvSpPr>
          <p:cNvPr id="25" name="Text 22"/>
          <p:cNvSpPr/>
          <p:nvPr/>
        </p:nvSpPr>
        <p:spPr>
          <a:xfrm>
            <a:off x="548580" y="4601021"/>
            <a:ext cx="885027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Goal: deliver a focused, fast, and personal listening experience that stays usable as the catalog and audience grow.</a:t>
            </a:r>
            <a:endParaRPr lang="en-US" sz="101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7688" y="4463876"/>
            <a:ext cx="8048625" cy="3190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3048" y="1689757"/>
            <a:ext cx="5124450" cy="5124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580" y="369540"/>
            <a:ext cx="84218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 / 28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48580" y="534665"/>
            <a:ext cx="5808241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600" b="1" kern="0" spc="-90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49511" y="1167631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Text 4"/>
          <p:cNvSpPr/>
          <p:nvPr/>
        </p:nvSpPr>
        <p:spPr>
          <a:xfrm>
            <a:off x="548580" y="1846883"/>
            <a:ext cx="5501387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Listeners have more podcasts</a:t>
            </a:r>
            <a:endParaRPr lang="en-US" sz="2160" dirty="0"/>
          </a:p>
        </p:txBody>
      </p:sp>
      <p:sp>
        <p:nvSpPr>
          <p:cNvPr id="8" name="Text 5"/>
          <p:cNvSpPr/>
          <p:nvPr/>
        </p:nvSpPr>
        <p:spPr>
          <a:xfrm>
            <a:off x="548580" y="2189708"/>
            <a:ext cx="4548999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than ever, yet finding the</a:t>
            </a:r>
            <a:endParaRPr lang="en-US" sz="2160" dirty="0"/>
          </a:p>
        </p:txBody>
      </p:sp>
      <p:sp>
        <p:nvSpPr>
          <p:cNvPr id="9" name="Text 6"/>
          <p:cNvSpPr/>
          <p:nvPr/>
        </p:nvSpPr>
        <p:spPr>
          <a:xfrm>
            <a:off x="548580" y="2532534"/>
            <a:ext cx="5051747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right one and tracking their</a:t>
            </a:r>
            <a:endParaRPr lang="en-US" sz="2160" dirty="0"/>
          </a:p>
        </p:txBody>
      </p:sp>
      <p:sp>
        <p:nvSpPr>
          <p:cNvPr id="10" name="Text 7"/>
          <p:cNvSpPr/>
          <p:nvPr/>
        </p:nvSpPr>
        <p:spPr>
          <a:xfrm>
            <a:off x="548580" y="2875359"/>
            <a:ext cx="4633548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own habits remains hard.</a:t>
            </a:r>
            <a:endParaRPr lang="en-US" sz="2160" dirty="0"/>
          </a:p>
        </p:txBody>
      </p:sp>
      <p:sp>
        <p:nvSpPr>
          <p:cNvPr id="11" name="Shape 8"/>
          <p:cNvSpPr/>
          <p:nvPr/>
        </p:nvSpPr>
        <p:spPr>
          <a:xfrm>
            <a:off x="5487107" y="1790440"/>
            <a:ext cx="80962" cy="8096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2" name="Text 9"/>
          <p:cNvSpPr/>
          <p:nvPr/>
        </p:nvSpPr>
        <p:spPr>
          <a:xfrm>
            <a:off x="5678388" y="1748730"/>
            <a:ext cx="3645947" cy="380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35"/>
              </a:lnSpc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Discovery relies on generic top charts, not</a:t>
            </a:r>
            <a:endParaRPr lang="en-US" sz="1120" dirty="0"/>
          </a:p>
          <a:p>
            <a:pPr marL="0" indent="0" algn="l">
              <a:lnSpc>
                <a:spcPts val="1535"/>
              </a:lnSpc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personal taste.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5487107" y="2283061"/>
            <a:ext cx="80962" cy="8096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4" name="Text 11"/>
          <p:cNvSpPr/>
          <p:nvPr/>
        </p:nvSpPr>
        <p:spPr>
          <a:xfrm>
            <a:off x="5678388" y="2241352"/>
            <a:ext cx="3552788" cy="380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35"/>
              </a:lnSpc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Listening history is invisible — users can't</a:t>
            </a:r>
            <a:endParaRPr lang="en-US" sz="1120" dirty="0"/>
          </a:p>
          <a:p>
            <a:pPr marL="0" indent="0" algn="l">
              <a:lnSpc>
                <a:spcPts val="1535"/>
              </a:lnSpc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see their own patterns.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5487107" y="2775682"/>
            <a:ext cx="80962" cy="8096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6" name="Text 13"/>
          <p:cNvSpPr/>
          <p:nvPr/>
        </p:nvSpPr>
        <p:spPr>
          <a:xfrm>
            <a:off x="5678388" y="2733973"/>
            <a:ext cx="3578520" cy="380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35"/>
              </a:lnSpc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 is often slow, shallow, or limited to</a:t>
            </a:r>
            <a:endParaRPr lang="en-US" sz="1120" dirty="0"/>
          </a:p>
          <a:p>
            <a:pPr marL="0" indent="0" algn="l">
              <a:lnSpc>
                <a:spcPts val="1535"/>
              </a:lnSpc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exact titles.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5487107" y="3268303"/>
            <a:ext cx="80962" cy="8096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8" name="Text 15"/>
          <p:cNvSpPr/>
          <p:nvPr/>
        </p:nvSpPr>
        <p:spPr>
          <a:xfrm>
            <a:off x="5678388" y="3226594"/>
            <a:ext cx="3664521" cy="380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35"/>
              </a:lnSpc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Favorites and resume points are scattered</a:t>
            </a:r>
            <a:endParaRPr lang="en-US" sz="1120" dirty="0"/>
          </a:p>
          <a:p>
            <a:pPr marL="0" indent="0" algn="l">
              <a:lnSpc>
                <a:spcPts val="1535"/>
              </a:lnSpc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across apps.</a:t>
            </a:r>
            <a:endParaRPr lang="en-US" sz="1120" dirty="0"/>
          </a:p>
        </p:txBody>
      </p:sp>
      <p:sp>
        <p:nvSpPr>
          <p:cNvPr id="19" name="Text 16"/>
          <p:cNvSpPr/>
          <p:nvPr/>
        </p:nvSpPr>
        <p:spPr>
          <a:xfrm>
            <a:off x="548580" y="4587329"/>
            <a:ext cx="1051755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can one lightweight web app make podcast discovery </a:t>
            </a:r>
            <a:r>
              <a:rPr lang="en-US" sz="10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personal</a:t>
            </a:r>
            <a:r>
              <a:rPr lang="en-US" sz="108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listening </a:t>
            </a:r>
            <a:r>
              <a:rPr lang="en-US" sz="10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measurable</a:t>
            </a:r>
            <a:r>
              <a:rPr lang="en-US" sz="108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and the whole experience </a:t>
            </a:r>
            <a:r>
              <a:rPr lang="en-US" sz="10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cohesive</a:t>
            </a:r>
            <a:r>
              <a:rPr lang="en-US" sz="108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?</a:t>
            </a:r>
            <a:endParaRPr lang="en-US" sz="108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7688" y="4449887"/>
            <a:ext cx="8048625" cy="3333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74428" y="-1568723"/>
            <a:ext cx="4943475" cy="49434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580" y="369540"/>
            <a:ext cx="84102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 / 28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48580" y="539428"/>
            <a:ext cx="9493195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310" b="1" kern="0" spc="-83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Existing Problems in Podcast Apps</a:t>
            </a:r>
            <a:endParaRPr lang="en-US" sz="3310" dirty="0"/>
          </a:p>
        </p:txBody>
      </p:sp>
      <p:sp>
        <p:nvSpPr>
          <p:cNvPr id="6" name="Shape 3"/>
          <p:cNvSpPr/>
          <p:nvPr/>
        </p:nvSpPr>
        <p:spPr>
          <a:xfrm>
            <a:off x="549511" y="1131019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Shape 4"/>
          <p:cNvSpPr/>
          <p:nvPr/>
        </p:nvSpPr>
        <p:spPr>
          <a:xfrm>
            <a:off x="547650" y="1747689"/>
            <a:ext cx="2562225" cy="1566862"/>
          </a:xfrm>
          <a:prstGeom prst="roundRect">
            <a:avLst>
              <a:gd name="adj" fmla="val 7003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Text 5"/>
          <p:cNvSpPr/>
          <p:nvPr/>
        </p:nvSpPr>
        <p:spPr>
          <a:xfrm>
            <a:off x="736178" y="1950616"/>
            <a:ext cx="28999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kern="0" spc="10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1010" dirty="0"/>
          </a:p>
        </p:txBody>
      </p:sp>
      <p:sp>
        <p:nvSpPr>
          <p:cNvPr id="9" name="Text 6"/>
          <p:cNvSpPr/>
          <p:nvPr/>
        </p:nvSpPr>
        <p:spPr>
          <a:xfrm>
            <a:off x="736178" y="2219325"/>
            <a:ext cx="200671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144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Weak Discovery</a:t>
            </a:r>
            <a:endParaRPr lang="en-US" sz="1440" dirty="0"/>
          </a:p>
        </p:txBody>
      </p:sp>
      <p:sp>
        <p:nvSpPr>
          <p:cNvPr id="10" name="Text 7"/>
          <p:cNvSpPr/>
          <p:nvPr/>
        </p:nvSpPr>
        <p:spPr>
          <a:xfrm>
            <a:off x="736178" y="2560886"/>
            <a:ext cx="2808097" cy="543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21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Recommendations default to</a:t>
            </a:r>
            <a:endParaRPr lang="en-US" sz="940" dirty="0"/>
          </a:p>
          <a:p>
            <a:pPr marL="0" indent="0" algn="l">
              <a:lnSpc>
                <a:spcPts val="1521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popularity charts and ignore individual</a:t>
            </a:r>
            <a:endParaRPr lang="en-US" sz="940" dirty="0"/>
          </a:p>
          <a:p>
            <a:pPr marL="0" indent="0" algn="l">
              <a:lnSpc>
                <a:spcPts val="1521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listening behavior.</a:t>
            </a:r>
            <a:endParaRPr lang="en-US" sz="940" dirty="0"/>
          </a:p>
        </p:txBody>
      </p:sp>
      <p:sp>
        <p:nvSpPr>
          <p:cNvPr id="11" name="Shape 8"/>
          <p:cNvSpPr/>
          <p:nvPr/>
        </p:nvSpPr>
        <p:spPr>
          <a:xfrm>
            <a:off x="3290850" y="1747689"/>
            <a:ext cx="2562225" cy="1566862"/>
          </a:xfrm>
          <a:prstGeom prst="roundRect">
            <a:avLst>
              <a:gd name="adj" fmla="val 7003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2" name="Text 9"/>
          <p:cNvSpPr/>
          <p:nvPr/>
        </p:nvSpPr>
        <p:spPr>
          <a:xfrm>
            <a:off x="3479378" y="1950616"/>
            <a:ext cx="32424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kern="0" spc="10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1010" dirty="0"/>
          </a:p>
        </p:txBody>
      </p:sp>
      <p:sp>
        <p:nvSpPr>
          <p:cNvPr id="13" name="Text 10"/>
          <p:cNvSpPr/>
          <p:nvPr/>
        </p:nvSpPr>
        <p:spPr>
          <a:xfrm>
            <a:off x="3479378" y="2219325"/>
            <a:ext cx="192352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144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 Self-Insight</a:t>
            </a:r>
            <a:endParaRPr lang="en-US" sz="1440" dirty="0"/>
          </a:p>
        </p:txBody>
      </p:sp>
      <p:sp>
        <p:nvSpPr>
          <p:cNvPr id="14" name="Text 11"/>
          <p:cNvSpPr/>
          <p:nvPr/>
        </p:nvSpPr>
        <p:spPr>
          <a:xfrm>
            <a:off x="3479378" y="2560886"/>
            <a:ext cx="2717840" cy="350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21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Users cannot see how much, what, or</a:t>
            </a:r>
            <a:endParaRPr lang="en-US" sz="940" dirty="0"/>
          </a:p>
          <a:p>
            <a:pPr marL="0" indent="0" algn="l">
              <a:lnSpc>
                <a:spcPts val="1521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when they listen across categories.</a:t>
            </a:r>
            <a:endParaRPr lang="en-US" sz="940" dirty="0"/>
          </a:p>
        </p:txBody>
      </p:sp>
      <p:sp>
        <p:nvSpPr>
          <p:cNvPr id="15" name="Shape 12"/>
          <p:cNvSpPr/>
          <p:nvPr/>
        </p:nvSpPr>
        <p:spPr>
          <a:xfrm>
            <a:off x="6034050" y="1747689"/>
            <a:ext cx="2562225" cy="1566862"/>
          </a:xfrm>
          <a:prstGeom prst="roundRect">
            <a:avLst>
              <a:gd name="adj" fmla="val 7003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6" name="Text 13"/>
          <p:cNvSpPr/>
          <p:nvPr/>
        </p:nvSpPr>
        <p:spPr>
          <a:xfrm>
            <a:off x="6222578" y="1950616"/>
            <a:ext cx="32463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kern="0" spc="10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1010" dirty="0"/>
          </a:p>
        </p:txBody>
      </p:sp>
      <p:sp>
        <p:nvSpPr>
          <p:cNvPr id="17" name="Text 14"/>
          <p:cNvSpPr/>
          <p:nvPr/>
        </p:nvSpPr>
        <p:spPr>
          <a:xfrm>
            <a:off x="6222578" y="2219325"/>
            <a:ext cx="24340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144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Fragmented Search</a:t>
            </a:r>
            <a:endParaRPr lang="en-US" sz="1440" dirty="0"/>
          </a:p>
        </p:txBody>
      </p:sp>
      <p:sp>
        <p:nvSpPr>
          <p:cNvPr id="18" name="Text 15"/>
          <p:cNvSpPr/>
          <p:nvPr/>
        </p:nvSpPr>
        <p:spPr>
          <a:xfrm>
            <a:off x="6222578" y="2560886"/>
            <a:ext cx="2553965" cy="350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21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 matches titles only, missing</a:t>
            </a:r>
            <a:endParaRPr lang="en-US" sz="940" dirty="0"/>
          </a:p>
          <a:p>
            <a:pPr marL="0" indent="0" algn="l">
              <a:lnSpc>
                <a:spcPts val="1521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topics, hosts, and descriptions.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547650" y="3496382"/>
            <a:ext cx="2562225" cy="1371600"/>
          </a:xfrm>
          <a:prstGeom prst="roundRect">
            <a:avLst>
              <a:gd name="adj" fmla="val 8000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0" name="Text 17"/>
          <p:cNvSpPr/>
          <p:nvPr/>
        </p:nvSpPr>
        <p:spPr>
          <a:xfrm>
            <a:off x="736178" y="3698230"/>
            <a:ext cx="33188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kern="0" spc="10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04</a:t>
            </a:r>
            <a:endParaRPr lang="en-US" sz="1010" dirty="0"/>
          </a:p>
        </p:txBody>
      </p:sp>
      <p:sp>
        <p:nvSpPr>
          <p:cNvPr id="21" name="Text 18"/>
          <p:cNvSpPr/>
          <p:nvPr/>
        </p:nvSpPr>
        <p:spPr>
          <a:xfrm>
            <a:off x="736178" y="3966939"/>
            <a:ext cx="171863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144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Lost Progress</a:t>
            </a:r>
            <a:endParaRPr lang="en-US" sz="1440" dirty="0"/>
          </a:p>
        </p:txBody>
      </p:sp>
      <p:sp>
        <p:nvSpPr>
          <p:cNvPr id="22" name="Text 19"/>
          <p:cNvSpPr/>
          <p:nvPr/>
        </p:nvSpPr>
        <p:spPr>
          <a:xfrm>
            <a:off x="736178" y="4308500"/>
            <a:ext cx="2594692" cy="350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21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Resume points and favorites do not</a:t>
            </a:r>
            <a:endParaRPr lang="en-US" sz="940" dirty="0"/>
          </a:p>
          <a:p>
            <a:pPr marL="0" indent="0" algn="l">
              <a:lnSpc>
                <a:spcPts val="1521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persist reliably between sessions.</a:t>
            </a:r>
            <a:endParaRPr lang="en-US" sz="940" dirty="0"/>
          </a:p>
        </p:txBody>
      </p:sp>
      <p:sp>
        <p:nvSpPr>
          <p:cNvPr id="23" name="Shape 20"/>
          <p:cNvSpPr/>
          <p:nvPr/>
        </p:nvSpPr>
        <p:spPr>
          <a:xfrm>
            <a:off x="3290850" y="3496382"/>
            <a:ext cx="2562225" cy="1371600"/>
          </a:xfrm>
          <a:prstGeom prst="roundRect">
            <a:avLst>
              <a:gd name="adj" fmla="val 8000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4" name="Text 21"/>
          <p:cNvSpPr/>
          <p:nvPr/>
        </p:nvSpPr>
        <p:spPr>
          <a:xfrm>
            <a:off x="3479378" y="3698230"/>
            <a:ext cx="32676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kern="0" spc="10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05</a:t>
            </a:r>
            <a:endParaRPr lang="en-US" sz="1010" dirty="0"/>
          </a:p>
        </p:txBody>
      </p:sp>
      <p:sp>
        <p:nvSpPr>
          <p:cNvPr id="25" name="Text 22"/>
          <p:cNvSpPr/>
          <p:nvPr/>
        </p:nvSpPr>
        <p:spPr>
          <a:xfrm>
            <a:off x="3479378" y="3966939"/>
            <a:ext cx="154895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144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Cluttered UI</a:t>
            </a:r>
            <a:endParaRPr lang="en-US" sz="1440" dirty="0"/>
          </a:p>
        </p:txBody>
      </p:sp>
      <p:sp>
        <p:nvSpPr>
          <p:cNvPr id="26" name="Text 23"/>
          <p:cNvSpPr/>
          <p:nvPr/>
        </p:nvSpPr>
        <p:spPr>
          <a:xfrm>
            <a:off x="3479378" y="4308500"/>
            <a:ext cx="2555126" cy="350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21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Heavy interfaces bury core actions</a:t>
            </a:r>
            <a:endParaRPr lang="en-US" sz="940" dirty="0"/>
          </a:p>
          <a:p>
            <a:pPr marL="0" indent="0" algn="l">
              <a:lnSpc>
                <a:spcPts val="1521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behind ads and dense menus.</a:t>
            </a:r>
            <a:endParaRPr lang="en-US" sz="940" dirty="0"/>
          </a:p>
        </p:txBody>
      </p:sp>
      <p:sp>
        <p:nvSpPr>
          <p:cNvPr id="27" name="Shape 24"/>
          <p:cNvSpPr/>
          <p:nvPr/>
        </p:nvSpPr>
        <p:spPr>
          <a:xfrm>
            <a:off x="6034050" y="3496382"/>
            <a:ext cx="2562225" cy="1371600"/>
          </a:xfrm>
          <a:prstGeom prst="roundRect">
            <a:avLst>
              <a:gd name="adj" fmla="val 8000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8" name="Text 25"/>
          <p:cNvSpPr/>
          <p:nvPr/>
        </p:nvSpPr>
        <p:spPr>
          <a:xfrm>
            <a:off x="6222578" y="3698230"/>
            <a:ext cx="33420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kern="0" spc="10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06</a:t>
            </a:r>
            <a:endParaRPr lang="en-US" sz="1010" dirty="0"/>
          </a:p>
        </p:txBody>
      </p:sp>
      <p:sp>
        <p:nvSpPr>
          <p:cNvPr id="29" name="Text 26"/>
          <p:cNvSpPr/>
          <p:nvPr/>
        </p:nvSpPr>
        <p:spPr>
          <a:xfrm>
            <a:off x="6222578" y="3966939"/>
            <a:ext cx="159596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144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Poor Scaling</a:t>
            </a:r>
            <a:endParaRPr lang="en-US" sz="1440" dirty="0"/>
          </a:p>
        </p:txBody>
      </p:sp>
      <p:sp>
        <p:nvSpPr>
          <p:cNvPr id="30" name="Text 27"/>
          <p:cNvSpPr/>
          <p:nvPr/>
        </p:nvSpPr>
        <p:spPr>
          <a:xfrm>
            <a:off x="6222578" y="4308500"/>
            <a:ext cx="2585889" cy="350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21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Performance drops as catalogs and</a:t>
            </a:r>
            <a:endParaRPr lang="en-US" sz="940" dirty="0"/>
          </a:p>
          <a:p>
            <a:pPr marL="0" indent="0" algn="l">
              <a:lnSpc>
                <a:spcPts val="1521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 libraries grow large.</a:t>
            </a:r>
            <a:endParaRPr lang="en-US" sz="9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08724" y="-1672121"/>
            <a:ext cx="5310187" cy="53101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580" y="369540"/>
            <a:ext cx="84343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 / 28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48580" y="534665"/>
            <a:ext cx="5575198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600" b="1" kern="0" spc="-90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Proposed Solution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49511" y="1167631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Text 4"/>
          <p:cNvSpPr/>
          <p:nvPr/>
        </p:nvSpPr>
        <p:spPr>
          <a:xfrm>
            <a:off x="548580" y="1725885"/>
            <a:ext cx="4735317" cy="1183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6"/>
              </a:lnSpc>
              <a:buNone/>
            </a:pPr>
            <a:r>
              <a:rPr lang="en-US" sz="15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unified web platform that pairs </a:t>
            </a:r>
            <a:r>
              <a:rPr lang="en-US" sz="151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fast,</a:t>
            </a:r>
            <a:endParaRPr lang="en-US" sz="1510" dirty="0"/>
          </a:p>
          <a:p>
            <a:pPr marL="0" indent="0" algn="l">
              <a:lnSpc>
                <a:spcPts val="2456"/>
              </a:lnSpc>
              <a:buNone/>
            </a:pPr>
            <a:r>
              <a:rPr lang="en-US" sz="151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multi-field search</a:t>
            </a:r>
            <a:r>
              <a:rPr lang="en-US" sz="15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with </a:t>
            </a:r>
            <a:r>
              <a:rPr lang="en-US" sz="151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</a:t>
            </a:r>
            <a:endParaRPr lang="en-US" sz="1510" dirty="0"/>
          </a:p>
          <a:p>
            <a:pPr marL="0" indent="0" algn="l">
              <a:lnSpc>
                <a:spcPts val="2456"/>
              </a:lnSpc>
              <a:buNone/>
            </a:pPr>
            <a:r>
              <a:rPr lang="en-US" sz="151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personalization</a:t>
            </a:r>
            <a:r>
              <a:rPr lang="en-US" sz="15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a </a:t>
            </a:r>
            <a:r>
              <a:rPr lang="en-US" sz="151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listening analytics</a:t>
            </a:r>
            <a:endParaRPr lang="en-US" sz="1510" dirty="0"/>
          </a:p>
          <a:p>
            <a:pPr marL="0" indent="0" algn="l">
              <a:lnSpc>
                <a:spcPts val="2456"/>
              </a:lnSpc>
              <a:buNone/>
            </a:pPr>
            <a:r>
              <a:rPr lang="en-US" sz="151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dashboard</a:t>
            </a:r>
            <a:r>
              <a:rPr lang="en-US" sz="15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all in one clean interface.</a:t>
            </a:r>
            <a:endParaRPr lang="en-US" sz="1510" dirty="0"/>
          </a:p>
        </p:txBody>
      </p:sp>
      <p:sp>
        <p:nvSpPr>
          <p:cNvPr id="8" name="Text 5"/>
          <p:cNvSpPr/>
          <p:nvPr/>
        </p:nvSpPr>
        <p:spPr>
          <a:xfrm>
            <a:off x="548580" y="3118396"/>
            <a:ext cx="4705037" cy="428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71"/>
              </a:lnSpc>
              <a:buNone/>
            </a:pPr>
            <a:r>
              <a:rPr lang="en-US" sz="115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problem on the previous slide maps directly to</a:t>
            </a:r>
            <a:endParaRPr lang="en-US" sz="1150" dirty="0"/>
          </a:p>
          <a:p>
            <a:pPr marL="0" indent="0" algn="l">
              <a:lnSpc>
                <a:spcPts val="1871"/>
              </a:lnSpc>
              <a:buNone/>
            </a:pPr>
            <a:r>
              <a:rPr lang="en-US" sz="115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module designed to solve it.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55914" y="1697162"/>
            <a:ext cx="3838575" cy="471488"/>
          </a:xfrm>
          <a:prstGeom prst="roundRect">
            <a:avLst>
              <a:gd name="adj" fmla="val 17455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0" name="Text 7"/>
          <p:cNvSpPr/>
          <p:nvPr/>
        </p:nvSpPr>
        <p:spPr>
          <a:xfrm>
            <a:off x="4887739" y="1853282"/>
            <a:ext cx="118560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Weak discovery</a:t>
            </a:r>
            <a:endParaRPr lang="en-US" sz="940" dirty="0"/>
          </a:p>
        </p:txBody>
      </p:sp>
      <p:sp>
        <p:nvSpPr>
          <p:cNvPr id="11" name="Text 8"/>
          <p:cNvSpPr/>
          <p:nvPr/>
        </p:nvSpPr>
        <p:spPr>
          <a:xfrm>
            <a:off x="6295876" y="1839590"/>
            <a:ext cx="20661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6538838" y="1839590"/>
            <a:ext cx="232537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recommendation engine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4755914" y="2250579"/>
            <a:ext cx="3838575" cy="471488"/>
          </a:xfrm>
          <a:prstGeom prst="roundRect">
            <a:avLst>
              <a:gd name="adj" fmla="val 17455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4" name="Text 11"/>
          <p:cNvSpPr/>
          <p:nvPr/>
        </p:nvSpPr>
        <p:spPr>
          <a:xfrm>
            <a:off x="4887739" y="2406700"/>
            <a:ext cx="110850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self-insight</a:t>
            </a:r>
            <a:endParaRPr lang="en-US" sz="940" dirty="0"/>
          </a:p>
        </p:txBody>
      </p:sp>
      <p:sp>
        <p:nvSpPr>
          <p:cNvPr id="15" name="Text 12"/>
          <p:cNvSpPr/>
          <p:nvPr/>
        </p:nvSpPr>
        <p:spPr>
          <a:xfrm>
            <a:off x="6295876" y="2393007"/>
            <a:ext cx="20661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6538838" y="2393007"/>
            <a:ext cx="179060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Analytics dashboard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4755914" y="2803996"/>
            <a:ext cx="3838575" cy="471488"/>
          </a:xfrm>
          <a:prstGeom prst="roundRect">
            <a:avLst>
              <a:gd name="adj" fmla="val 17455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8" name="Text 15"/>
          <p:cNvSpPr/>
          <p:nvPr/>
        </p:nvSpPr>
        <p:spPr>
          <a:xfrm>
            <a:off x="4887739" y="2960117"/>
            <a:ext cx="144621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Fragmented search</a:t>
            </a:r>
            <a:endParaRPr lang="en-US" sz="940" dirty="0"/>
          </a:p>
        </p:txBody>
      </p:sp>
      <p:sp>
        <p:nvSpPr>
          <p:cNvPr id="19" name="Text 16"/>
          <p:cNvSpPr/>
          <p:nvPr/>
        </p:nvSpPr>
        <p:spPr>
          <a:xfrm>
            <a:off x="6295876" y="2946425"/>
            <a:ext cx="20661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080" dirty="0"/>
          </a:p>
        </p:txBody>
      </p:sp>
      <p:sp>
        <p:nvSpPr>
          <p:cNvPr id="20" name="Text 17"/>
          <p:cNvSpPr/>
          <p:nvPr/>
        </p:nvSpPr>
        <p:spPr>
          <a:xfrm>
            <a:off x="6538838" y="2946425"/>
            <a:ext cx="222495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Multi-field search module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4755914" y="3357414"/>
            <a:ext cx="3838575" cy="471488"/>
          </a:xfrm>
          <a:prstGeom prst="roundRect">
            <a:avLst>
              <a:gd name="adj" fmla="val 17455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2" name="Text 19"/>
          <p:cNvSpPr/>
          <p:nvPr/>
        </p:nvSpPr>
        <p:spPr>
          <a:xfrm>
            <a:off x="4887739" y="3513534"/>
            <a:ext cx="102540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Lost progress</a:t>
            </a:r>
            <a:endParaRPr lang="en-US" sz="940" dirty="0"/>
          </a:p>
        </p:txBody>
      </p:sp>
      <p:sp>
        <p:nvSpPr>
          <p:cNvPr id="23" name="Text 20"/>
          <p:cNvSpPr/>
          <p:nvPr/>
        </p:nvSpPr>
        <p:spPr>
          <a:xfrm>
            <a:off x="6295876" y="3499842"/>
            <a:ext cx="20661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080" dirty="0"/>
          </a:p>
        </p:txBody>
      </p:sp>
      <p:sp>
        <p:nvSpPr>
          <p:cNvPr id="24" name="Text 21"/>
          <p:cNvSpPr/>
          <p:nvPr/>
        </p:nvSpPr>
        <p:spPr>
          <a:xfrm>
            <a:off x="6538838" y="3499842"/>
            <a:ext cx="203660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Favorites + history sync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73498" y="1689757"/>
            <a:ext cx="5124450" cy="5124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580" y="369540"/>
            <a:ext cx="82825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07 / 28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48580" y="534665"/>
            <a:ext cx="5575875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600" b="1" kern="0" spc="-90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Project Objectives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49511" y="1167631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Text 4"/>
          <p:cNvSpPr/>
          <p:nvPr/>
        </p:nvSpPr>
        <p:spPr>
          <a:xfrm>
            <a:off x="548580" y="1762125"/>
            <a:ext cx="484733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7C3AE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2160" dirty="0"/>
          </a:p>
        </p:txBody>
      </p:sp>
      <p:sp>
        <p:nvSpPr>
          <p:cNvPr id="8" name="Text 5"/>
          <p:cNvSpPr/>
          <p:nvPr/>
        </p:nvSpPr>
        <p:spPr>
          <a:xfrm>
            <a:off x="1030635" y="1819275"/>
            <a:ext cx="2872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Personalized discovery</a:t>
            </a:r>
            <a:endParaRPr lang="en-US" sz="1440" dirty="0"/>
          </a:p>
        </p:txBody>
      </p:sp>
      <p:sp>
        <p:nvSpPr>
          <p:cNvPr id="9" name="Text 6"/>
          <p:cNvSpPr/>
          <p:nvPr/>
        </p:nvSpPr>
        <p:spPr>
          <a:xfrm>
            <a:off x="1030635" y="2115666"/>
            <a:ext cx="4073336" cy="342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86"/>
              </a:lnSpc>
              <a:buNone/>
            </a:pPr>
            <a:r>
              <a:rPr lang="en-US" sz="101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Recommend shows from each user's actual listening</a:t>
            </a:r>
            <a:endParaRPr lang="en-US" sz="1010" dirty="0"/>
          </a:p>
          <a:p>
            <a:pPr marL="0" indent="0" algn="l">
              <a:lnSpc>
                <a:spcPts val="1386"/>
              </a:lnSpc>
              <a:buNone/>
            </a:pPr>
            <a:r>
              <a:rPr lang="en-US" sz="101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behavior.</a:t>
            </a:r>
            <a:endParaRPr lang="en-US" sz="1010" dirty="0"/>
          </a:p>
        </p:txBody>
      </p:sp>
      <p:sp>
        <p:nvSpPr>
          <p:cNvPr id="10" name="Text 7"/>
          <p:cNvSpPr/>
          <p:nvPr/>
        </p:nvSpPr>
        <p:spPr>
          <a:xfrm>
            <a:off x="4754835" y="1762125"/>
            <a:ext cx="558158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7C3AE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2160" dirty="0"/>
          </a:p>
        </p:txBody>
      </p:sp>
      <p:sp>
        <p:nvSpPr>
          <p:cNvPr id="11" name="Text 8"/>
          <p:cNvSpPr/>
          <p:nvPr/>
        </p:nvSpPr>
        <p:spPr>
          <a:xfrm>
            <a:off x="5266879" y="1819275"/>
            <a:ext cx="21666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Fast, deep search</a:t>
            </a:r>
            <a:endParaRPr lang="en-US" sz="1440" dirty="0"/>
          </a:p>
        </p:txBody>
      </p:sp>
      <p:sp>
        <p:nvSpPr>
          <p:cNvPr id="12" name="Text 9"/>
          <p:cNvSpPr/>
          <p:nvPr/>
        </p:nvSpPr>
        <p:spPr>
          <a:xfrm>
            <a:off x="5266879" y="2115666"/>
            <a:ext cx="3769675" cy="342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86"/>
              </a:lnSpc>
              <a:buNone/>
            </a:pPr>
            <a:r>
              <a:rPr lang="en-US" sz="101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 titles, hosts, categories, and descriptions</a:t>
            </a:r>
            <a:endParaRPr lang="en-US" sz="1010" dirty="0"/>
          </a:p>
          <a:p>
            <a:pPr marL="0" indent="0" algn="l">
              <a:lnSpc>
                <a:spcPts val="1386"/>
              </a:lnSpc>
              <a:buNone/>
            </a:pPr>
            <a:r>
              <a:rPr lang="en-US" sz="101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instantly.</a:t>
            </a:r>
            <a:endParaRPr lang="en-US" sz="1010" dirty="0"/>
          </a:p>
        </p:txBody>
      </p:sp>
      <p:sp>
        <p:nvSpPr>
          <p:cNvPr id="13" name="Text 10"/>
          <p:cNvSpPr/>
          <p:nvPr/>
        </p:nvSpPr>
        <p:spPr>
          <a:xfrm>
            <a:off x="548580" y="2604418"/>
            <a:ext cx="558931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7C3AE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2160" dirty="0"/>
          </a:p>
        </p:txBody>
      </p:sp>
      <p:sp>
        <p:nvSpPr>
          <p:cNvPr id="14" name="Text 11"/>
          <p:cNvSpPr/>
          <p:nvPr/>
        </p:nvSpPr>
        <p:spPr>
          <a:xfrm>
            <a:off x="1060624" y="2661568"/>
            <a:ext cx="22980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Measurable habits</a:t>
            </a:r>
            <a:endParaRPr lang="en-US" sz="1440" dirty="0"/>
          </a:p>
        </p:txBody>
      </p:sp>
      <p:sp>
        <p:nvSpPr>
          <p:cNvPr id="15" name="Text 12"/>
          <p:cNvSpPr/>
          <p:nvPr/>
        </p:nvSpPr>
        <p:spPr>
          <a:xfrm>
            <a:off x="1060624" y="2957959"/>
            <a:ext cx="416872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101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Turn listening history into a clear personal dashboard.</a:t>
            </a:r>
            <a:endParaRPr lang="en-US" sz="1010" dirty="0"/>
          </a:p>
        </p:txBody>
      </p:sp>
      <p:sp>
        <p:nvSpPr>
          <p:cNvPr id="16" name="Text 13"/>
          <p:cNvSpPr/>
          <p:nvPr/>
        </p:nvSpPr>
        <p:spPr>
          <a:xfrm>
            <a:off x="4754835" y="2604418"/>
            <a:ext cx="574603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7C3AE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04</a:t>
            </a:r>
            <a:endParaRPr lang="en-US" sz="2160" dirty="0"/>
          </a:p>
        </p:txBody>
      </p:sp>
      <p:sp>
        <p:nvSpPr>
          <p:cNvPr id="17" name="Text 14"/>
          <p:cNvSpPr/>
          <p:nvPr/>
        </p:nvSpPr>
        <p:spPr>
          <a:xfrm>
            <a:off x="5266879" y="2661568"/>
            <a:ext cx="237703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Seamless playback</a:t>
            </a:r>
            <a:endParaRPr lang="en-US" sz="1440" dirty="0"/>
          </a:p>
        </p:txBody>
      </p:sp>
      <p:sp>
        <p:nvSpPr>
          <p:cNvPr id="18" name="Text 15"/>
          <p:cNvSpPr/>
          <p:nvPr/>
        </p:nvSpPr>
        <p:spPr>
          <a:xfrm>
            <a:off x="5266879" y="2957959"/>
            <a:ext cx="435203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101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Reliable streaming with resume and persistent favorites.</a:t>
            </a:r>
            <a:endParaRPr lang="en-US" sz="1010" dirty="0"/>
          </a:p>
        </p:txBody>
      </p:sp>
      <p:sp>
        <p:nvSpPr>
          <p:cNvPr id="19" name="Text 16"/>
          <p:cNvSpPr/>
          <p:nvPr/>
        </p:nvSpPr>
        <p:spPr>
          <a:xfrm>
            <a:off x="548580" y="3270721"/>
            <a:ext cx="563575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7C3AE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05</a:t>
            </a:r>
            <a:endParaRPr lang="en-US" sz="2160" dirty="0"/>
          </a:p>
        </p:txBody>
      </p:sp>
      <p:sp>
        <p:nvSpPr>
          <p:cNvPr id="20" name="Text 17"/>
          <p:cNvSpPr/>
          <p:nvPr/>
        </p:nvSpPr>
        <p:spPr>
          <a:xfrm>
            <a:off x="1060624" y="3327871"/>
            <a:ext cx="218200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Clean experience</a:t>
            </a:r>
            <a:endParaRPr lang="en-US" sz="1440" dirty="0"/>
          </a:p>
        </p:txBody>
      </p:sp>
      <p:sp>
        <p:nvSpPr>
          <p:cNvPr id="21" name="Text 18"/>
          <p:cNvSpPr/>
          <p:nvPr/>
        </p:nvSpPr>
        <p:spPr>
          <a:xfrm>
            <a:off x="1060624" y="3624263"/>
            <a:ext cx="403638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101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focused, accessible interface across screen sizes.</a:t>
            </a:r>
            <a:endParaRPr lang="en-US" sz="1010" dirty="0"/>
          </a:p>
        </p:txBody>
      </p:sp>
      <p:sp>
        <p:nvSpPr>
          <p:cNvPr id="22" name="Text 19"/>
          <p:cNvSpPr/>
          <p:nvPr/>
        </p:nvSpPr>
        <p:spPr>
          <a:xfrm>
            <a:off x="4754835" y="3270721"/>
            <a:ext cx="579537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7C3AE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06</a:t>
            </a:r>
            <a:endParaRPr lang="en-US" sz="2160" dirty="0"/>
          </a:p>
        </p:txBody>
      </p:sp>
      <p:sp>
        <p:nvSpPr>
          <p:cNvPr id="23" name="Text 20"/>
          <p:cNvSpPr/>
          <p:nvPr/>
        </p:nvSpPr>
        <p:spPr>
          <a:xfrm>
            <a:off x="5266879" y="3327871"/>
            <a:ext cx="162566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Built to scale</a:t>
            </a:r>
            <a:endParaRPr lang="en-US" sz="1440" dirty="0"/>
          </a:p>
        </p:txBody>
      </p:sp>
      <p:sp>
        <p:nvSpPr>
          <p:cNvPr id="24" name="Text 21"/>
          <p:cNvSpPr/>
          <p:nvPr/>
        </p:nvSpPr>
        <p:spPr>
          <a:xfrm>
            <a:off x="5266879" y="3624263"/>
            <a:ext cx="400010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101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modular architecture ready for a growing catalog.</a:t>
            </a:r>
            <a:endParaRPr lang="en-US" sz="10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74953" y="-1568723"/>
            <a:ext cx="4943475" cy="49434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580" y="369540"/>
            <a:ext cx="84140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08 / 28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48580" y="534665"/>
            <a:ext cx="5998428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600" b="1" kern="0" spc="-90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Scope of the Project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49511" y="1167631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Shape 4"/>
          <p:cNvSpPr/>
          <p:nvPr/>
        </p:nvSpPr>
        <p:spPr>
          <a:xfrm>
            <a:off x="549511" y="1696194"/>
            <a:ext cx="3838575" cy="2405062"/>
          </a:xfrm>
          <a:prstGeom prst="roundRect">
            <a:avLst>
              <a:gd name="adj" fmla="val 4562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Text 5"/>
          <p:cNvSpPr/>
          <p:nvPr/>
        </p:nvSpPr>
        <p:spPr>
          <a:xfrm>
            <a:off x="772790" y="1945332"/>
            <a:ext cx="1226522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 Scope</a:t>
            </a:r>
            <a:endParaRPr lang="en-US" sz="1580" dirty="0"/>
          </a:p>
        </p:txBody>
      </p:sp>
      <p:sp>
        <p:nvSpPr>
          <p:cNvPr id="9" name="Text 6"/>
          <p:cNvSpPr/>
          <p:nvPr/>
        </p:nvSpPr>
        <p:spPr>
          <a:xfrm>
            <a:off x="772790" y="2336304"/>
            <a:ext cx="4466191" cy="380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35"/>
              </a:lnSpc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Podcast browsing, multi-field search, and streaming</a:t>
            </a:r>
            <a:endParaRPr lang="en-US" sz="1120" dirty="0"/>
          </a:p>
          <a:p>
            <a:pPr marL="0" indent="0" algn="l">
              <a:lnSpc>
                <a:spcPts val="1535"/>
              </a:lnSpc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playback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772790" y="2818656"/>
            <a:ext cx="424804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729"/>
              </a:spcAft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 accounts with favorites and listening history</a:t>
            </a:r>
            <a:endParaRPr lang="en-US" sz="1120" dirty="0"/>
          </a:p>
        </p:txBody>
      </p:sp>
      <p:sp>
        <p:nvSpPr>
          <p:cNvPr id="11" name="Text 8"/>
          <p:cNvSpPr/>
          <p:nvPr/>
        </p:nvSpPr>
        <p:spPr>
          <a:xfrm>
            <a:off x="772790" y="3106117"/>
            <a:ext cx="412083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729"/>
              </a:spcAft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AI-driven recommendations from user behavior</a:t>
            </a:r>
            <a:endParaRPr lang="en-US" sz="1120" dirty="0"/>
          </a:p>
        </p:txBody>
      </p:sp>
      <p:sp>
        <p:nvSpPr>
          <p:cNvPr id="12" name="Text 9"/>
          <p:cNvSpPr/>
          <p:nvPr/>
        </p:nvSpPr>
        <p:spPr>
          <a:xfrm>
            <a:off x="772790" y="3393579"/>
            <a:ext cx="356604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729"/>
              </a:spcAft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Personal analytics dashboard with charts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772790" y="3681040"/>
            <a:ext cx="411493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Responsive web interface (desktop and mobile)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4755914" y="1696380"/>
            <a:ext cx="3838575" cy="2209800"/>
          </a:xfrm>
          <a:prstGeom prst="roundRect">
            <a:avLst>
              <a:gd name="adj" fmla="val 4966"/>
            </a:avLst>
          </a:prstGeom>
          <a:solidFill>
            <a:srgbClr val="140F2D">
              <a:alpha val="40000"/>
            </a:srgbClr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5" name="Text 12"/>
          <p:cNvSpPr/>
          <p:nvPr/>
        </p:nvSpPr>
        <p:spPr>
          <a:xfrm>
            <a:off x="4979194" y="1945332"/>
            <a:ext cx="1811499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9A94C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Out of Scope</a:t>
            </a:r>
            <a:endParaRPr lang="en-US" sz="1580" dirty="0"/>
          </a:p>
        </p:txBody>
      </p:sp>
      <p:sp>
        <p:nvSpPr>
          <p:cNvPr id="16" name="Text 13"/>
          <p:cNvSpPr/>
          <p:nvPr/>
        </p:nvSpPr>
        <p:spPr>
          <a:xfrm>
            <a:off x="4979194" y="2336304"/>
            <a:ext cx="287736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729"/>
              </a:spcAft>
              <a:buNone/>
            </a:pPr>
            <a:r>
              <a:rPr lang="en-US" sz="112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Native iOS / Android applications</a:t>
            </a:r>
            <a:endParaRPr lang="en-US" sz="1120" dirty="0"/>
          </a:p>
        </p:txBody>
      </p:sp>
      <p:sp>
        <p:nvSpPr>
          <p:cNvPr id="17" name="Text 14"/>
          <p:cNvSpPr/>
          <p:nvPr/>
        </p:nvSpPr>
        <p:spPr>
          <a:xfrm>
            <a:off x="4979194" y="2623765"/>
            <a:ext cx="342809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729"/>
              </a:spcAft>
              <a:buNone/>
            </a:pPr>
            <a:r>
              <a:rPr lang="en-US" sz="112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Podcast hosting or creator upload tools</a:t>
            </a:r>
            <a:endParaRPr lang="en-US" sz="1120" dirty="0"/>
          </a:p>
        </p:txBody>
      </p:sp>
      <p:sp>
        <p:nvSpPr>
          <p:cNvPr id="18" name="Text 15"/>
          <p:cNvSpPr/>
          <p:nvPr/>
        </p:nvSpPr>
        <p:spPr>
          <a:xfrm>
            <a:off x="4979194" y="2911227"/>
            <a:ext cx="374945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729"/>
              </a:spcAft>
              <a:buNone/>
            </a:pPr>
            <a:r>
              <a:rPr lang="en-US" sz="112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Monetization, ads, and payment processing</a:t>
            </a:r>
            <a:endParaRPr lang="en-US" sz="1120" dirty="0"/>
          </a:p>
        </p:txBody>
      </p:sp>
      <p:sp>
        <p:nvSpPr>
          <p:cNvPr id="19" name="Text 16"/>
          <p:cNvSpPr/>
          <p:nvPr/>
        </p:nvSpPr>
        <p:spPr>
          <a:xfrm>
            <a:off x="4979194" y="3198688"/>
            <a:ext cx="348313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729"/>
              </a:spcAft>
              <a:buNone/>
            </a:pPr>
            <a:r>
              <a:rPr lang="en-US" sz="112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Offline downloads and background sync</a:t>
            </a:r>
            <a:endParaRPr lang="en-US" sz="1120" dirty="0"/>
          </a:p>
        </p:txBody>
      </p:sp>
      <p:sp>
        <p:nvSpPr>
          <p:cNvPr id="20" name="Text 17"/>
          <p:cNvSpPr/>
          <p:nvPr/>
        </p:nvSpPr>
        <p:spPr>
          <a:xfrm>
            <a:off x="4979194" y="3486150"/>
            <a:ext cx="326944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/ real-time streaming broadcasts</a:t>
            </a:r>
            <a:endParaRPr lang="en-US" sz="11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3048" y="1689757"/>
            <a:ext cx="5124450" cy="5124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580" y="369540"/>
            <a:ext cx="84343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09 / 28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48580" y="534665"/>
            <a:ext cx="3186537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600" b="1" kern="0" spc="-90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User Roles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49511" y="1167631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Shape 4"/>
          <p:cNvSpPr/>
          <p:nvPr/>
        </p:nvSpPr>
        <p:spPr>
          <a:xfrm>
            <a:off x="547650" y="1749661"/>
            <a:ext cx="2562225" cy="2047875"/>
          </a:xfrm>
          <a:prstGeom prst="roundRect">
            <a:avLst>
              <a:gd name="adj" fmla="val 5358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Shape 5"/>
          <p:cNvSpPr/>
          <p:nvPr/>
        </p:nvSpPr>
        <p:spPr>
          <a:xfrm>
            <a:off x="754596" y="1953444"/>
            <a:ext cx="542925" cy="228600"/>
          </a:xfrm>
          <a:prstGeom prst="roundRect">
            <a:avLst>
              <a:gd name="adj" fmla="val 50000"/>
            </a:avLst>
          </a:prstGeom>
          <a:solidFill>
            <a:srgbClr val="2A2450">
              <a:alpha val="50196"/>
            </a:srgbClr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9" name="Text 6"/>
          <p:cNvSpPr/>
          <p:nvPr/>
        </p:nvSpPr>
        <p:spPr>
          <a:xfrm>
            <a:off x="864171" y="1994967"/>
            <a:ext cx="47805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2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Guest</a:t>
            </a:r>
            <a:endParaRPr lang="en-US" sz="860" dirty="0"/>
          </a:p>
        </p:txBody>
      </p:sp>
      <p:sp>
        <p:nvSpPr>
          <p:cNvPr id="10" name="Text 7"/>
          <p:cNvSpPr/>
          <p:nvPr/>
        </p:nvSpPr>
        <p:spPr>
          <a:xfrm>
            <a:off x="754484" y="2307506"/>
            <a:ext cx="1891211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58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Explore freely</a:t>
            </a:r>
            <a:endParaRPr lang="en-US" sz="1580" dirty="0"/>
          </a:p>
        </p:txBody>
      </p:sp>
      <p:sp>
        <p:nvSpPr>
          <p:cNvPr id="11" name="Text 8"/>
          <p:cNvSpPr/>
          <p:nvPr/>
        </p:nvSpPr>
        <p:spPr>
          <a:xfrm>
            <a:off x="754484" y="2688208"/>
            <a:ext cx="147165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567"/>
              </a:spcAft>
              <a:buNone/>
            </a:pPr>
            <a:r>
              <a:rPr lang="en-US" sz="97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Browse the catalog</a:t>
            </a:r>
            <a:endParaRPr lang="en-US" sz="970" dirty="0"/>
          </a:p>
        </p:txBody>
      </p:sp>
      <p:sp>
        <p:nvSpPr>
          <p:cNvPr id="12" name="Text 9"/>
          <p:cNvSpPr/>
          <p:nvPr/>
        </p:nvSpPr>
        <p:spPr>
          <a:xfrm>
            <a:off x="754484" y="2929905"/>
            <a:ext cx="235004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567"/>
              </a:spcAft>
              <a:buNone/>
            </a:pPr>
            <a:r>
              <a:rPr lang="en-US" sz="97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 podcasts and episodes</a:t>
            </a:r>
            <a:endParaRPr lang="en-US" sz="970" dirty="0"/>
          </a:p>
        </p:txBody>
      </p:sp>
      <p:sp>
        <p:nvSpPr>
          <p:cNvPr id="13" name="Text 10"/>
          <p:cNvSpPr/>
          <p:nvPr/>
        </p:nvSpPr>
        <p:spPr>
          <a:xfrm>
            <a:off x="754484" y="3171602"/>
            <a:ext cx="202364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567"/>
              </a:spcAft>
              <a:buNone/>
            </a:pPr>
            <a:r>
              <a:rPr lang="en-US" sz="97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Preview and play episodes</a:t>
            </a:r>
            <a:endParaRPr lang="en-US" sz="970" dirty="0"/>
          </a:p>
        </p:txBody>
      </p:sp>
      <p:sp>
        <p:nvSpPr>
          <p:cNvPr id="14" name="Text 11"/>
          <p:cNvSpPr/>
          <p:nvPr/>
        </p:nvSpPr>
        <p:spPr>
          <a:xfrm>
            <a:off x="754484" y="3413299"/>
            <a:ext cx="214805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Prompted to sign up to save</a:t>
            </a:r>
            <a:endParaRPr lang="en-US" sz="970" dirty="0"/>
          </a:p>
        </p:txBody>
      </p:sp>
      <p:sp>
        <p:nvSpPr>
          <p:cNvPr id="15" name="Shape 12"/>
          <p:cNvSpPr/>
          <p:nvPr/>
        </p:nvSpPr>
        <p:spPr>
          <a:xfrm>
            <a:off x="3290850" y="1749661"/>
            <a:ext cx="2562225" cy="2047875"/>
          </a:xfrm>
          <a:prstGeom prst="roundRect">
            <a:avLst>
              <a:gd name="adj" fmla="val 5358"/>
            </a:avLst>
          </a:prstGeom>
          <a:solidFill>
            <a:srgbClr val="14102E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6" name="Shape 13"/>
          <p:cNvSpPr/>
          <p:nvPr/>
        </p:nvSpPr>
        <p:spPr>
          <a:xfrm>
            <a:off x="3502037" y="1958206"/>
            <a:ext cx="1266825" cy="2286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7" name="Text 14"/>
          <p:cNvSpPr/>
          <p:nvPr/>
        </p:nvSpPr>
        <p:spPr>
          <a:xfrm>
            <a:off x="3612133" y="1999729"/>
            <a:ext cx="141777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2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Registered Listener</a:t>
            </a:r>
            <a:endParaRPr lang="en-US" sz="860" dirty="0"/>
          </a:p>
        </p:txBody>
      </p:sp>
      <p:sp>
        <p:nvSpPr>
          <p:cNvPr id="18" name="Text 15"/>
          <p:cNvSpPr/>
          <p:nvPr/>
        </p:nvSpPr>
        <p:spPr>
          <a:xfrm>
            <a:off x="3502447" y="2312268"/>
            <a:ext cx="1597901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58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Personalize</a:t>
            </a:r>
            <a:endParaRPr lang="en-US" sz="1580" dirty="0"/>
          </a:p>
        </p:txBody>
      </p:sp>
      <p:sp>
        <p:nvSpPr>
          <p:cNvPr id="19" name="Text 16"/>
          <p:cNvSpPr/>
          <p:nvPr/>
        </p:nvSpPr>
        <p:spPr>
          <a:xfrm>
            <a:off x="3502447" y="2692971"/>
            <a:ext cx="158571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567"/>
              </a:spcAft>
              <a:buNone/>
            </a:pPr>
            <a:r>
              <a:rPr lang="en-US" sz="97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guest capabilities</a:t>
            </a:r>
            <a:endParaRPr lang="en-US" sz="970" dirty="0"/>
          </a:p>
        </p:txBody>
      </p:sp>
      <p:sp>
        <p:nvSpPr>
          <p:cNvPr id="20" name="Text 17"/>
          <p:cNvSpPr/>
          <p:nvPr/>
        </p:nvSpPr>
        <p:spPr>
          <a:xfrm>
            <a:off x="3502447" y="2934667"/>
            <a:ext cx="252117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567"/>
              </a:spcAft>
              <a:buNone/>
            </a:pPr>
            <a:r>
              <a:rPr lang="en-US" sz="97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Save favorites and resume points</a:t>
            </a:r>
            <a:endParaRPr lang="en-US" sz="970" dirty="0"/>
          </a:p>
        </p:txBody>
      </p:sp>
      <p:sp>
        <p:nvSpPr>
          <p:cNvPr id="21" name="Text 18"/>
          <p:cNvSpPr/>
          <p:nvPr/>
        </p:nvSpPr>
        <p:spPr>
          <a:xfrm>
            <a:off x="3502447" y="3176364"/>
            <a:ext cx="221896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567"/>
              </a:spcAft>
              <a:buNone/>
            </a:pPr>
            <a:r>
              <a:rPr lang="en-US" sz="97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Receive AI recommendations</a:t>
            </a:r>
            <a:endParaRPr lang="en-US" sz="970" dirty="0"/>
          </a:p>
        </p:txBody>
      </p:sp>
      <p:sp>
        <p:nvSpPr>
          <p:cNvPr id="22" name="Text 19"/>
          <p:cNvSpPr/>
          <p:nvPr/>
        </p:nvSpPr>
        <p:spPr>
          <a:xfrm>
            <a:off x="3502447" y="3418061"/>
            <a:ext cx="264818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View personal analytics dashboard</a:t>
            </a:r>
            <a:endParaRPr lang="en-US" sz="970" dirty="0"/>
          </a:p>
        </p:txBody>
      </p:sp>
      <p:sp>
        <p:nvSpPr>
          <p:cNvPr id="23" name="Shape 20"/>
          <p:cNvSpPr/>
          <p:nvPr/>
        </p:nvSpPr>
        <p:spPr>
          <a:xfrm>
            <a:off x="6034050" y="1749661"/>
            <a:ext cx="2562225" cy="2047875"/>
          </a:xfrm>
          <a:prstGeom prst="roundRect">
            <a:avLst>
              <a:gd name="adj" fmla="val 5358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4" name="Shape 21"/>
          <p:cNvSpPr/>
          <p:nvPr/>
        </p:nvSpPr>
        <p:spPr>
          <a:xfrm>
            <a:off x="6240475" y="1953444"/>
            <a:ext cx="566738" cy="228600"/>
          </a:xfrm>
          <a:prstGeom prst="roundRect">
            <a:avLst>
              <a:gd name="adj" fmla="val 50000"/>
            </a:avLst>
          </a:prstGeom>
          <a:solidFill>
            <a:srgbClr val="23D2F0">
              <a:alpha val="20000"/>
            </a:srgbClr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5" name="Text 22"/>
          <p:cNvSpPr/>
          <p:nvPr/>
        </p:nvSpPr>
        <p:spPr>
          <a:xfrm>
            <a:off x="6350571" y="1994967"/>
            <a:ext cx="50766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2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</a:t>
            </a:r>
            <a:endParaRPr lang="en-US" sz="860" dirty="0"/>
          </a:p>
        </p:txBody>
      </p:sp>
      <p:sp>
        <p:nvSpPr>
          <p:cNvPr id="26" name="Text 23"/>
          <p:cNvSpPr/>
          <p:nvPr/>
        </p:nvSpPr>
        <p:spPr>
          <a:xfrm>
            <a:off x="6240884" y="2307506"/>
            <a:ext cx="1235229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58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Maintain</a:t>
            </a:r>
            <a:endParaRPr lang="en-US" sz="1580" dirty="0"/>
          </a:p>
        </p:txBody>
      </p:sp>
      <p:sp>
        <p:nvSpPr>
          <p:cNvPr id="27" name="Text 24"/>
          <p:cNvSpPr/>
          <p:nvPr/>
        </p:nvSpPr>
        <p:spPr>
          <a:xfrm>
            <a:off x="6240884" y="2688208"/>
            <a:ext cx="188018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567"/>
              </a:spcAft>
              <a:buNone/>
            </a:pPr>
            <a:r>
              <a:rPr lang="en-US" sz="97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Manage podcast catalog</a:t>
            </a:r>
            <a:endParaRPr lang="en-US" sz="970" dirty="0"/>
          </a:p>
        </p:txBody>
      </p:sp>
      <p:sp>
        <p:nvSpPr>
          <p:cNvPr id="28" name="Text 25"/>
          <p:cNvSpPr/>
          <p:nvPr/>
        </p:nvSpPr>
        <p:spPr>
          <a:xfrm>
            <a:off x="6240884" y="2929905"/>
            <a:ext cx="230941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567"/>
              </a:spcAft>
              <a:buNone/>
            </a:pPr>
            <a:r>
              <a:rPr lang="en-US" sz="97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Add, edit, and remove content</a:t>
            </a:r>
            <a:endParaRPr lang="en-US" sz="970" dirty="0"/>
          </a:p>
        </p:txBody>
      </p:sp>
      <p:sp>
        <p:nvSpPr>
          <p:cNvPr id="29" name="Text 26"/>
          <p:cNvSpPr/>
          <p:nvPr/>
        </p:nvSpPr>
        <p:spPr>
          <a:xfrm>
            <a:off x="6240884" y="3171602"/>
            <a:ext cx="159645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567"/>
              </a:spcAft>
              <a:buNone/>
            </a:pPr>
            <a:r>
              <a:rPr lang="en-US" sz="97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Moderate categories</a:t>
            </a:r>
            <a:endParaRPr lang="en-US" sz="970" dirty="0"/>
          </a:p>
        </p:txBody>
      </p:sp>
      <p:sp>
        <p:nvSpPr>
          <p:cNvPr id="30" name="Text 27"/>
          <p:cNvSpPr/>
          <p:nvPr/>
        </p:nvSpPr>
        <p:spPr>
          <a:xfrm>
            <a:off x="6240884" y="3413299"/>
            <a:ext cx="178799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Monitor platform usage</a:t>
            </a:r>
            <a:endParaRPr lang="en-US" sz="9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74428" y="-1568723"/>
            <a:ext cx="4943475" cy="49434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580" y="369540"/>
            <a:ext cx="80039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/ 28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48580" y="534665"/>
            <a:ext cx="7494969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600" b="1" kern="0" spc="-90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Functional Requirements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49511" y="1167631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Text 4"/>
          <p:cNvSpPr/>
          <p:nvPr/>
        </p:nvSpPr>
        <p:spPr>
          <a:xfrm>
            <a:off x="548580" y="1711598"/>
            <a:ext cx="42688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FR-1</a:t>
            </a:r>
            <a:endParaRPr lang="en-US" sz="1010" dirty="0"/>
          </a:p>
        </p:txBody>
      </p:sp>
      <p:sp>
        <p:nvSpPr>
          <p:cNvPr id="8" name="Text 5"/>
          <p:cNvSpPr/>
          <p:nvPr/>
        </p:nvSpPr>
        <p:spPr>
          <a:xfrm>
            <a:off x="1110704" y="1697310"/>
            <a:ext cx="3376144" cy="380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35"/>
              </a:lnSpc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Account registration, login, and session</a:t>
            </a:r>
            <a:endParaRPr lang="en-US" sz="1120" dirty="0"/>
          </a:p>
          <a:p>
            <a:pPr marL="0" indent="0" algn="l">
              <a:lnSpc>
                <a:spcPts val="1535"/>
              </a:lnSpc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management</a:t>
            </a:r>
            <a:endParaRPr lang="en-US" sz="1120" dirty="0"/>
          </a:p>
        </p:txBody>
      </p:sp>
      <p:sp>
        <p:nvSpPr>
          <p:cNvPr id="9" name="Text 6"/>
          <p:cNvSpPr/>
          <p:nvPr/>
        </p:nvSpPr>
        <p:spPr>
          <a:xfrm>
            <a:off x="4754835" y="1711598"/>
            <a:ext cx="46122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FR-2</a:t>
            </a:r>
            <a:endParaRPr lang="en-US" sz="1010" dirty="0"/>
          </a:p>
        </p:txBody>
      </p:sp>
      <p:sp>
        <p:nvSpPr>
          <p:cNvPr id="10" name="Text 7"/>
          <p:cNvSpPr/>
          <p:nvPr/>
        </p:nvSpPr>
        <p:spPr>
          <a:xfrm>
            <a:off x="5340028" y="1697310"/>
            <a:ext cx="339433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Browse and filter podcasts by category</a:t>
            </a:r>
            <a:endParaRPr lang="en-US" sz="1120" dirty="0"/>
          </a:p>
        </p:txBody>
      </p:sp>
      <p:sp>
        <p:nvSpPr>
          <p:cNvPr id="11" name="Text 8"/>
          <p:cNvSpPr/>
          <p:nvPr/>
        </p:nvSpPr>
        <p:spPr>
          <a:xfrm>
            <a:off x="548580" y="2235101"/>
            <a:ext cx="46151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FR-3</a:t>
            </a:r>
            <a:endParaRPr lang="en-US" sz="1010" dirty="0"/>
          </a:p>
        </p:txBody>
      </p:sp>
      <p:sp>
        <p:nvSpPr>
          <p:cNvPr id="12" name="Text 9"/>
          <p:cNvSpPr/>
          <p:nvPr/>
        </p:nvSpPr>
        <p:spPr>
          <a:xfrm>
            <a:off x="1133773" y="2220813"/>
            <a:ext cx="380324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 across titles, hosts, and descriptions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4754835" y="2235101"/>
            <a:ext cx="46886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FR-4</a:t>
            </a:r>
            <a:endParaRPr lang="en-US" sz="1010" dirty="0"/>
          </a:p>
        </p:txBody>
      </p:sp>
      <p:sp>
        <p:nvSpPr>
          <p:cNvPr id="14" name="Text 11"/>
          <p:cNvSpPr/>
          <p:nvPr/>
        </p:nvSpPr>
        <p:spPr>
          <a:xfrm>
            <a:off x="5323508" y="2220813"/>
            <a:ext cx="3784669" cy="380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35"/>
              </a:lnSpc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Stream episodes with play, pause, seek, and</a:t>
            </a:r>
            <a:endParaRPr lang="en-US" sz="1120" dirty="0"/>
          </a:p>
          <a:p>
            <a:pPr marL="0" indent="0" algn="l">
              <a:lnSpc>
                <a:spcPts val="1535"/>
              </a:lnSpc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resume</a:t>
            </a:r>
            <a:endParaRPr lang="en-US" sz="1120" dirty="0"/>
          </a:p>
        </p:txBody>
      </p:sp>
      <p:sp>
        <p:nvSpPr>
          <p:cNvPr id="15" name="Text 12"/>
          <p:cNvSpPr/>
          <p:nvPr/>
        </p:nvSpPr>
        <p:spPr>
          <a:xfrm>
            <a:off x="548580" y="2758604"/>
            <a:ext cx="46364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FR-5</a:t>
            </a:r>
            <a:endParaRPr lang="en-US" sz="1010" dirty="0"/>
          </a:p>
        </p:txBody>
      </p:sp>
      <p:sp>
        <p:nvSpPr>
          <p:cNvPr id="16" name="Text 13"/>
          <p:cNvSpPr/>
          <p:nvPr/>
        </p:nvSpPr>
        <p:spPr>
          <a:xfrm>
            <a:off x="1133773" y="2744316"/>
            <a:ext cx="403348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 and remove favorites that persist per user</a:t>
            </a:r>
            <a:endParaRPr lang="en-US" sz="1120" dirty="0"/>
          </a:p>
        </p:txBody>
      </p:sp>
      <p:sp>
        <p:nvSpPr>
          <p:cNvPr id="17" name="Text 14"/>
          <p:cNvSpPr/>
          <p:nvPr/>
        </p:nvSpPr>
        <p:spPr>
          <a:xfrm>
            <a:off x="4754835" y="2758604"/>
            <a:ext cx="47119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FR-6</a:t>
            </a:r>
            <a:endParaRPr lang="en-US" sz="1010" dirty="0"/>
          </a:p>
        </p:txBody>
      </p:sp>
      <p:sp>
        <p:nvSpPr>
          <p:cNvPr id="18" name="Text 15"/>
          <p:cNvSpPr/>
          <p:nvPr/>
        </p:nvSpPr>
        <p:spPr>
          <a:xfrm>
            <a:off x="5340028" y="2744316"/>
            <a:ext cx="325454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Record listening history automatically</a:t>
            </a:r>
            <a:endParaRPr lang="en-US" sz="1120" dirty="0"/>
          </a:p>
        </p:txBody>
      </p:sp>
      <p:sp>
        <p:nvSpPr>
          <p:cNvPr id="19" name="Text 16"/>
          <p:cNvSpPr/>
          <p:nvPr/>
        </p:nvSpPr>
        <p:spPr>
          <a:xfrm>
            <a:off x="548580" y="3087216"/>
            <a:ext cx="45822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FR-7</a:t>
            </a:r>
            <a:endParaRPr lang="en-US" sz="1010" dirty="0"/>
          </a:p>
        </p:txBody>
      </p:sp>
      <p:sp>
        <p:nvSpPr>
          <p:cNvPr id="20" name="Text 17"/>
          <p:cNvSpPr/>
          <p:nvPr/>
        </p:nvSpPr>
        <p:spPr>
          <a:xfrm>
            <a:off x="1133773" y="3072929"/>
            <a:ext cx="422821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Generate AI recommendations from user activity</a:t>
            </a:r>
            <a:endParaRPr lang="en-US" sz="1120" dirty="0"/>
          </a:p>
        </p:txBody>
      </p:sp>
      <p:sp>
        <p:nvSpPr>
          <p:cNvPr id="21" name="Text 18"/>
          <p:cNvSpPr/>
          <p:nvPr/>
        </p:nvSpPr>
        <p:spPr>
          <a:xfrm>
            <a:off x="4754835" y="3087216"/>
            <a:ext cx="46799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FR-8</a:t>
            </a:r>
            <a:endParaRPr lang="en-US" sz="1010" dirty="0"/>
          </a:p>
        </p:txBody>
      </p:sp>
      <p:sp>
        <p:nvSpPr>
          <p:cNvPr id="22" name="Text 19"/>
          <p:cNvSpPr/>
          <p:nvPr/>
        </p:nvSpPr>
        <p:spPr>
          <a:xfrm>
            <a:off x="5340028" y="3072929"/>
            <a:ext cx="339249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Display a personal analytics dashboard</a:t>
            </a:r>
            <a:endParaRPr lang="en-US" sz="1120" dirty="0"/>
          </a:p>
        </p:txBody>
      </p:sp>
      <p:sp>
        <p:nvSpPr>
          <p:cNvPr id="23" name="Text 20"/>
          <p:cNvSpPr/>
          <p:nvPr/>
        </p:nvSpPr>
        <p:spPr>
          <a:xfrm>
            <a:off x="548580" y="3415829"/>
            <a:ext cx="47119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FR-9</a:t>
            </a:r>
            <a:endParaRPr lang="en-US" sz="1010" dirty="0"/>
          </a:p>
        </p:txBody>
      </p:sp>
      <p:sp>
        <p:nvSpPr>
          <p:cNvPr id="24" name="Text 21"/>
          <p:cNvSpPr/>
          <p:nvPr/>
        </p:nvSpPr>
        <p:spPr>
          <a:xfrm>
            <a:off x="1133773" y="3401541"/>
            <a:ext cx="375497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 management of the podcast catalog</a:t>
            </a:r>
            <a:endParaRPr lang="en-US" sz="1120" dirty="0"/>
          </a:p>
        </p:txBody>
      </p:sp>
      <p:sp>
        <p:nvSpPr>
          <p:cNvPr id="25" name="Text 22"/>
          <p:cNvSpPr/>
          <p:nvPr/>
        </p:nvSpPr>
        <p:spPr>
          <a:xfrm>
            <a:off x="4754835" y="3415829"/>
            <a:ext cx="55486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FR-10</a:t>
            </a:r>
            <a:endParaRPr lang="en-US" sz="1010" dirty="0"/>
          </a:p>
        </p:txBody>
      </p:sp>
      <p:sp>
        <p:nvSpPr>
          <p:cNvPr id="26" name="Text 23"/>
          <p:cNvSpPr/>
          <p:nvPr/>
        </p:nvSpPr>
        <p:spPr>
          <a:xfrm>
            <a:off x="5340028" y="3401541"/>
            <a:ext cx="328753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Responsive layout across device sizes</a:t>
            </a:r>
            <a:endParaRPr lang="en-US" sz="11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73498" y="1689757"/>
            <a:ext cx="5124450" cy="5124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580" y="369540"/>
            <a:ext cx="74873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 / 28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48580" y="539428"/>
            <a:ext cx="8699458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460" b="1" kern="0" spc="-86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Non-Functional Requirements</a:t>
            </a:r>
            <a:endParaRPr lang="en-US" sz="3460" dirty="0"/>
          </a:p>
        </p:txBody>
      </p:sp>
      <p:sp>
        <p:nvSpPr>
          <p:cNvPr id="6" name="Shape 3"/>
          <p:cNvSpPr/>
          <p:nvPr/>
        </p:nvSpPr>
        <p:spPr>
          <a:xfrm>
            <a:off x="549511" y="1149325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Shape 4"/>
          <p:cNvSpPr/>
          <p:nvPr/>
        </p:nvSpPr>
        <p:spPr>
          <a:xfrm>
            <a:off x="547650" y="1749214"/>
            <a:ext cx="2562225" cy="1004887"/>
          </a:xfrm>
          <a:prstGeom prst="roundRect">
            <a:avLst>
              <a:gd name="adj" fmla="val 10009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Text 5"/>
          <p:cNvSpPr/>
          <p:nvPr/>
        </p:nvSpPr>
        <p:spPr>
          <a:xfrm>
            <a:off x="727025" y="1946225"/>
            <a:ext cx="154924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Performance</a:t>
            </a:r>
            <a:endParaRPr lang="en-US" sz="1370" dirty="0"/>
          </a:p>
        </p:txBody>
      </p:sp>
      <p:sp>
        <p:nvSpPr>
          <p:cNvPr id="9" name="Text 6"/>
          <p:cNvSpPr/>
          <p:nvPr/>
        </p:nvSpPr>
        <p:spPr>
          <a:xfrm>
            <a:off x="727025" y="2249463"/>
            <a:ext cx="2660861" cy="320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 results and page loads under</a:t>
            </a:r>
            <a:endParaRPr lang="en-US" sz="940" dirty="0"/>
          </a:p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second on a typical connection.</a:t>
            </a:r>
            <a:endParaRPr lang="en-US" sz="940" dirty="0"/>
          </a:p>
        </p:txBody>
      </p:sp>
      <p:sp>
        <p:nvSpPr>
          <p:cNvPr id="10" name="Shape 7"/>
          <p:cNvSpPr/>
          <p:nvPr/>
        </p:nvSpPr>
        <p:spPr>
          <a:xfrm>
            <a:off x="3290850" y="1749214"/>
            <a:ext cx="2562225" cy="1004887"/>
          </a:xfrm>
          <a:prstGeom prst="roundRect">
            <a:avLst>
              <a:gd name="adj" fmla="val 10009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1" name="Text 8"/>
          <p:cNvSpPr/>
          <p:nvPr/>
        </p:nvSpPr>
        <p:spPr>
          <a:xfrm>
            <a:off x="3470225" y="1946225"/>
            <a:ext cx="127914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Scalability</a:t>
            </a:r>
            <a:endParaRPr lang="en-US" sz="1370" dirty="0"/>
          </a:p>
        </p:txBody>
      </p:sp>
      <p:sp>
        <p:nvSpPr>
          <p:cNvPr id="12" name="Text 9"/>
          <p:cNvSpPr/>
          <p:nvPr/>
        </p:nvSpPr>
        <p:spPr>
          <a:xfrm>
            <a:off x="3470225" y="2249463"/>
            <a:ext cx="2567702" cy="320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Modular design supports a growing</a:t>
            </a:r>
            <a:endParaRPr lang="en-US" sz="940" dirty="0"/>
          </a:p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catalog and user base.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6034050" y="1749214"/>
            <a:ext cx="2562225" cy="1004887"/>
          </a:xfrm>
          <a:prstGeom prst="roundRect">
            <a:avLst>
              <a:gd name="adj" fmla="val 10009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4" name="Text 11"/>
          <p:cNvSpPr/>
          <p:nvPr/>
        </p:nvSpPr>
        <p:spPr>
          <a:xfrm>
            <a:off x="6213425" y="1946225"/>
            <a:ext cx="108770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Usability</a:t>
            </a:r>
            <a:endParaRPr lang="en-US" sz="1370" dirty="0"/>
          </a:p>
        </p:txBody>
      </p:sp>
      <p:sp>
        <p:nvSpPr>
          <p:cNvPr id="15" name="Text 12"/>
          <p:cNvSpPr/>
          <p:nvPr/>
        </p:nvSpPr>
        <p:spPr>
          <a:xfrm>
            <a:off x="6213425" y="2249463"/>
            <a:ext cx="2582019" cy="320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Intuitive navigation with consistent,</a:t>
            </a:r>
            <a:endParaRPr lang="en-US" sz="940" dirty="0"/>
          </a:p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accessible controls.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547650" y="2937904"/>
            <a:ext cx="2562225" cy="1004887"/>
          </a:xfrm>
          <a:prstGeom prst="roundRect">
            <a:avLst>
              <a:gd name="adj" fmla="val 10009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7" name="Text 14"/>
          <p:cNvSpPr/>
          <p:nvPr/>
        </p:nvSpPr>
        <p:spPr>
          <a:xfrm>
            <a:off x="727025" y="3134916"/>
            <a:ext cx="123019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Reliability</a:t>
            </a:r>
            <a:endParaRPr lang="en-US" sz="1370" dirty="0"/>
          </a:p>
        </p:txBody>
      </p:sp>
      <p:sp>
        <p:nvSpPr>
          <p:cNvPr id="18" name="Text 15"/>
          <p:cNvSpPr/>
          <p:nvPr/>
        </p:nvSpPr>
        <p:spPr>
          <a:xfrm>
            <a:off x="727025" y="3438153"/>
            <a:ext cx="2639191" cy="320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Stable playback and persistent data</a:t>
            </a:r>
            <a:endParaRPr lang="en-US" sz="940" dirty="0"/>
          </a:p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across sessions.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3290850" y="2937904"/>
            <a:ext cx="2562225" cy="1004887"/>
          </a:xfrm>
          <a:prstGeom prst="roundRect">
            <a:avLst>
              <a:gd name="adj" fmla="val 10009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0" name="Text 17"/>
          <p:cNvSpPr/>
          <p:nvPr/>
        </p:nvSpPr>
        <p:spPr>
          <a:xfrm>
            <a:off x="3470225" y="3134916"/>
            <a:ext cx="102308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Security</a:t>
            </a:r>
            <a:endParaRPr lang="en-US" sz="1370" dirty="0"/>
          </a:p>
        </p:txBody>
      </p:sp>
      <p:sp>
        <p:nvSpPr>
          <p:cNvPr id="21" name="Text 18"/>
          <p:cNvSpPr/>
          <p:nvPr/>
        </p:nvSpPr>
        <p:spPr>
          <a:xfrm>
            <a:off x="3470225" y="3438153"/>
            <a:ext cx="2770175" cy="320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Protected accounts and safe handling</a:t>
            </a:r>
            <a:endParaRPr lang="en-US" sz="940" dirty="0"/>
          </a:p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 user data.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6034050" y="2937904"/>
            <a:ext cx="2562225" cy="1004887"/>
          </a:xfrm>
          <a:prstGeom prst="roundRect">
            <a:avLst>
              <a:gd name="adj" fmla="val 10009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3" name="Text 20"/>
          <p:cNvSpPr/>
          <p:nvPr/>
        </p:nvSpPr>
        <p:spPr>
          <a:xfrm>
            <a:off x="6213425" y="3134916"/>
            <a:ext cx="180482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Maintainability</a:t>
            </a:r>
            <a:endParaRPr lang="en-US" sz="1370" dirty="0"/>
          </a:p>
        </p:txBody>
      </p:sp>
      <p:sp>
        <p:nvSpPr>
          <p:cNvPr id="24" name="Text 21"/>
          <p:cNvSpPr/>
          <p:nvPr/>
        </p:nvSpPr>
        <p:spPr>
          <a:xfrm>
            <a:off x="6213425" y="3438153"/>
            <a:ext cx="2896322" cy="320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Component-based code that is easy to</a:t>
            </a:r>
            <a:endParaRPr lang="en-US" sz="940" dirty="0"/>
          </a:p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extend and test.</a:t>
            </a:r>
            <a:endParaRPr lang="en-US" sz="9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74953" y="-1568723"/>
            <a:ext cx="4943475" cy="49434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580" y="369540"/>
            <a:ext cx="78413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 / 28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48580" y="534665"/>
            <a:ext cx="6122640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600" b="1" kern="0" spc="-90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49511" y="1167631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Shape 4"/>
          <p:cNvSpPr/>
          <p:nvPr/>
        </p:nvSpPr>
        <p:spPr>
          <a:xfrm>
            <a:off x="547688" y="1594656"/>
            <a:ext cx="8048625" cy="776287"/>
          </a:xfrm>
          <a:prstGeom prst="roundRect">
            <a:avLst>
              <a:gd name="adj" fmla="val 11779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Text 5"/>
          <p:cNvSpPr/>
          <p:nvPr/>
        </p:nvSpPr>
        <p:spPr>
          <a:xfrm>
            <a:off x="736178" y="1706835"/>
            <a:ext cx="195583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198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PRESENTATION LAYER</a:t>
            </a:r>
            <a:endParaRPr lang="en-US" sz="790" dirty="0"/>
          </a:p>
        </p:txBody>
      </p:sp>
      <p:sp>
        <p:nvSpPr>
          <p:cNvPr id="9" name="Shape 6"/>
          <p:cNvSpPr/>
          <p:nvPr/>
        </p:nvSpPr>
        <p:spPr>
          <a:xfrm>
            <a:off x="735099" y="1925166"/>
            <a:ext cx="1824037" cy="338137"/>
          </a:xfrm>
          <a:prstGeom prst="roundRect">
            <a:avLst>
              <a:gd name="adj" fmla="val 18930"/>
            </a:avLst>
          </a:prstGeom>
          <a:solidFill>
            <a:srgbClr val="0A0820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0" name="Text 7"/>
          <p:cNvSpPr/>
          <p:nvPr/>
        </p:nvSpPr>
        <p:spPr>
          <a:xfrm>
            <a:off x="797187" y="2011189"/>
            <a:ext cx="169986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React UI Components</a:t>
            </a:r>
            <a:endParaRPr lang="en-US" sz="970" dirty="0"/>
          </a:p>
        </p:txBody>
      </p:sp>
      <p:sp>
        <p:nvSpPr>
          <p:cNvPr id="11" name="Shape 8"/>
          <p:cNvSpPr/>
          <p:nvPr/>
        </p:nvSpPr>
        <p:spPr>
          <a:xfrm>
            <a:off x="2685008" y="1925166"/>
            <a:ext cx="1824037" cy="338137"/>
          </a:xfrm>
          <a:prstGeom prst="roundRect">
            <a:avLst>
              <a:gd name="adj" fmla="val 18930"/>
            </a:avLst>
          </a:prstGeom>
          <a:solidFill>
            <a:srgbClr val="0A0820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2" name="Text 9"/>
          <p:cNvSpPr/>
          <p:nvPr/>
        </p:nvSpPr>
        <p:spPr>
          <a:xfrm>
            <a:off x="2959194" y="2011189"/>
            <a:ext cx="127566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Routing &amp; Pages</a:t>
            </a:r>
            <a:endParaRPr lang="en-US" sz="970" dirty="0"/>
          </a:p>
        </p:txBody>
      </p:sp>
      <p:sp>
        <p:nvSpPr>
          <p:cNvPr id="13" name="Shape 10"/>
          <p:cNvSpPr/>
          <p:nvPr/>
        </p:nvSpPr>
        <p:spPr>
          <a:xfrm>
            <a:off x="4634917" y="1925166"/>
            <a:ext cx="1824037" cy="338137"/>
          </a:xfrm>
          <a:prstGeom prst="roundRect">
            <a:avLst>
              <a:gd name="adj" fmla="val 18930"/>
            </a:avLst>
          </a:prstGeom>
          <a:solidFill>
            <a:srgbClr val="0A0820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4" name="Text 11"/>
          <p:cNvSpPr/>
          <p:nvPr/>
        </p:nvSpPr>
        <p:spPr>
          <a:xfrm>
            <a:off x="5049132" y="2011189"/>
            <a:ext cx="99560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Audio Player</a:t>
            </a:r>
            <a:endParaRPr lang="en-US" sz="970" dirty="0"/>
          </a:p>
        </p:txBody>
      </p:sp>
      <p:sp>
        <p:nvSpPr>
          <p:cNvPr id="15" name="Shape 12"/>
          <p:cNvSpPr/>
          <p:nvPr/>
        </p:nvSpPr>
        <p:spPr>
          <a:xfrm>
            <a:off x="6584826" y="1925166"/>
            <a:ext cx="1824037" cy="338137"/>
          </a:xfrm>
          <a:prstGeom prst="roundRect">
            <a:avLst>
              <a:gd name="adj" fmla="val 18930"/>
            </a:avLst>
          </a:prstGeom>
          <a:solidFill>
            <a:srgbClr val="0A0820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6" name="Text 13"/>
          <p:cNvSpPr/>
          <p:nvPr/>
        </p:nvSpPr>
        <p:spPr>
          <a:xfrm>
            <a:off x="6812008" y="2011189"/>
            <a:ext cx="136959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Dashboard Views</a:t>
            </a:r>
            <a:endParaRPr lang="en-US" sz="970" dirty="0"/>
          </a:p>
        </p:txBody>
      </p:sp>
      <p:sp>
        <p:nvSpPr>
          <p:cNvPr id="17" name="Text 14"/>
          <p:cNvSpPr/>
          <p:nvPr/>
        </p:nvSpPr>
        <p:spPr>
          <a:xfrm>
            <a:off x="4509269" y="2450157"/>
            <a:ext cx="22015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↓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7688" y="2723294"/>
            <a:ext cx="8048625" cy="776287"/>
          </a:xfrm>
          <a:prstGeom prst="roundRect">
            <a:avLst>
              <a:gd name="adj" fmla="val 11779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9" name="Text 16"/>
          <p:cNvSpPr/>
          <p:nvPr/>
        </p:nvSpPr>
        <p:spPr>
          <a:xfrm>
            <a:off x="736178" y="2835473"/>
            <a:ext cx="243797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198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APPLICATION LOGIC LAYER</a:t>
            </a:r>
            <a:endParaRPr lang="en-US" sz="790" dirty="0"/>
          </a:p>
        </p:txBody>
      </p:sp>
      <p:sp>
        <p:nvSpPr>
          <p:cNvPr id="20" name="Shape 17"/>
          <p:cNvSpPr/>
          <p:nvPr/>
        </p:nvSpPr>
        <p:spPr>
          <a:xfrm>
            <a:off x="735099" y="3053804"/>
            <a:ext cx="1824037" cy="338137"/>
          </a:xfrm>
          <a:prstGeom prst="roundRect">
            <a:avLst>
              <a:gd name="adj" fmla="val 18930"/>
            </a:avLst>
          </a:prstGeom>
          <a:solidFill>
            <a:srgbClr val="0A0820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1" name="Text 18"/>
          <p:cNvSpPr/>
          <p:nvPr/>
        </p:nvSpPr>
        <p:spPr>
          <a:xfrm>
            <a:off x="1055575" y="3139827"/>
            <a:ext cx="118308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 Service</a:t>
            </a:r>
            <a:endParaRPr lang="en-US" sz="970" dirty="0"/>
          </a:p>
        </p:txBody>
      </p:sp>
      <p:sp>
        <p:nvSpPr>
          <p:cNvPr id="22" name="Shape 19"/>
          <p:cNvSpPr/>
          <p:nvPr/>
        </p:nvSpPr>
        <p:spPr>
          <a:xfrm>
            <a:off x="2685008" y="3053804"/>
            <a:ext cx="1824037" cy="338137"/>
          </a:xfrm>
          <a:prstGeom prst="roundRect">
            <a:avLst>
              <a:gd name="adj" fmla="val 18930"/>
            </a:avLst>
          </a:prstGeom>
          <a:solidFill>
            <a:srgbClr val="0A0820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3" name="Text 20"/>
          <p:cNvSpPr/>
          <p:nvPr/>
        </p:nvSpPr>
        <p:spPr>
          <a:xfrm>
            <a:off x="2626705" y="3139827"/>
            <a:ext cx="194064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Recommendation Engine</a:t>
            </a:r>
            <a:endParaRPr lang="en-US" sz="970" dirty="0"/>
          </a:p>
        </p:txBody>
      </p:sp>
      <p:sp>
        <p:nvSpPr>
          <p:cNvPr id="24" name="Shape 21"/>
          <p:cNvSpPr/>
          <p:nvPr/>
        </p:nvSpPr>
        <p:spPr>
          <a:xfrm>
            <a:off x="4634917" y="3053804"/>
            <a:ext cx="1824037" cy="338137"/>
          </a:xfrm>
          <a:prstGeom prst="roundRect">
            <a:avLst>
              <a:gd name="adj" fmla="val 18930"/>
            </a:avLst>
          </a:prstGeom>
          <a:solidFill>
            <a:srgbClr val="0A0820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5" name="Text 22"/>
          <p:cNvSpPr/>
          <p:nvPr/>
        </p:nvSpPr>
        <p:spPr>
          <a:xfrm>
            <a:off x="4767925" y="3139827"/>
            <a:ext cx="155794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Analytics Processor</a:t>
            </a:r>
            <a:endParaRPr lang="en-US" sz="970" dirty="0"/>
          </a:p>
        </p:txBody>
      </p:sp>
      <p:sp>
        <p:nvSpPr>
          <p:cNvPr id="26" name="Shape 23"/>
          <p:cNvSpPr/>
          <p:nvPr/>
        </p:nvSpPr>
        <p:spPr>
          <a:xfrm>
            <a:off x="6584826" y="3053804"/>
            <a:ext cx="1824037" cy="338137"/>
          </a:xfrm>
          <a:prstGeom prst="roundRect">
            <a:avLst>
              <a:gd name="adj" fmla="val 18930"/>
            </a:avLst>
          </a:prstGeom>
          <a:solidFill>
            <a:srgbClr val="0A0820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7" name="Text 24"/>
          <p:cNvSpPr/>
          <p:nvPr/>
        </p:nvSpPr>
        <p:spPr>
          <a:xfrm>
            <a:off x="6875082" y="3139827"/>
            <a:ext cx="124345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Session &amp; State</a:t>
            </a:r>
            <a:endParaRPr lang="en-US" sz="970" dirty="0"/>
          </a:p>
        </p:txBody>
      </p:sp>
      <p:sp>
        <p:nvSpPr>
          <p:cNvPr id="28" name="Text 25"/>
          <p:cNvSpPr/>
          <p:nvPr/>
        </p:nvSpPr>
        <p:spPr>
          <a:xfrm>
            <a:off x="4509269" y="3578796"/>
            <a:ext cx="22015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↓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47688" y="3851932"/>
            <a:ext cx="8048625" cy="776287"/>
          </a:xfrm>
          <a:prstGeom prst="roundRect">
            <a:avLst>
              <a:gd name="adj" fmla="val 11779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0" name="Text 27"/>
          <p:cNvSpPr/>
          <p:nvPr/>
        </p:nvSpPr>
        <p:spPr>
          <a:xfrm>
            <a:off x="736178" y="3964112"/>
            <a:ext cx="110182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198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LAYER</a:t>
            </a:r>
            <a:endParaRPr lang="en-US" sz="790" dirty="0"/>
          </a:p>
        </p:txBody>
      </p:sp>
      <p:sp>
        <p:nvSpPr>
          <p:cNvPr id="31" name="Shape 28"/>
          <p:cNvSpPr/>
          <p:nvPr/>
        </p:nvSpPr>
        <p:spPr>
          <a:xfrm>
            <a:off x="736253" y="4182442"/>
            <a:ext cx="2471738" cy="338137"/>
          </a:xfrm>
          <a:prstGeom prst="roundRect">
            <a:avLst>
              <a:gd name="adj" fmla="val 18930"/>
            </a:avLst>
          </a:prstGeom>
          <a:solidFill>
            <a:srgbClr val="0A0820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2" name="Text 29"/>
          <p:cNvSpPr/>
          <p:nvPr/>
        </p:nvSpPr>
        <p:spPr>
          <a:xfrm>
            <a:off x="1352583" y="4268465"/>
            <a:ext cx="123900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Users &amp; Profiles</a:t>
            </a:r>
            <a:endParaRPr lang="en-US" sz="970" dirty="0"/>
          </a:p>
        </p:txBody>
      </p:sp>
      <p:sp>
        <p:nvSpPr>
          <p:cNvPr id="33" name="Shape 30"/>
          <p:cNvSpPr/>
          <p:nvPr/>
        </p:nvSpPr>
        <p:spPr>
          <a:xfrm>
            <a:off x="3336131" y="4182442"/>
            <a:ext cx="2471738" cy="338137"/>
          </a:xfrm>
          <a:prstGeom prst="roundRect">
            <a:avLst>
              <a:gd name="adj" fmla="val 18930"/>
            </a:avLst>
          </a:prstGeom>
          <a:solidFill>
            <a:srgbClr val="0A0820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4" name="Text 31"/>
          <p:cNvSpPr/>
          <p:nvPr/>
        </p:nvSpPr>
        <p:spPr>
          <a:xfrm>
            <a:off x="3925848" y="4268465"/>
            <a:ext cx="129230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Podcast Catalog</a:t>
            </a:r>
            <a:endParaRPr lang="en-US" sz="970" dirty="0"/>
          </a:p>
        </p:txBody>
      </p:sp>
      <p:sp>
        <p:nvSpPr>
          <p:cNvPr id="35" name="Shape 32"/>
          <p:cNvSpPr/>
          <p:nvPr/>
        </p:nvSpPr>
        <p:spPr>
          <a:xfrm>
            <a:off x="5936010" y="4182442"/>
            <a:ext cx="2471738" cy="338137"/>
          </a:xfrm>
          <a:prstGeom prst="roundRect">
            <a:avLst>
              <a:gd name="adj" fmla="val 18930"/>
            </a:avLst>
          </a:prstGeom>
          <a:solidFill>
            <a:srgbClr val="0A0820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6" name="Text 33"/>
          <p:cNvSpPr/>
          <p:nvPr/>
        </p:nvSpPr>
        <p:spPr>
          <a:xfrm>
            <a:off x="6197214" y="4268465"/>
            <a:ext cx="194925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History &amp; Analytics Store</a:t>
            </a:r>
            <a:endParaRPr lang="en-US" sz="97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3048" y="1689757"/>
            <a:ext cx="5124450" cy="5124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580" y="369540"/>
            <a:ext cx="78684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 / 28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48580" y="534665"/>
            <a:ext cx="5308394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600" b="1" kern="0" spc="-90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49511" y="1167631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Shape 4"/>
          <p:cNvSpPr/>
          <p:nvPr/>
        </p:nvSpPr>
        <p:spPr>
          <a:xfrm>
            <a:off x="547650" y="1749809"/>
            <a:ext cx="1876425" cy="1514475"/>
          </a:xfrm>
          <a:prstGeom prst="roundRect">
            <a:avLst>
              <a:gd name="adj" fmla="val 7245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Text 5"/>
          <p:cNvSpPr/>
          <p:nvPr/>
        </p:nvSpPr>
        <p:spPr>
          <a:xfrm>
            <a:off x="736178" y="1941091"/>
            <a:ext cx="114787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198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FRAMEWORK</a:t>
            </a:r>
            <a:endParaRPr lang="en-US" sz="790" dirty="0"/>
          </a:p>
        </p:txBody>
      </p:sp>
      <p:sp>
        <p:nvSpPr>
          <p:cNvPr id="9" name="Text 6"/>
          <p:cNvSpPr/>
          <p:nvPr/>
        </p:nvSpPr>
        <p:spPr>
          <a:xfrm>
            <a:off x="736178" y="2187773"/>
            <a:ext cx="98632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187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React</a:t>
            </a:r>
            <a:endParaRPr lang="en-US" sz="1870" dirty="0"/>
          </a:p>
        </p:txBody>
      </p:sp>
      <p:sp>
        <p:nvSpPr>
          <p:cNvPr id="10" name="Text 7"/>
          <p:cNvSpPr/>
          <p:nvPr/>
        </p:nvSpPr>
        <p:spPr>
          <a:xfrm>
            <a:off x="736178" y="2587749"/>
            <a:ext cx="1961637" cy="48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Component-based UI with</a:t>
            </a:r>
            <a:endParaRPr lang="en-US" sz="940" dirty="0"/>
          </a:p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declarative, reusable</a:t>
            </a:r>
            <a:endParaRPr lang="en-US" sz="940" dirty="0"/>
          </a:p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structure.</a:t>
            </a:r>
            <a:endParaRPr lang="en-US" sz="940" dirty="0"/>
          </a:p>
        </p:txBody>
      </p:sp>
      <p:sp>
        <p:nvSpPr>
          <p:cNvPr id="11" name="Shape 8"/>
          <p:cNvSpPr/>
          <p:nvPr/>
        </p:nvSpPr>
        <p:spPr>
          <a:xfrm>
            <a:off x="2605050" y="1749809"/>
            <a:ext cx="1876425" cy="1514475"/>
          </a:xfrm>
          <a:prstGeom prst="roundRect">
            <a:avLst>
              <a:gd name="adj" fmla="val 7245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2" name="Text 9"/>
          <p:cNvSpPr/>
          <p:nvPr/>
        </p:nvSpPr>
        <p:spPr>
          <a:xfrm>
            <a:off x="2793578" y="1941091"/>
            <a:ext cx="111246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198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TOOL</a:t>
            </a:r>
            <a:endParaRPr lang="en-US" sz="790" dirty="0"/>
          </a:p>
        </p:txBody>
      </p:sp>
      <p:sp>
        <p:nvSpPr>
          <p:cNvPr id="13" name="Text 10"/>
          <p:cNvSpPr/>
          <p:nvPr/>
        </p:nvSpPr>
        <p:spPr>
          <a:xfrm>
            <a:off x="2793578" y="2187773"/>
            <a:ext cx="71719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187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Vite</a:t>
            </a:r>
            <a:endParaRPr lang="en-US" sz="1870" dirty="0"/>
          </a:p>
        </p:txBody>
      </p:sp>
      <p:sp>
        <p:nvSpPr>
          <p:cNvPr id="14" name="Text 11"/>
          <p:cNvSpPr/>
          <p:nvPr/>
        </p:nvSpPr>
        <p:spPr>
          <a:xfrm>
            <a:off x="2793578" y="2587749"/>
            <a:ext cx="1603318" cy="48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 dev server and</a:t>
            </a:r>
            <a:endParaRPr lang="en-US" sz="940" dirty="0"/>
          </a:p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optimized production</a:t>
            </a:r>
            <a:endParaRPr lang="en-US" sz="940" dirty="0"/>
          </a:p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bundling.</a:t>
            </a:r>
            <a:endParaRPr lang="en-US" sz="940" dirty="0"/>
          </a:p>
        </p:txBody>
      </p:sp>
      <p:sp>
        <p:nvSpPr>
          <p:cNvPr id="15" name="Shape 12"/>
          <p:cNvSpPr/>
          <p:nvPr/>
        </p:nvSpPr>
        <p:spPr>
          <a:xfrm>
            <a:off x="4662450" y="1749809"/>
            <a:ext cx="1876425" cy="1514475"/>
          </a:xfrm>
          <a:prstGeom prst="roundRect">
            <a:avLst>
              <a:gd name="adj" fmla="val 7245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6" name="Text 13"/>
          <p:cNvSpPr/>
          <p:nvPr/>
        </p:nvSpPr>
        <p:spPr>
          <a:xfrm>
            <a:off x="4850978" y="1941091"/>
            <a:ext cx="99986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198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LANGUAGE</a:t>
            </a:r>
            <a:endParaRPr lang="en-US" sz="790" dirty="0"/>
          </a:p>
        </p:txBody>
      </p:sp>
      <p:sp>
        <p:nvSpPr>
          <p:cNvPr id="17" name="Text 14"/>
          <p:cNvSpPr/>
          <p:nvPr/>
        </p:nvSpPr>
        <p:spPr>
          <a:xfrm>
            <a:off x="4850978" y="2187773"/>
            <a:ext cx="179147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187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JavaScript</a:t>
            </a:r>
            <a:endParaRPr lang="en-US" sz="1870" dirty="0"/>
          </a:p>
        </p:txBody>
      </p:sp>
      <p:sp>
        <p:nvSpPr>
          <p:cNvPr id="18" name="Text 15"/>
          <p:cNvSpPr/>
          <p:nvPr/>
        </p:nvSpPr>
        <p:spPr>
          <a:xfrm>
            <a:off x="4850978" y="2587749"/>
            <a:ext cx="1680418" cy="48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Application logic, state</a:t>
            </a:r>
            <a:endParaRPr lang="en-US" sz="940" dirty="0"/>
          </a:p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handling, and data</a:t>
            </a:r>
            <a:endParaRPr lang="en-US" sz="940" dirty="0"/>
          </a:p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processing.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6719888" y="1749809"/>
            <a:ext cx="1876425" cy="1514475"/>
          </a:xfrm>
          <a:prstGeom prst="roundRect">
            <a:avLst>
              <a:gd name="adj" fmla="val 7245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0" name="Text 17"/>
          <p:cNvSpPr/>
          <p:nvPr/>
        </p:nvSpPr>
        <p:spPr>
          <a:xfrm>
            <a:off x="6908378" y="1941091"/>
            <a:ext cx="79758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198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STYLING</a:t>
            </a:r>
            <a:endParaRPr lang="en-US" sz="790" dirty="0"/>
          </a:p>
        </p:txBody>
      </p:sp>
      <p:sp>
        <p:nvSpPr>
          <p:cNvPr id="21" name="Text 18"/>
          <p:cNvSpPr/>
          <p:nvPr/>
        </p:nvSpPr>
        <p:spPr>
          <a:xfrm>
            <a:off x="6908378" y="2187773"/>
            <a:ext cx="712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187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CSS</a:t>
            </a:r>
            <a:endParaRPr lang="en-US" sz="1870" dirty="0"/>
          </a:p>
        </p:txBody>
      </p:sp>
      <p:sp>
        <p:nvSpPr>
          <p:cNvPr id="22" name="Text 19"/>
          <p:cNvSpPr/>
          <p:nvPr/>
        </p:nvSpPr>
        <p:spPr>
          <a:xfrm>
            <a:off x="6908378" y="2587749"/>
            <a:ext cx="1776189" cy="48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Responsive layouts,</a:t>
            </a:r>
            <a:endParaRPr lang="en-US" sz="940" dirty="0"/>
          </a:p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theming, and the design</a:t>
            </a:r>
            <a:endParaRPr lang="en-US" sz="940" dirty="0"/>
          </a:p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system.</a:t>
            </a:r>
            <a:endParaRPr lang="en-US" sz="940" dirty="0"/>
          </a:p>
        </p:txBody>
      </p:sp>
      <p:sp>
        <p:nvSpPr>
          <p:cNvPr id="23" name="Shape 20"/>
          <p:cNvSpPr/>
          <p:nvPr/>
        </p:nvSpPr>
        <p:spPr>
          <a:xfrm>
            <a:off x="547650" y="4050320"/>
            <a:ext cx="2562225" cy="681038"/>
          </a:xfrm>
          <a:prstGeom prst="rect">
            <a:avLst/>
          </a:prstGeom>
          <a:ln/>
        </p:spPr>
        <p:txBody>
          <a:bodyPr/>
          <a:lstStyle/>
          <a:p>
            <a:endParaRPr lang="ar-EG"/>
          </a:p>
        </p:txBody>
      </p:sp>
      <p:sp>
        <p:nvSpPr>
          <p:cNvPr id="24" name="Text 21"/>
          <p:cNvSpPr/>
          <p:nvPr/>
        </p:nvSpPr>
        <p:spPr>
          <a:xfrm>
            <a:off x="548580" y="4171504"/>
            <a:ext cx="251575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Component Architecture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48580" y="4422502"/>
            <a:ext cx="303833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Reusable, isolated UI pieces composed into</a:t>
            </a:r>
            <a:endParaRPr lang="en-US" sz="900" dirty="0"/>
          </a:p>
          <a:p>
            <a:pPr marL="0" indent="0" algn="l">
              <a:lnSpc>
                <a:spcPts val="1238"/>
              </a:lnSpc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pages.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290850" y="4050320"/>
            <a:ext cx="2562225" cy="681038"/>
          </a:xfrm>
          <a:prstGeom prst="rect">
            <a:avLst/>
          </a:prstGeom>
          <a:ln/>
        </p:spPr>
        <p:txBody>
          <a:bodyPr/>
          <a:lstStyle/>
          <a:p>
            <a:endParaRPr lang="ar-EG"/>
          </a:p>
        </p:txBody>
      </p:sp>
      <p:sp>
        <p:nvSpPr>
          <p:cNvPr id="27" name="Text 24"/>
          <p:cNvSpPr/>
          <p:nvPr/>
        </p:nvSpPr>
        <p:spPr>
          <a:xfrm>
            <a:off x="3291780" y="4171504"/>
            <a:ext cx="200797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Client-Side Routing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3291780" y="4422502"/>
            <a:ext cx="3035238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Instant navigation without full page reloads.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034050" y="4050320"/>
            <a:ext cx="2562225" cy="681038"/>
          </a:xfrm>
          <a:prstGeom prst="rect">
            <a:avLst/>
          </a:prstGeom>
          <a:ln/>
        </p:spPr>
        <p:txBody>
          <a:bodyPr/>
          <a:lstStyle/>
          <a:p>
            <a:endParaRPr lang="ar-EG"/>
          </a:p>
        </p:txBody>
      </p:sp>
      <p:sp>
        <p:nvSpPr>
          <p:cNvPr id="30" name="Text 27"/>
          <p:cNvSpPr/>
          <p:nvPr/>
        </p:nvSpPr>
        <p:spPr>
          <a:xfrm>
            <a:off x="6034980" y="4171504"/>
            <a:ext cx="190446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State Management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6034980" y="4422502"/>
            <a:ext cx="3311619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Centralized playback, auth, and user data state.</a:t>
            </a:r>
            <a:endParaRPr lang="en-US" sz="900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7650" y="4050320"/>
            <a:ext cx="2562225" cy="681038"/>
          </a:xfrm>
          <a:prstGeom prst="rect">
            <a:avLst/>
          </a:prstGeom>
        </p:spPr>
      </p:pic>
      <p:pic>
        <p:nvPicPr>
          <p:cNvPr id="3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90850" y="4050320"/>
            <a:ext cx="2562225" cy="681038"/>
          </a:xfrm>
          <a:prstGeom prst="rect">
            <a:avLst/>
          </a:prstGeom>
        </p:spPr>
      </p:pic>
      <p:pic>
        <p:nvPicPr>
          <p:cNvPr id="3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34050" y="4050320"/>
            <a:ext cx="2562225" cy="68103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74428" y="-1568723"/>
            <a:ext cx="4943475" cy="49434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580" y="369540"/>
            <a:ext cx="79052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 / 28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48580" y="534665"/>
            <a:ext cx="5046814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600" b="1" kern="0" spc="-90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Database Design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49511" y="1167631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Shape 4"/>
          <p:cNvSpPr/>
          <p:nvPr/>
        </p:nvSpPr>
        <p:spPr>
          <a:xfrm>
            <a:off x="547650" y="1595326"/>
            <a:ext cx="2562225" cy="1319213"/>
          </a:xfrm>
          <a:prstGeom prst="roundRect">
            <a:avLst>
              <a:gd name="adj" fmla="val 6931"/>
            </a:avLst>
          </a:prstGeom>
          <a:solidFill>
            <a:srgbClr val="14102E"/>
          </a:solidFill>
          <a:ln w="4763">
            <a:solidFill>
              <a:srgbClr val="7C3AED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Shape 5"/>
          <p:cNvSpPr/>
          <p:nvPr/>
        </p:nvSpPr>
        <p:spPr>
          <a:xfrm>
            <a:off x="552413" y="1599195"/>
            <a:ext cx="2552700" cy="342900"/>
          </a:xfrm>
          <a:prstGeom prst="rect">
            <a:avLst/>
          </a:prstGeom>
          <a:solidFill>
            <a:srgbClr val="7D3CEB">
              <a:alpha val="20000"/>
            </a:srgbClr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9" name="Text 6"/>
          <p:cNvSpPr/>
          <p:nvPr/>
        </p:nvSpPr>
        <p:spPr>
          <a:xfrm>
            <a:off x="681335" y="1675209"/>
            <a:ext cx="61155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7C3AE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Users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81335" y="2023542"/>
            <a:ext cx="795650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PK</a:t>
            </a: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user_id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81335" y="2241277"/>
            <a:ext cx="915025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65"/>
              </a:spcAft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 · email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81335" y="2459013"/>
            <a:ext cx="1145746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65"/>
              </a:spcAft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password_hash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81335" y="2676748"/>
            <a:ext cx="1192567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role · created_at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290850" y="1595326"/>
            <a:ext cx="2562225" cy="1319213"/>
          </a:xfrm>
          <a:prstGeom prst="roundRect">
            <a:avLst>
              <a:gd name="adj" fmla="val 6931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5" name="Shape 12"/>
          <p:cNvSpPr/>
          <p:nvPr/>
        </p:nvSpPr>
        <p:spPr>
          <a:xfrm>
            <a:off x="3295613" y="1599195"/>
            <a:ext cx="2552700" cy="342900"/>
          </a:xfrm>
          <a:prstGeom prst="rect">
            <a:avLst/>
          </a:prstGeom>
          <a:solidFill>
            <a:srgbClr val="2A2350">
              <a:alpha val="40000"/>
            </a:srgbClr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6" name="Text 13"/>
          <p:cNvSpPr/>
          <p:nvPr/>
        </p:nvSpPr>
        <p:spPr>
          <a:xfrm>
            <a:off x="3424535" y="1675209"/>
            <a:ext cx="96078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Podcasts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3424535" y="2023542"/>
            <a:ext cx="1066324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PK</a:t>
            </a: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podcast_id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424535" y="2241277"/>
            <a:ext cx="738478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65"/>
              </a:spcAft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title · host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424535" y="2459013"/>
            <a:ext cx="1560366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65"/>
              </a:spcAft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category · description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424535" y="2676748"/>
            <a:ext cx="711875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cover_url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034050" y="1595326"/>
            <a:ext cx="2562225" cy="1319213"/>
          </a:xfrm>
          <a:prstGeom prst="roundRect">
            <a:avLst>
              <a:gd name="adj" fmla="val 6931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2" name="Shape 19"/>
          <p:cNvSpPr/>
          <p:nvPr/>
        </p:nvSpPr>
        <p:spPr>
          <a:xfrm>
            <a:off x="6038813" y="1599195"/>
            <a:ext cx="2552700" cy="342900"/>
          </a:xfrm>
          <a:prstGeom prst="rect">
            <a:avLst/>
          </a:prstGeom>
          <a:solidFill>
            <a:srgbClr val="2A2350">
              <a:alpha val="40000"/>
            </a:srgbClr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3" name="Text 20"/>
          <p:cNvSpPr/>
          <p:nvPr/>
        </p:nvSpPr>
        <p:spPr>
          <a:xfrm>
            <a:off x="6167735" y="1675209"/>
            <a:ext cx="95410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Episodes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167735" y="2023542"/>
            <a:ext cx="1049975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PK</a:t>
            </a: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episode_id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167735" y="2241277"/>
            <a:ext cx="1059649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FK</a:t>
            </a: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podcast_id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167735" y="2459013"/>
            <a:ext cx="1014666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65"/>
              </a:spcAft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title · duration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167735" y="2676748"/>
            <a:ext cx="1732560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audio_url · published_at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47650" y="3099085"/>
            <a:ext cx="2562225" cy="1319213"/>
          </a:xfrm>
          <a:prstGeom prst="roundRect">
            <a:avLst>
              <a:gd name="adj" fmla="val 6931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9" name="Shape 26"/>
          <p:cNvSpPr/>
          <p:nvPr/>
        </p:nvSpPr>
        <p:spPr>
          <a:xfrm>
            <a:off x="552413" y="3102955"/>
            <a:ext cx="2552700" cy="342900"/>
          </a:xfrm>
          <a:prstGeom prst="rect">
            <a:avLst/>
          </a:prstGeom>
          <a:solidFill>
            <a:srgbClr val="2A2350">
              <a:alpha val="40000"/>
            </a:srgbClr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30" name="Text 27"/>
          <p:cNvSpPr/>
          <p:nvPr/>
        </p:nvSpPr>
        <p:spPr>
          <a:xfrm>
            <a:off x="681335" y="3178969"/>
            <a:ext cx="95314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Favorites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681335" y="3527301"/>
            <a:ext cx="1016020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PK</a:t>
            </a: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favorite_id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81335" y="3745037"/>
            <a:ext cx="788975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FK</a:t>
            </a: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user_id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81335" y="3962772"/>
            <a:ext cx="1059649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FK</a:t>
            </a: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podcast_id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81335" y="4180508"/>
            <a:ext cx="737027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added_at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3290850" y="3099085"/>
            <a:ext cx="2562225" cy="1319213"/>
          </a:xfrm>
          <a:prstGeom prst="roundRect">
            <a:avLst>
              <a:gd name="adj" fmla="val 6931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6" name="Shape 33"/>
          <p:cNvSpPr/>
          <p:nvPr/>
        </p:nvSpPr>
        <p:spPr>
          <a:xfrm>
            <a:off x="3295613" y="3102955"/>
            <a:ext cx="2552700" cy="342900"/>
          </a:xfrm>
          <a:prstGeom prst="rect">
            <a:avLst/>
          </a:prstGeom>
          <a:solidFill>
            <a:srgbClr val="2A2350">
              <a:alpha val="40000"/>
            </a:srgbClr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37" name="Text 34"/>
          <p:cNvSpPr/>
          <p:nvPr/>
        </p:nvSpPr>
        <p:spPr>
          <a:xfrm>
            <a:off x="3424535" y="3178969"/>
            <a:ext cx="168467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ListeningHistory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3424535" y="3527301"/>
            <a:ext cx="970843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PK</a:t>
            </a: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history_id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3424535" y="3745037"/>
            <a:ext cx="788975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FK</a:t>
            </a: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user_id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3424535" y="3962772"/>
            <a:ext cx="1043300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FK</a:t>
            </a: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episode_id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3424535" y="4180508"/>
            <a:ext cx="1457533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progress · played_at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034050" y="3099085"/>
            <a:ext cx="2562225" cy="1319213"/>
          </a:xfrm>
          <a:prstGeom prst="roundRect">
            <a:avLst>
              <a:gd name="adj" fmla="val 6931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3" name="Shape 40"/>
          <p:cNvSpPr/>
          <p:nvPr/>
        </p:nvSpPr>
        <p:spPr>
          <a:xfrm>
            <a:off x="6038813" y="3102955"/>
            <a:ext cx="2552700" cy="342900"/>
          </a:xfrm>
          <a:prstGeom prst="rect">
            <a:avLst/>
          </a:prstGeom>
          <a:solidFill>
            <a:srgbClr val="2A2350">
              <a:alpha val="40000"/>
            </a:srgbClr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44" name="Text 41"/>
          <p:cNvSpPr/>
          <p:nvPr/>
        </p:nvSpPr>
        <p:spPr>
          <a:xfrm>
            <a:off x="6167735" y="3178969"/>
            <a:ext cx="97026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Analytics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6167735" y="3527301"/>
            <a:ext cx="944724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PK</a:t>
            </a: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metric_id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167735" y="3745037"/>
            <a:ext cx="788975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FK</a:t>
            </a: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user_id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6167735" y="3962772"/>
            <a:ext cx="1328871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65"/>
              </a:spcAft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category · minutes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6167735" y="4180508"/>
            <a:ext cx="506499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period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548580" y="4487987"/>
            <a:ext cx="10106226" cy="335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3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Relationships: a user has many favorites, history entries, and analytics rows; a podcast has many episodes; each history entry references one</a:t>
            </a:r>
            <a:endParaRPr lang="en-US" sz="940" dirty="0"/>
          </a:p>
          <a:p>
            <a:pPr marL="0" indent="0" algn="l">
              <a:lnSpc>
                <a:spcPts val="1403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episode.</a:t>
            </a:r>
            <a:endParaRPr lang="en-US" sz="940" dirty="0"/>
          </a:p>
        </p:txBody>
      </p:sp>
      <p:pic>
        <p:nvPicPr>
          <p:cNvPr id="5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7688" y="4371901"/>
            <a:ext cx="8048625" cy="46196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3048" y="1689757"/>
            <a:ext cx="5124450" cy="5124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580" y="369540"/>
            <a:ext cx="78936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/ 28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48580" y="534665"/>
            <a:ext cx="2950495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600" b="1" kern="0" spc="-90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User Flow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49511" y="1167631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Shape 4"/>
          <p:cNvSpPr/>
          <p:nvPr/>
        </p:nvSpPr>
        <p:spPr>
          <a:xfrm>
            <a:off x="547613" y="2062497"/>
            <a:ext cx="1190625" cy="933450"/>
          </a:xfrm>
          <a:prstGeom prst="roundRect">
            <a:avLst>
              <a:gd name="adj" fmla="val 9796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Text 5"/>
          <p:cNvSpPr/>
          <p:nvPr/>
        </p:nvSpPr>
        <p:spPr>
          <a:xfrm>
            <a:off x="1073430" y="2227511"/>
            <a:ext cx="13899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57038" y="2493615"/>
            <a:ext cx="57170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405"/>
              </a:spcBef>
              <a:buNone/>
            </a:pPr>
            <a:r>
              <a:rPr lang="en-US" sz="10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Sign in</a:t>
            </a:r>
            <a:endParaRPr lang="en-US" sz="1010" dirty="0"/>
          </a:p>
        </p:txBody>
      </p:sp>
      <p:sp>
        <p:nvSpPr>
          <p:cNvPr id="10" name="Text 7"/>
          <p:cNvSpPr/>
          <p:nvPr/>
        </p:nvSpPr>
        <p:spPr>
          <a:xfrm>
            <a:off x="541757" y="2706886"/>
            <a:ext cx="120233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243"/>
              </a:spcBef>
              <a:buNone/>
            </a:pPr>
            <a:r>
              <a:rPr lang="en-US" sz="79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 browse as guest</a:t>
            </a:r>
            <a:endParaRPr lang="en-US" sz="790" dirty="0"/>
          </a:p>
        </p:txBody>
      </p:sp>
      <p:sp>
        <p:nvSpPr>
          <p:cNvPr id="11" name="Text 8"/>
          <p:cNvSpPr/>
          <p:nvPr/>
        </p:nvSpPr>
        <p:spPr>
          <a:xfrm>
            <a:off x="1923529" y="2406328"/>
            <a:ext cx="25633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440" dirty="0"/>
          </a:p>
        </p:txBody>
      </p:sp>
      <p:sp>
        <p:nvSpPr>
          <p:cNvPr id="12" name="Shape 9"/>
          <p:cNvSpPr/>
          <p:nvPr/>
        </p:nvSpPr>
        <p:spPr>
          <a:xfrm>
            <a:off x="2262039" y="2062497"/>
            <a:ext cx="1190625" cy="933450"/>
          </a:xfrm>
          <a:prstGeom prst="roundRect">
            <a:avLst>
              <a:gd name="adj" fmla="val 9796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3" name="Text 10"/>
          <p:cNvSpPr/>
          <p:nvPr/>
        </p:nvSpPr>
        <p:spPr>
          <a:xfrm>
            <a:off x="2768229" y="2227511"/>
            <a:ext cx="17817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2488644" y="2493615"/>
            <a:ext cx="73741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405"/>
              </a:spcBef>
              <a:buNone/>
            </a:pPr>
            <a:r>
              <a:rPr lang="en-US" sz="10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Discover</a:t>
            </a:r>
            <a:endParaRPr lang="en-US" sz="1010" dirty="0"/>
          </a:p>
        </p:txBody>
      </p:sp>
      <p:sp>
        <p:nvSpPr>
          <p:cNvPr id="15" name="Text 12"/>
          <p:cNvSpPr/>
          <p:nvPr/>
        </p:nvSpPr>
        <p:spPr>
          <a:xfrm>
            <a:off x="2306583" y="2706886"/>
            <a:ext cx="110153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243"/>
              </a:spcBef>
              <a:buNone/>
            </a:pPr>
            <a:r>
              <a:rPr lang="en-US" sz="79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 or browse</a:t>
            </a:r>
            <a:endParaRPr lang="en-US" sz="790" dirty="0"/>
          </a:p>
        </p:txBody>
      </p:sp>
      <p:sp>
        <p:nvSpPr>
          <p:cNvPr id="16" name="Text 13"/>
          <p:cNvSpPr/>
          <p:nvPr/>
        </p:nvSpPr>
        <p:spPr>
          <a:xfrm>
            <a:off x="3637955" y="2406328"/>
            <a:ext cx="25633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440" dirty="0"/>
          </a:p>
        </p:txBody>
      </p:sp>
      <p:sp>
        <p:nvSpPr>
          <p:cNvPr id="17" name="Shape 14"/>
          <p:cNvSpPr/>
          <p:nvPr/>
        </p:nvSpPr>
        <p:spPr>
          <a:xfrm>
            <a:off x="3976464" y="2062497"/>
            <a:ext cx="1190625" cy="933450"/>
          </a:xfrm>
          <a:prstGeom prst="roundRect">
            <a:avLst>
              <a:gd name="adj" fmla="val 9796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8" name="Text 15"/>
          <p:cNvSpPr/>
          <p:nvPr/>
        </p:nvSpPr>
        <p:spPr>
          <a:xfrm>
            <a:off x="4482461" y="2227511"/>
            <a:ext cx="17855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381757" y="2493615"/>
            <a:ext cx="37996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405"/>
              </a:spcBef>
              <a:buNone/>
            </a:pPr>
            <a:r>
              <a:rPr lang="en-US" sz="10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Play</a:t>
            </a:r>
            <a:endParaRPr lang="en-US" sz="1010" dirty="0"/>
          </a:p>
        </p:txBody>
      </p:sp>
      <p:sp>
        <p:nvSpPr>
          <p:cNvPr id="20" name="Text 17"/>
          <p:cNvSpPr/>
          <p:nvPr/>
        </p:nvSpPr>
        <p:spPr>
          <a:xfrm>
            <a:off x="3981164" y="2706886"/>
            <a:ext cx="118115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243"/>
              </a:spcBef>
              <a:buNone/>
            </a:pPr>
            <a:r>
              <a:rPr lang="en-US" sz="79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stream an episode</a:t>
            </a:r>
            <a:endParaRPr lang="en-US" sz="790" dirty="0"/>
          </a:p>
        </p:txBody>
      </p:sp>
      <p:sp>
        <p:nvSpPr>
          <p:cNvPr id="21" name="Text 18"/>
          <p:cNvSpPr/>
          <p:nvPr/>
        </p:nvSpPr>
        <p:spPr>
          <a:xfrm>
            <a:off x="5352380" y="2406328"/>
            <a:ext cx="25633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440" dirty="0"/>
          </a:p>
        </p:txBody>
      </p:sp>
      <p:sp>
        <p:nvSpPr>
          <p:cNvPr id="22" name="Shape 19"/>
          <p:cNvSpPr/>
          <p:nvPr/>
        </p:nvSpPr>
        <p:spPr>
          <a:xfrm>
            <a:off x="5690890" y="2062497"/>
            <a:ext cx="1190625" cy="933450"/>
          </a:xfrm>
          <a:prstGeom prst="roundRect">
            <a:avLst>
              <a:gd name="adj" fmla="val 9796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3" name="Text 20"/>
          <p:cNvSpPr/>
          <p:nvPr/>
        </p:nvSpPr>
        <p:spPr>
          <a:xfrm>
            <a:off x="6192727" y="2227511"/>
            <a:ext cx="18687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072857" y="2493615"/>
            <a:ext cx="42669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405"/>
              </a:spcBef>
              <a:buNone/>
            </a:pPr>
            <a:r>
              <a:rPr lang="en-US" sz="10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Save</a:t>
            </a:r>
            <a:endParaRPr lang="en-US" sz="1010" dirty="0"/>
          </a:p>
        </p:txBody>
      </p:sp>
      <p:sp>
        <p:nvSpPr>
          <p:cNvPr id="25" name="Text 22"/>
          <p:cNvSpPr/>
          <p:nvPr/>
        </p:nvSpPr>
        <p:spPr>
          <a:xfrm>
            <a:off x="5720741" y="2706886"/>
            <a:ext cx="113084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243"/>
              </a:spcBef>
              <a:buNone/>
            </a:pPr>
            <a:r>
              <a:rPr lang="en-US" sz="79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favorite &amp; resume</a:t>
            </a:r>
            <a:endParaRPr lang="en-US" sz="790" dirty="0"/>
          </a:p>
        </p:txBody>
      </p:sp>
      <p:sp>
        <p:nvSpPr>
          <p:cNvPr id="26" name="Text 23"/>
          <p:cNvSpPr/>
          <p:nvPr/>
        </p:nvSpPr>
        <p:spPr>
          <a:xfrm>
            <a:off x="7066806" y="2406328"/>
            <a:ext cx="25633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440" dirty="0"/>
          </a:p>
        </p:txBody>
      </p:sp>
      <p:sp>
        <p:nvSpPr>
          <p:cNvPr id="27" name="Shape 24"/>
          <p:cNvSpPr/>
          <p:nvPr/>
        </p:nvSpPr>
        <p:spPr>
          <a:xfrm>
            <a:off x="7405315" y="2057735"/>
            <a:ext cx="1190625" cy="942975"/>
          </a:xfrm>
          <a:prstGeom prst="roundRect">
            <a:avLst>
              <a:gd name="adj" fmla="val 9697"/>
            </a:avLst>
          </a:prstGeom>
          <a:solidFill>
            <a:srgbClr val="14102E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8" name="Text 25"/>
          <p:cNvSpPr/>
          <p:nvPr/>
        </p:nvSpPr>
        <p:spPr>
          <a:xfrm>
            <a:off x="7910140" y="2227511"/>
            <a:ext cx="18097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C3AE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5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7697714" y="2493615"/>
            <a:ext cx="60575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405"/>
              </a:spcBef>
              <a:buNone/>
            </a:pPr>
            <a:r>
              <a:rPr lang="en-US" sz="10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Reflect</a:t>
            </a:r>
            <a:endParaRPr lang="en-US" sz="1010" dirty="0"/>
          </a:p>
        </p:txBody>
      </p:sp>
      <p:sp>
        <p:nvSpPr>
          <p:cNvPr id="30" name="Text 27"/>
          <p:cNvSpPr/>
          <p:nvPr/>
        </p:nvSpPr>
        <p:spPr>
          <a:xfrm>
            <a:off x="7488071" y="2706886"/>
            <a:ext cx="102511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243"/>
              </a:spcBef>
              <a:buNone/>
            </a:pPr>
            <a:r>
              <a:rPr lang="en-US" sz="79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recs &amp; analytics</a:t>
            </a:r>
            <a:endParaRPr lang="en-US" sz="790" dirty="0"/>
          </a:p>
        </p:txBody>
      </p:sp>
      <p:sp>
        <p:nvSpPr>
          <p:cNvPr id="31" name="Text 28"/>
          <p:cNvSpPr/>
          <p:nvPr/>
        </p:nvSpPr>
        <p:spPr>
          <a:xfrm>
            <a:off x="548580" y="4601021"/>
            <a:ext cx="1048950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play feeds listening history, which powers both AI recommendations and the analytics dashboard — a loop that improves with use.</a:t>
            </a:r>
            <a:endParaRPr lang="en-US" sz="1010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7688" y="4463876"/>
            <a:ext cx="8048625" cy="31908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74953" y="-1568723"/>
            <a:ext cx="4943475" cy="49434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580" y="369540"/>
            <a:ext cx="186499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 / 28 · MODULE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48580" y="534665"/>
            <a:ext cx="4635579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600" b="1" kern="0" spc="-90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Podcast Search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49511" y="1167631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Text 4"/>
          <p:cNvSpPr/>
          <p:nvPr/>
        </p:nvSpPr>
        <p:spPr>
          <a:xfrm>
            <a:off x="548580" y="1777305"/>
            <a:ext cx="4663924" cy="78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23"/>
              </a:lnSpc>
              <a:buNone/>
            </a:pPr>
            <a:r>
              <a:rPr lang="en-US" sz="13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Fast, multi-field search that matches across</a:t>
            </a:r>
            <a:endParaRPr lang="en-US" sz="1370" dirty="0"/>
          </a:p>
          <a:p>
            <a:pPr marL="0" indent="0" algn="l">
              <a:lnSpc>
                <a:spcPts val="2223"/>
              </a:lnSpc>
              <a:buNone/>
            </a:pPr>
            <a:r>
              <a:rPr lang="en-US" sz="13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titles, hosts, categories, and descriptions in</a:t>
            </a:r>
            <a:endParaRPr lang="en-US" sz="1370" dirty="0"/>
          </a:p>
          <a:p>
            <a:pPr marL="0" indent="0" algn="l">
              <a:lnSpc>
                <a:spcPts val="2223"/>
              </a:lnSpc>
              <a:buNone/>
            </a:pPr>
            <a:r>
              <a:rPr lang="en-US" sz="13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 time.</a:t>
            </a:r>
            <a:endParaRPr lang="en-US" sz="1370" dirty="0"/>
          </a:p>
        </p:txBody>
      </p:sp>
      <p:sp>
        <p:nvSpPr>
          <p:cNvPr id="8" name="Shape 5"/>
          <p:cNvSpPr/>
          <p:nvPr/>
        </p:nvSpPr>
        <p:spPr>
          <a:xfrm>
            <a:off x="549213" y="2760799"/>
            <a:ext cx="80962" cy="8096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9" name="Text 6"/>
          <p:cNvSpPr/>
          <p:nvPr/>
        </p:nvSpPr>
        <p:spPr>
          <a:xfrm>
            <a:off x="740494" y="2719090"/>
            <a:ext cx="430744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Instant results as the user types (debounced input)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549213" y="3031592"/>
            <a:ext cx="80962" cy="8096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1" name="Text 8"/>
          <p:cNvSpPr/>
          <p:nvPr/>
        </p:nvSpPr>
        <p:spPr>
          <a:xfrm>
            <a:off x="740494" y="2989883"/>
            <a:ext cx="332845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Filter by category and sort by relevance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549213" y="3302384"/>
            <a:ext cx="80962" cy="8096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3" name="Text 10"/>
          <p:cNvSpPr/>
          <p:nvPr/>
        </p:nvSpPr>
        <p:spPr>
          <a:xfrm>
            <a:off x="740494" y="3260675"/>
            <a:ext cx="379144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Handles partial matches and typos gracefully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4937820" y="1698203"/>
            <a:ext cx="3657600" cy="2362200"/>
          </a:xfrm>
          <a:prstGeom prst="roundRect">
            <a:avLst>
              <a:gd name="adj" fmla="val 5419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5" name="Shape 12"/>
          <p:cNvSpPr/>
          <p:nvPr/>
        </p:nvSpPr>
        <p:spPr>
          <a:xfrm>
            <a:off x="5125938" y="1883792"/>
            <a:ext cx="3281363" cy="347663"/>
          </a:xfrm>
          <a:prstGeom prst="roundRect">
            <a:avLst>
              <a:gd name="adj" fmla="val 21041"/>
            </a:avLst>
          </a:prstGeom>
          <a:solidFill>
            <a:srgbClr val="0A0820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6" name="Shape 13"/>
          <p:cNvSpPr/>
          <p:nvPr/>
        </p:nvSpPr>
        <p:spPr>
          <a:xfrm>
            <a:off x="5257874" y="1993329"/>
            <a:ext cx="128588" cy="128588"/>
          </a:xfrm>
          <a:prstGeom prst="ellipse">
            <a:avLst/>
          </a:prstGeom>
          <a:ln w="952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7" name="Text 14"/>
          <p:cNvSpPr/>
          <p:nvPr/>
        </p:nvSpPr>
        <p:spPr>
          <a:xfrm>
            <a:off x="5477545" y="1971154"/>
            <a:ext cx="174523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technology interviews</a:t>
            </a:r>
            <a:endParaRPr lang="en-US" sz="1010" dirty="0"/>
          </a:p>
        </p:txBody>
      </p:sp>
      <p:sp>
        <p:nvSpPr>
          <p:cNvPr id="18" name="Shape 15"/>
          <p:cNvSpPr/>
          <p:nvPr/>
        </p:nvSpPr>
        <p:spPr>
          <a:xfrm>
            <a:off x="5125938" y="2322686"/>
            <a:ext cx="3281363" cy="476250"/>
          </a:xfrm>
          <a:prstGeom prst="roundRect">
            <a:avLst>
              <a:gd name="adj" fmla="val 13440"/>
            </a:avLst>
          </a:prstGeom>
          <a:solidFill>
            <a:srgbClr val="0A0820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899" y="2422699"/>
            <a:ext cx="276225" cy="276225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623843" y="2398886"/>
            <a:ext cx="119450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Build Hour</a:t>
            </a:r>
            <a:endParaRPr lang="en-US" sz="1010" dirty="0"/>
          </a:p>
        </p:txBody>
      </p:sp>
      <p:sp>
        <p:nvSpPr>
          <p:cNvPr id="21" name="Text 17"/>
          <p:cNvSpPr/>
          <p:nvPr/>
        </p:nvSpPr>
        <p:spPr>
          <a:xfrm>
            <a:off x="5623843" y="2586112"/>
            <a:ext cx="158203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Technology · 42 episodes</a:t>
            </a:r>
            <a:endParaRPr lang="en-US" sz="790" dirty="0"/>
          </a:p>
        </p:txBody>
      </p:sp>
      <p:sp>
        <p:nvSpPr>
          <p:cNvPr id="22" name="Shape 18"/>
          <p:cNvSpPr/>
          <p:nvPr/>
        </p:nvSpPr>
        <p:spPr>
          <a:xfrm>
            <a:off x="5125938" y="2860179"/>
            <a:ext cx="3281363" cy="476250"/>
          </a:xfrm>
          <a:prstGeom prst="roundRect">
            <a:avLst>
              <a:gd name="adj" fmla="val 13440"/>
            </a:avLst>
          </a:prstGeom>
          <a:solidFill>
            <a:srgbClr val="0A0820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899" y="2960191"/>
            <a:ext cx="276225" cy="27622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623843" y="2936379"/>
            <a:ext cx="120659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Founder Notes</a:t>
            </a:r>
            <a:endParaRPr lang="en-US" sz="1010" dirty="0"/>
          </a:p>
        </p:txBody>
      </p:sp>
      <p:sp>
        <p:nvSpPr>
          <p:cNvPr id="25" name="Text 20"/>
          <p:cNvSpPr/>
          <p:nvPr/>
        </p:nvSpPr>
        <p:spPr>
          <a:xfrm>
            <a:off x="5623843" y="3123605"/>
            <a:ext cx="150696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Interviews · 28 episodes</a:t>
            </a:r>
            <a:endParaRPr lang="en-US" sz="790" dirty="0"/>
          </a:p>
        </p:txBody>
      </p:sp>
      <p:sp>
        <p:nvSpPr>
          <p:cNvPr id="26" name="Shape 21"/>
          <p:cNvSpPr/>
          <p:nvPr/>
        </p:nvSpPr>
        <p:spPr>
          <a:xfrm>
            <a:off x="5125938" y="3397672"/>
            <a:ext cx="3281363" cy="476250"/>
          </a:xfrm>
          <a:prstGeom prst="roundRect">
            <a:avLst>
              <a:gd name="adj" fmla="val 13440"/>
            </a:avLst>
          </a:prstGeom>
          <a:solidFill>
            <a:srgbClr val="0A0820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899" y="3497684"/>
            <a:ext cx="276225" cy="27622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623843" y="3473872"/>
            <a:ext cx="121462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Code &amp; Coffee</a:t>
            </a:r>
            <a:endParaRPr lang="en-US" sz="1010" dirty="0"/>
          </a:p>
        </p:txBody>
      </p:sp>
      <p:sp>
        <p:nvSpPr>
          <p:cNvPr id="29" name="Text 23"/>
          <p:cNvSpPr/>
          <p:nvPr/>
        </p:nvSpPr>
        <p:spPr>
          <a:xfrm>
            <a:off x="5623843" y="3661097"/>
            <a:ext cx="157584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Technology · 67 episodes</a:t>
            </a:r>
            <a:endParaRPr lang="en-US" sz="79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73498" y="1689757"/>
            <a:ext cx="5124450" cy="5124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580" y="369540"/>
            <a:ext cx="185145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17 / 28 · MODULE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48580" y="534665"/>
            <a:ext cx="4671179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600" b="1" kern="0" spc="-90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Audio Playback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49511" y="1167631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Text 4"/>
          <p:cNvSpPr/>
          <p:nvPr/>
        </p:nvSpPr>
        <p:spPr>
          <a:xfrm>
            <a:off x="548580" y="1777305"/>
            <a:ext cx="4603656" cy="78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23"/>
              </a:lnSpc>
              <a:buNone/>
            </a:pPr>
            <a:r>
              <a:rPr lang="en-US" sz="13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persistent player that streams episodes</a:t>
            </a:r>
            <a:endParaRPr lang="en-US" sz="1370" dirty="0"/>
          </a:p>
          <a:p>
            <a:pPr marL="0" indent="0" algn="l">
              <a:lnSpc>
                <a:spcPts val="2223"/>
              </a:lnSpc>
              <a:buNone/>
            </a:pPr>
            <a:r>
              <a:rPr lang="en-US" sz="13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reliably and remembers exactly where each</a:t>
            </a:r>
            <a:endParaRPr lang="en-US" sz="1370" dirty="0"/>
          </a:p>
          <a:p>
            <a:pPr marL="0" indent="0" algn="l">
              <a:lnSpc>
                <a:spcPts val="2223"/>
              </a:lnSpc>
              <a:buNone/>
            </a:pPr>
            <a:r>
              <a:rPr lang="en-US" sz="13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listener stopped.</a:t>
            </a:r>
            <a:endParaRPr lang="en-US" sz="1370" dirty="0"/>
          </a:p>
        </p:txBody>
      </p:sp>
      <p:sp>
        <p:nvSpPr>
          <p:cNvPr id="8" name="Shape 5"/>
          <p:cNvSpPr/>
          <p:nvPr/>
        </p:nvSpPr>
        <p:spPr>
          <a:xfrm>
            <a:off x="549213" y="2760799"/>
            <a:ext cx="80962" cy="8096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9" name="Text 6"/>
          <p:cNvSpPr/>
          <p:nvPr/>
        </p:nvSpPr>
        <p:spPr>
          <a:xfrm>
            <a:off x="740494" y="2719090"/>
            <a:ext cx="328675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Play, pause, seek, and adjustable speed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549213" y="3031592"/>
            <a:ext cx="80962" cy="8096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1" name="Text 8"/>
          <p:cNvSpPr/>
          <p:nvPr/>
        </p:nvSpPr>
        <p:spPr>
          <a:xfrm>
            <a:off x="740494" y="2989883"/>
            <a:ext cx="305758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Resume from the last saved position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549213" y="3302384"/>
            <a:ext cx="80962" cy="8096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3" name="Text 10"/>
          <p:cNvSpPr/>
          <p:nvPr/>
        </p:nvSpPr>
        <p:spPr>
          <a:xfrm>
            <a:off x="740494" y="3260675"/>
            <a:ext cx="296065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Player stays docked while browsing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549213" y="3573177"/>
            <a:ext cx="80962" cy="8096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5" name="Text 12"/>
          <p:cNvSpPr/>
          <p:nvPr/>
        </p:nvSpPr>
        <p:spPr>
          <a:xfrm>
            <a:off x="740494" y="3531468"/>
            <a:ext cx="298348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session feeds listening history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4937820" y="1954634"/>
            <a:ext cx="3657600" cy="1795462"/>
          </a:xfrm>
          <a:prstGeom prst="roundRect">
            <a:avLst>
              <a:gd name="adj" fmla="val 7130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4170" y="2160836"/>
            <a:ext cx="547687" cy="54768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820296" y="2234282"/>
            <a:ext cx="133786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Episode 42</a:t>
            </a:r>
            <a:endParaRPr lang="en-US" sz="1370" dirty="0"/>
          </a:p>
        </p:txBody>
      </p:sp>
      <p:sp>
        <p:nvSpPr>
          <p:cNvPr id="19" name="Text 15"/>
          <p:cNvSpPr/>
          <p:nvPr/>
        </p:nvSpPr>
        <p:spPr>
          <a:xfrm>
            <a:off x="5820296" y="2485355"/>
            <a:ext cx="202093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Build Hour · Technology</a:t>
            </a:r>
            <a:endParaRPr lang="en-US" sz="940" dirty="0"/>
          </a:p>
        </p:txBody>
      </p:sp>
      <p:sp>
        <p:nvSpPr>
          <p:cNvPr id="20" name="Shape 16"/>
          <p:cNvSpPr/>
          <p:nvPr/>
        </p:nvSpPr>
        <p:spPr>
          <a:xfrm>
            <a:off x="5142607" y="2831455"/>
            <a:ext cx="3248025" cy="42863"/>
          </a:xfrm>
          <a:prstGeom prst="roundRect">
            <a:avLst>
              <a:gd name="adj" fmla="val 49999"/>
            </a:avLst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4393" y="2831455"/>
            <a:ext cx="1881187" cy="4286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143723" y="2929607"/>
            <a:ext cx="35626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24:18</a:t>
            </a:r>
            <a:endParaRPr lang="en-US" sz="790" dirty="0"/>
          </a:p>
        </p:txBody>
      </p:sp>
      <p:sp>
        <p:nvSpPr>
          <p:cNvPr id="23" name="Text 18"/>
          <p:cNvSpPr/>
          <p:nvPr/>
        </p:nvSpPr>
        <p:spPr>
          <a:xfrm>
            <a:off x="8146703" y="2929607"/>
            <a:ext cx="37280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41:50</a:t>
            </a:r>
            <a:endParaRPr lang="en-US" sz="790" dirty="0"/>
          </a:p>
        </p:txBody>
      </p:sp>
      <p:sp>
        <p:nvSpPr>
          <p:cNvPr id="24" name="Shape 19"/>
          <p:cNvSpPr/>
          <p:nvPr/>
        </p:nvSpPr>
        <p:spPr>
          <a:xfrm>
            <a:off x="6126361" y="3242370"/>
            <a:ext cx="238125" cy="238125"/>
          </a:xfrm>
          <a:prstGeom prst="ellipse">
            <a:avLst/>
          </a:prstGeom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5" name="Shape 20"/>
          <p:cNvSpPr/>
          <p:nvPr/>
        </p:nvSpPr>
        <p:spPr>
          <a:xfrm>
            <a:off x="6583226" y="3178113"/>
            <a:ext cx="366712" cy="36671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3413" y="3270945"/>
            <a:ext cx="142875" cy="180975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7168679" y="3242370"/>
            <a:ext cx="238125" cy="238125"/>
          </a:xfrm>
          <a:prstGeom prst="ellipse">
            <a:avLst/>
          </a:prstGeom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74953" y="-1568723"/>
            <a:ext cx="4943475" cy="49434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580" y="369540"/>
            <a:ext cx="18629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18 / 28 · MODULE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48580" y="534665"/>
            <a:ext cx="2772207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600" b="1" kern="0" spc="-90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Favorites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49511" y="1167631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Text 4"/>
          <p:cNvSpPr/>
          <p:nvPr/>
        </p:nvSpPr>
        <p:spPr>
          <a:xfrm>
            <a:off x="548580" y="1777305"/>
            <a:ext cx="4526168" cy="78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23"/>
              </a:lnSpc>
              <a:buNone/>
            </a:pPr>
            <a:r>
              <a:rPr lang="en-US" sz="13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personal library where listeners save</a:t>
            </a:r>
            <a:endParaRPr lang="en-US" sz="1370" dirty="0"/>
          </a:p>
          <a:p>
            <a:pPr marL="0" indent="0" algn="l">
              <a:lnSpc>
                <a:spcPts val="2223"/>
              </a:lnSpc>
              <a:buNone/>
            </a:pPr>
            <a:r>
              <a:rPr lang="en-US" sz="13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shows once and find them instantly across</a:t>
            </a:r>
            <a:endParaRPr lang="en-US" sz="1370" dirty="0"/>
          </a:p>
          <a:p>
            <a:pPr marL="0" indent="0" algn="l">
              <a:lnSpc>
                <a:spcPts val="2223"/>
              </a:lnSpc>
              <a:buNone/>
            </a:pPr>
            <a:r>
              <a:rPr lang="en-US" sz="13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session.</a:t>
            </a:r>
            <a:endParaRPr lang="en-US" sz="1370" dirty="0"/>
          </a:p>
        </p:txBody>
      </p:sp>
      <p:sp>
        <p:nvSpPr>
          <p:cNvPr id="8" name="Shape 5"/>
          <p:cNvSpPr/>
          <p:nvPr/>
        </p:nvSpPr>
        <p:spPr>
          <a:xfrm>
            <a:off x="549213" y="2760799"/>
            <a:ext cx="80962" cy="8096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9" name="Text 6"/>
          <p:cNvSpPr/>
          <p:nvPr/>
        </p:nvSpPr>
        <p:spPr>
          <a:xfrm>
            <a:off x="740494" y="2719090"/>
            <a:ext cx="335873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One-tap add and remove from any view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549213" y="3031592"/>
            <a:ext cx="80962" cy="8096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1" name="Text 8"/>
          <p:cNvSpPr/>
          <p:nvPr/>
        </p:nvSpPr>
        <p:spPr>
          <a:xfrm>
            <a:off x="740494" y="2989883"/>
            <a:ext cx="384193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Persisted per user and synced across devices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549213" y="3302384"/>
            <a:ext cx="80962" cy="8096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3" name="Text 10"/>
          <p:cNvSpPr/>
          <p:nvPr/>
        </p:nvSpPr>
        <p:spPr>
          <a:xfrm>
            <a:off x="740494" y="3260675"/>
            <a:ext cx="430318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Feeds the recommendation engine as a taste signal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4936778" y="1697534"/>
            <a:ext cx="1766887" cy="1081087"/>
          </a:xfrm>
          <a:prstGeom prst="roundRect">
            <a:avLst>
              <a:gd name="adj" fmla="val 8458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0128" y="1830995"/>
            <a:ext cx="1500188" cy="40957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070574" y="2312715"/>
            <a:ext cx="119450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10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Build Hour</a:t>
            </a:r>
            <a:endParaRPr lang="en-US" sz="1010" dirty="0"/>
          </a:p>
        </p:txBody>
      </p:sp>
      <p:sp>
        <p:nvSpPr>
          <p:cNvPr id="17" name="Text 13"/>
          <p:cNvSpPr/>
          <p:nvPr/>
        </p:nvSpPr>
        <p:spPr>
          <a:xfrm>
            <a:off x="5070574" y="2499940"/>
            <a:ext cx="74486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Technology</a:t>
            </a:r>
            <a:endParaRPr lang="en-US" sz="790" dirty="0"/>
          </a:p>
        </p:txBody>
      </p:sp>
      <p:sp>
        <p:nvSpPr>
          <p:cNvPr id="18" name="Shape 14"/>
          <p:cNvSpPr/>
          <p:nvPr/>
        </p:nvSpPr>
        <p:spPr>
          <a:xfrm>
            <a:off x="6829574" y="1697534"/>
            <a:ext cx="1766887" cy="1081087"/>
          </a:xfrm>
          <a:prstGeom prst="roundRect">
            <a:avLst>
              <a:gd name="adj" fmla="val 8458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2924" y="1830995"/>
            <a:ext cx="1500188" cy="40957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63370" y="2312715"/>
            <a:ext cx="120659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10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Founder Notes</a:t>
            </a:r>
            <a:endParaRPr lang="en-US" sz="1010" dirty="0"/>
          </a:p>
        </p:txBody>
      </p:sp>
      <p:sp>
        <p:nvSpPr>
          <p:cNvPr id="21" name="Text 16"/>
          <p:cNvSpPr/>
          <p:nvPr/>
        </p:nvSpPr>
        <p:spPr>
          <a:xfrm>
            <a:off x="6963370" y="2499940"/>
            <a:ext cx="67201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Interviews</a:t>
            </a:r>
            <a:endParaRPr lang="en-US" sz="790" dirty="0"/>
          </a:p>
        </p:txBody>
      </p:sp>
      <p:sp>
        <p:nvSpPr>
          <p:cNvPr id="22" name="Shape 17"/>
          <p:cNvSpPr/>
          <p:nvPr/>
        </p:nvSpPr>
        <p:spPr>
          <a:xfrm>
            <a:off x="4936778" y="2907060"/>
            <a:ext cx="1766887" cy="1081087"/>
          </a:xfrm>
          <a:prstGeom prst="roundRect">
            <a:avLst>
              <a:gd name="adj" fmla="val 8458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0128" y="3040521"/>
            <a:ext cx="1500188" cy="40957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070574" y="3522241"/>
            <a:ext cx="121462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10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Code &amp; Coffee</a:t>
            </a:r>
            <a:endParaRPr lang="en-US" sz="1010" dirty="0"/>
          </a:p>
        </p:txBody>
      </p:sp>
      <p:sp>
        <p:nvSpPr>
          <p:cNvPr id="25" name="Text 19"/>
          <p:cNvSpPr/>
          <p:nvPr/>
        </p:nvSpPr>
        <p:spPr>
          <a:xfrm>
            <a:off x="5070574" y="3709467"/>
            <a:ext cx="74486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Technology</a:t>
            </a:r>
            <a:endParaRPr lang="en-US" sz="790" dirty="0"/>
          </a:p>
        </p:txBody>
      </p:sp>
      <p:sp>
        <p:nvSpPr>
          <p:cNvPr id="26" name="Shape 20"/>
          <p:cNvSpPr/>
          <p:nvPr/>
        </p:nvSpPr>
        <p:spPr>
          <a:xfrm>
            <a:off x="6829574" y="2907060"/>
            <a:ext cx="1766887" cy="1081087"/>
          </a:xfrm>
          <a:prstGeom prst="roundRect">
            <a:avLst>
              <a:gd name="adj" fmla="val 8458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2924" y="3040521"/>
            <a:ext cx="1500188" cy="40957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963370" y="3522241"/>
            <a:ext cx="97925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10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Deep Focus</a:t>
            </a:r>
            <a:endParaRPr lang="en-US" sz="1010" dirty="0"/>
          </a:p>
        </p:txBody>
      </p:sp>
      <p:sp>
        <p:nvSpPr>
          <p:cNvPr id="29" name="Text 22"/>
          <p:cNvSpPr/>
          <p:nvPr/>
        </p:nvSpPr>
        <p:spPr>
          <a:xfrm>
            <a:off x="6963370" y="3709467"/>
            <a:ext cx="66698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Education</a:t>
            </a:r>
            <a:endParaRPr lang="en-US" sz="79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74911" y="-1672121"/>
            <a:ext cx="5310187" cy="531018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74953" y="1871663"/>
            <a:ext cx="4943475" cy="49434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580" y="369540"/>
            <a:ext cx="186499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19 / 28 · MODULE</a:t>
            </a:r>
            <a:endParaRPr lang="en-US" sz="860" dirty="0"/>
          </a:p>
        </p:txBody>
      </p:sp>
      <p:sp>
        <p:nvSpPr>
          <p:cNvPr id="6" name="Text 2"/>
          <p:cNvSpPr/>
          <p:nvPr/>
        </p:nvSpPr>
        <p:spPr>
          <a:xfrm>
            <a:off x="548580" y="534665"/>
            <a:ext cx="8281355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600" b="1" kern="0" spc="-90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AI Recommendation Engine</a:t>
            </a:r>
            <a:endParaRPr lang="en-US" sz="3600" dirty="0"/>
          </a:p>
        </p:txBody>
      </p:sp>
      <p:sp>
        <p:nvSpPr>
          <p:cNvPr id="7" name="Shape 3"/>
          <p:cNvSpPr/>
          <p:nvPr/>
        </p:nvSpPr>
        <p:spPr>
          <a:xfrm>
            <a:off x="549511" y="1167631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8" name="Shape 4"/>
          <p:cNvSpPr/>
          <p:nvPr/>
        </p:nvSpPr>
        <p:spPr>
          <a:xfrm>
            <a:off x="549548" y="1696529"/>
            <a:ext cx="1766887" cy="1143000"/>
          </a:xfrm>
          <a:prstGeom prst="roundRect">
            <a:avLst>
              <a:gd name="adj" fmla="val 8000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9" name="Text 5"/>
          <p:cNvSpPr/>
          <p:nvPr/>
        </p:nvSpPr>
        <p:spPr>
          <a:xfrm>
            <a:off x="699641" y="1862658"/>
            <a:ext cx="25672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1010" dirty="0"/>
          </a:p>
        </p:txBody>
      </p:sp>
      <p:sp>
        <p:nvSpPr>
          <p:cNvPr id="10" name="Text 6"/>
          <p:cNvSpPr/>
          <p:nvPr/>
        </p:nvSpPr>
        <p:spPr>
          <a:xfrm>
            <a:off x="699641" y="2106067"/>
            <a:ext cx="1257575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22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User Profile</a:t>
            </a:r>
            <a:endParaRPr lang="en-US" sz="1220" dirty="0"/>
          </a:p>
        </p:txBody>
      </p:sp>
      <p:sp>
        <p:nvSpPr>
          <p:cNvPr id="11" name="Text 7"/>
          <p:cNvSpPr/>
          <p:nvPr/>
        </p:nvSpPr>
        <p:spPr>
          <a:xfrm>
            <a:off x="699641" y="2376339"/>
            <a:ext cx="1465466" cy="293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86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History, favorites, and</a:t>
            </a:r>
            <a:endParaRPr lang="en-US" sz="860" dirty="0"/>
          </a:p>
          <a:p>
            <a:pPr marL="0" indent="0" algn="l">
              <a:lnSpc>
                <a:spcPts val="1188"/>
              </a:lnSpc>
              <a:buNone/>
            </a:pPr>
            <a:r>
              <a:rPr lang="en-US" sz="86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category dwell time</a:t>
            </a:r>
            <a:endParaRPr lang="en-US" sz="860" dirty="0"/>
          </a:p>
        </p:txBody>
      </p:sp>
      <p:sp>
        <p:nvSpPr>
          <p:cNvPr id="12" name="Text 8"/>
          <p:cNvSpPr/>
          <p:nvPr/>
        </p:nvSpPr>
        <p:spPr>
          <a:xfrm>
            <a:off x="2408783" y="2158826"/>
            <a:ext cx="23640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2639020" y="1696529"/>
            <a:ext cx="1766887" cy="1143000"/>
          </a:xfrm>
          <a:prstGeom prst="roundRect">
            <a:avLst>
              <a:gd name="adj" fmla="val 8000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4" name="Text 10"/>
          <p:cNvSpPr/>
          <p:nvPr/>
        </p:nvSpPr>
        <p:spPr>
          <a:xfrm>
            <a:off x="2789113" y="1862658"/>
            <a:ext cx="29096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1010" dirty="0"/>
          </a:p>
        </p:txBody>
      </p:sp>
      <p:sp>
        <p:nvSpPr>
          <p:cNvPr id="15" name="Text 11"/>
          <p:cNvSpPr/>
          <p:nvPr/>
        </p:nvSpPr>
        <p:spPr>
          <a:xfrm>
            <a:off x="2789113" y="2106067"/>
            <a:ext cx="1951769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22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Feature Extraction</a:t>
            </a:r>
            <a:endParaRPr lang="en-US" sz="1220" dirty="0"/>
          </a:p>
        </p:txBody>
      </p:sp>
      <p:sp>
        <p:nvSpPr>
          <p:cNvPr id="16" name="Text 12"/>
          <p:cNvSpPr/>
          <p:nvPr/>
        </p:nvSpPr>
        <p:spPr>
          <a:xfrm>
            <a:off x="2789113" y="2376339"/>
            <a:ext cx="1731786" cy="293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86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Tags, topics, and listening</a:t>
            </a:r>
            <a:endParaRPr lang="en-US" sz="860" dirty="0"/>
          </a:p>
          <a:p>
            <a:pPr marL="0" indent="0" algn="l">
              <a:lnSpc>
                <a:spcPts val="1188"/>
              </a:lnSpc>
              <a:buNone/>
            </a:pPr>
            <a:r>
              <a:rPr lang="en-US" sz="86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weights</a:t>
            </a:r>
            <a:endParaRPr lang="en-US" sz="860" dirty="0"/>
          </a:p>
        </p:txBody>
      </p:sp>
      <p:sp>
        <p:nvSpPr>
          <p:cNvPr id="17" name="Text 13"/>
          <p:cNvSpPr/>
          <p:nvPr/>
        </p:nvSpPr>
        <p:spPr>
          <a:xfrm>
            <a:off x="4498256" y="2158826"/>
            <a:ext cx="23640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728493" y="1696529"/>
            <a:ext cx="1776413" cy="1143000"/>
          </a:xfrm>
          <a:prstGeom prst="roundRect">
            <a:avLst>
              <a:gd name="adj" fmla="val 8000"/>
            </a:avLst>
          </a:prstGeom>
          <a:solidFill>
            <a:srgbClr val="14102E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9" name="Text 15"/>
          <p:cNvSpPr/>
          <p:nvPr/>
        </p:nvSpPr>
        <p:spPr>
          <a:xfrm>
            <a:off x="4883348" y="1867421"/>
            <a:ext cx="29135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7C3AE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1010" dirty="0"/>
          </a:p>
        </p:txBody>
      </p:sp>
      <p:sp>
        <p:nvSpPr>
          <p:cNvPr id="20" name="Text 16"/>
          <p:cNvSpPr/>
          <p:nvPr/>
        </p:nvSpPr>
        <p:spPr>
          <a:xfrm>
            <a:off x="4883348" y="2110829"/>
            <a:ext cx="1623633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22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Hybrid Scoring</a:t>
            </a:r>
            <a:endParaRPr lang="en-US" sz="1220" dirty="0"/>
          </a:p>
        </p:txBody>
      </p:sp>
      <p:sp>
        <p:nvSpPr>
          <p:cNvPr id="21" name="Text 17"/>
          <p:cNvSpPr/>
          <p:nvPr/>
        </p:nvSpPr>
        <p:spPr>
          <a:xfrm>
            <a:off x="4883348" y="2381101"/>
            <a:ext cx="1442636" cy="293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86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Content similarity +</a:t>
            </a:r>
            <a:endParaRPr lang="en-US" sz="860" dirty="0"/>
          </a:p>
          <a:p>
            <a:pPr marL="0" indent="0" algn="l">
              <a:lnSpc>
                <a:spcPts val="1188"/>
              </a:lnSpc>
              <a:buNone/>
            </a:pPr>
            <a:r>
              <a:rPr lang="en-US" sz="86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collaborative filtering</a:t>
            </a:r>
            <a:endParaRPr lang="en-US" sz="860" dirty="0"/>
          </a:p>
        </p:txBody>
      </p:sp>
      <p:sp>
        <p:nvSpPr>
          <p:cNvPr id="22" name="Text 18"/>
          <p:cNvSpPr/>
          <p:nvPr/>
        </p:nvSpPr>
        <p:spPr>
          <a:xfrm>
            <a:off x="6597253" y="2158826"/>
            <a:ext cx="23640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827490" y="1696529"/>
            <a:ext cx="1766887" cy="1143000"/>
          </a:xfrm>
          <a:prstGeom prst="roundRect">
            <a:avLst>
              <a:gd name="adj" fmla="val 8000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4" name="Text 20"/>
          <p:cNvSpPr/>
          <p:nvPr/>
        </p:nvSpPr>
        <p:spPr>
          <a:xfrm>
            <a:off x="6977583" y="1862658"/>
            <a:ext cx="29860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04</a:t>
            </a:r>
            <a:endParaRPr lang="en-US" sz="1010" dirty="0"/>
          </a:p>
        </p:txBody>
      </p:sp>
      <p:sp>
        <p:nvSpPr>
          <p:cNvPr id="25" name="Text 21"/>
          <p:cNvSpPr/>
          <p:nvPr/>
        </p:nvSpPr>
        <p:spPr>
          <a:xfrm>
            <a:off x="6977583" y="2106067"/>
            <a:ext cx="1650720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22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Ranked Results</a:t>
            </a:r>
            <a:endParaRPr lang="en-US" sz="1220" dirty="0"/>
          </a:p>
        </p:txBody>
      </p:sp>
      <p:sp>
        <p:nvSpPr>
          <p:cNvPr id="26" name="Text 22"/>
          <p:cNvSpPr/>
          <p:nvPr/>
        </p:nvSpPr>
        <p:spPr>
          <a:xfrm>
            <a:off x="6977583" y="2376339"/>
            <a:ext cx="1959702" cy="293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86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Personalized shows surfaced</a:t>
            </a:r>
            <a:endParaRPr lang="en-US" sz="860" dirty="0"/>
          </a:p>
          <a:p>
            <a:pPr marL="0" indent="0" algn="l">
              <a:lnSpc>
                <a:spcPts val="1188"/>
              </a:lnSpc>
              <a:buNone/>
            </a:pPr>
            <a:r>
              <a:rPr lang="en-US" sz="86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 the user</a:t>
            </a:r>
            <a:endParaRPr lang="en-US" sz="860" dirty="0"/>
          </a:p>
        </p:txBody>
      </p:sp>
      <p:sp>
        <p:nvSpPr>
          <p:cNvPr id="27" name="Shape 23"/>
          <p:cNvSpPr/>
          <p:nvPr/>
        </p:nvSpPr>
        <p:spPr>
          <a:xfrm>
            <a:off x="547650" y="4101740"/>
            <a:ext cx="2562225" cy="681038"/>
          </a:xfrm>
          <a:prstGeom prst="rect">
            <a:avLst/>
          </a:prstGeom>
          <a:ln/>
        </p:spPr>
        <p:txBody>
          <a:bodyPr/>
          <a:lstStyle/>
          <a:p>
            <a:endParaRPr lang="ar-EG"/>
          </a:p>
        </p:txBody>
      </p:sp>
      <p:sp>
        <p:nvSpPr>
          <p:cNvPr id="28" name="Text 24"/>
          <p:cNvSpPr/>
          <p:nvPr/>
        </p:nvSpPr>
        <p:spPr>
          <a:xfrm>
            <a:off x="548580" y="4222924"/>
            <a:ext cx="155910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Content-based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548580" y="4473922"/>
            <a:ext cx="260949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Matches shows by shared topics and</a:t>
            </a:r>
            <a:endParaRPr lang="en-US" sz="900" dirty="0"/>
          </a:p>
          <a:p>
            <a:pPr marL="0" indent="0" algn="l">
              <a:lnSpc>
                <a:spcPts val="1238"/>
              </a:lnSpc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categories.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3290850" y="4101740"/>
            <a:ext cx="2562225" cy="681038"/>
          </a:xfrm>
          <a:prstGeom prst="rect">
            <a:avLst/>
          </a:prstGeom>
          <a:ln/>
        </p:spPr>
        <p:txBody>
          <a:bodyPr/>
          <a:lstStyle/>
          <a:p>
            <a:endParaRPr lang="ar-EG"/>
          </a:p>
        </p:txBody>
      </p:sp>
      <p:sp>
        <p:nvSpPr>
          <p:cNvPr id="31" name="Text 27"/>
          <p:cNvSpPr/>
          <p:nvPr/>
        </p:nvSpPr>
        <p:spPr>
          <a:xfrm>
            <a:off x="3291780" y="4222924"/>
            <a:ext cx="138923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Collaborative</a:t>
            </a:r>
            <a:endParaRPr lang="en-US" sz="1150" dirty="0"/>
          </a:p>
        </p:txBody>
      </p:sp>
      <p:sp>
        <p:nvSpPr>
          <p:cNvPr id="32" name="Text 28"/>
          <p:cNvSpPr/>
          <p:nvPr/>
        </p:nvSpPr>
        <p:spPr>
          <a:xfrm>
            <a:off x="3291780" y="4473922"/>
            <a:ext cx="2733608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Learns from listeners with similar taste.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6034050" y="4101740"/>
            <a:ext cx="2562225" cy="681038"/>
          </a:xfrm>
          <a:prstGeom prst="rect">
            <a:avLst/>
          </a:prstGeom>
          <a:ln/>
        </p:spPr>
        <p:txBody>
          <a:bodyPr/>
          <a:lstStyle/>
          <a:p>
            <a:endParaRPr lang="ar-EG"/>
          </a:p>
        </p:txBody>
      </p:sp>
      <p:sp>
        <p:nvSpPr>
          <p:cNvPr id="34" name="Text 30"/>
          <p:cNvSpPr/>
          <p:nvPr/>
        </p:nvSpPr>
        <p:spPr>
          <a:xfrm>
            <a:off x="6034980" y="4222924"/>
            <a:ext cx="154101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Self-improving</a:t>
            </a:r>
            <a:endParaRPr lang="en-US" sz="1150" dirty="0"/>
          </a:p>
        </p:txBody>
      </p:sp>
      <p:sp>
        <p:nvSpPr>
          <p:cNvPr id="35" name="Text 31"/>
          <p:cNvSpPr/>
          <p:nvPr/>
        </p:nvSpPr>
        <p:spPr>
          <a:xfrm>
            <a:off x="6034980" y="4473922"/>
            <a:ext cx="3235196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session refines future recommendations.</a:t>
            </a:r>
            <a:endParaRPr lang="en-US" sz="900" dirty="0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7650" y="4101740"/>
            <a:ext cx="2562225" cy="681038"/>
          </a:xfrm>
          <a:prstGeom prst="rect">
            <a:avLst/>
          </a:prstGeom>
        </p:spPr>
      </p:pic>
      <p:pic>
        <p:nvPicPr>
          <p:cNvPr id="3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90850" y="4101740"/>
            <a:ext cx="2562225" cy="681038"/>
          </a:xfrm>
          <a:prstGeom prst="rect">
            <a:avLst/>
          </a:prstGeom>
        </p:spPr>
      </p:pic>
      <p:pic>
        <p:nvPicPr>
          <p:cNvPr id="3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34050" y="4101740"/>
            <a:ext cx="2562225" cy="68103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74953" y="-1568723"/>
            <a:ext cx="4943475" cy="49434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580" y="318120"/>
            <a:ext cx="190775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/ 28 · MODULE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48580" y="477738"/>
            <a:ext cx="5965344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3460" b="1" kern="0" spc="-86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Analytics Dashboard</a:t>
            </a:r>
            <a:endParaRPr lang="en-US" sz="3460" dirty="0"/>
          </a:p>
        </p:txBody>
      </p:sp>
      <p:sp>
        <p:nvSpPr>
          <p:cNvPr id="6" name="Shape 3"/>
          <p:cNvSpPr/>
          <p:nvPr/>
        </p:nvSpPr>
        <p:spPr>
          <a:xfrm>
            <a:off x="549511" y="1067098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Shape 4"/>
          <p:cNvSpPr/>
          <p:nvPr/>
        </p:nvSpPr>
        <p:spPr>
          <a:xfrm>
            <a:off x="549436" y="1439726"/>
            <a:ext cx="1900238" cy="714375"/>
          </a:xfrm>
          <a:prstGeom prst="roundRect">
            <a:avLst>
              <a:gd name="adj" fmla="val 12800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Text 5"/>
          <p:cNvSpPr/>
          <p:nvPr/>
        </p:nvSpPr>
        <p:spPr>
          <a:xfrm>
            <a:off x="681335" y="1577653"/>
            <a:ext cx="86684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minutes</a:t>
            </a:r>
            <a:endParaRPr lang="en-US" sz="790" dirty="0"/>
          </a:p>
        </p:txBody>
      </p:sp>
      <p:sp>
        <p:nvSpPr>
          <p:cNvPr id="9" name="Text 6"/>
          <p:cNvSpPr/>
          <p:nvPr/>
        </p:nvSpPr>
        <p:spPr>
          <a:xfrm>
            <a:off x="681335" y="1726778"/>
            <a:ext cx="1000252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202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1,840</a:t>
            </a:r>
            <a:endParaRPr lang="en-US" sz="2020" dirty="0"/>
          </a:p>
        </p:txBody>
      </p:sp>
      <p:sp>
        <p:nvSpPr>
          <p:cNvPr id="10" name="Shape 7"/>
          <p:cNvSpPr/>
          <p:nvPr/>
        </p:nvSpPr>
        <p:spPr>
          <a:xfrm>
            <a:off x="2597721" y="1439726"/>
            <a:ext cx="1900238" cy="714375"/>
          </a:xfrm>
          <a:prstGeom prst="roundRect">
            <a:avLst>
              <a:gd name="adj" fmla="val 12800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1" name="Text 8"/>
          <p:cNvSpPr/>
          <p:nvPr/>
        </p:nvSpPr>
        <p:spPr>
          <a:xfrm>
            <a:off x="2729582" y="1577653"/>
            <a:ext cx="104668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Episodes played</a:t>
            </a:r>
            <a:endParaRPr lang="en-US" sz="790" dirty="0"/>
          </a:p>
        </p:txBody>
      </p:sp>
      <p:sp>
        <p:nvSpPr>
          <p:cNvPr id="12" name="Text 9"/>
          <p:cNvSpPr/>
          <p:nvPr/>
        </p:nvSpPr>
        <p:spPr>
          <a:xfrm>
            <a:off x="2729582" y="1726778"/>
            <a:ext cx="643577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202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126</a:t>
            </a:r>
            <a:endParaRPr lang="en-US" sz="2020" dirty="0"/>
          </a:p>
        </p:txBody>
      </p:sp>
      <p:sp>
        <p:nvSpPr>
          <p:cNvPr id="13" name="Shape 10"/>
          <p:cNvSpPr/>
          <p:nvPr/>
        </p:nvSpPr>
        <p:spPr>
          <a:xfrm>
            <a:off x="4646005" y="1439726"/>
            <a:ext cx="1900238" cy="714375"/>
          </a:xfrm>
          <a:prstGeom prst="roundRect">
            <a:avLst>
              <a:gd name="adj" fmla="val 12800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4" name="Text 11"/>
          <p:cNvSpPr/>
          <p:nvPr/>
        </p:nvSpPr>
        <p:spPr>
          <a:xfrm>
            <a:off x="4777904" y="1577653"/>
            <a:ext cx="69475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Day streak</a:t>
            </a:r>
            <a:endParaRPr lang="en-US" sz="790" dirty="0"/>
          </a:p>
        </p:txBody>
      </p:sp>
      <p:sp>
        <p:nvSpPr>
          <p:cNvPr id="15" name="Text 12"/>
          <p:cNvSpPr/>
          <p:nvPr/>
        </p:nvSpPr>
        <p:spPr>
          <a:xfrm>
            <a:off x="4777904" y="1726778"/>
            <a:ext cx="427271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202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14</a:t>
            </a:r>
            <a:endParaRPr lang="en-US" sz="2020" dirty="0"/>
          </a:p>
        </p:txBody>
      </p:sp>
      <p:sp>
        <p:nvSpPr>
          <p:cNvPr id="16" name="Shape 13"/>
          <p:cNvSpPr/>
          <p:nvPr/>
        </p:nvSpPr>
        <p:spPr>
          <a:xfrm>
            <a:off x="6694289" y="1439726"/>
            <a:ext cx="1900238" cy="714375"/>
          </a:xfrm>
          <a:prstGeom prst="roundRect">
            <a:avLst>
              <a:gd name="adj" fmla="val 12800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7" name="Text 14"/>
          <p:cNvSpPr/>
          <p:nvPr/>
        </p:nvSpPr>
        <p:spPr>
          <a:xfrm>
            <a:off x="6826151" y="1577653"/>
            <a:ext cx="84895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 category</a:t>
            </a:r>
            <a:endParaRPr lang="en-US" sz="790" dirty="0"/>
          </a:p>
        </p:txBody>
      </p:sp>
      <p:sp>
        <p:nvSpPr>
          <p:cNvPr id="18" name="Text 15"/>
          <p:cNvSpPr/>
          <p:nvPr/>
        </p:nvSpPr>
        <p:spPr>
          <a:xfrm>
            <a:off x="6826151" y="1771948"/>
            <a:ext cx="14985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144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Technology</a:t>
            </a:r>
            <a:endParaRPr lang="en-US" sz="1440" dirty="0"/>
          </a:p>
        </p:txBody>
      </p:sp>
      <p:sp>
        <p:nvSpPr>
          <p:cNvPr id="19" name="Shape 16"/>
          <p:cNvSpPr/>
          <p:nvPr/>
        </p:nvSpPr>
        <p:spPr>
          <a:xfrm>
            <a:off x="548097" y="2418308"/>
            <a:ext cx="4024312" cy="1900238"/>
          </a:xfrm>
          <a:prstGeom prst="roundRect">
            <a:avLst>
              <a:gd name="adj" fmla="val 4812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0" name="Text 17"/>
          <p:cNvSpPr/>
          <p:nvPr/>
        </p:nvSpPr>
        <p:spPr>
          <a:xfrm>
            <a:off x="717872" y="2600995"/>
            <a:ext cx="249331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Weekly listening (minutes)</a:t>
            </a:r>
            <a:endParaRPr lang="en-US" sz="108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352" y="3415605"/>
            <a:ext cx="433388" cy="557213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42293" y="4017764"/>
            <a:ext cx="295707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72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</a:t>
            </a:r>
            <a:endParaRPr lang="en-US" sz="72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9384" y="3108908"/>
            <a:ext cx="433388" cy="86201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400547" y="4017764"/>
            <a:ext cx="25343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72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Tue</a:t>
            </a:r>
            <a:endParaRPr lang="en-US" sz="72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1416" y="3291967"/>
            <a:ext cx="433388" cy="68103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921594" y="4017764"/>
            <a:ext cx="30808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72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Wed</a:t>
            </a:r>
            <a:endParaRPr lang="en-US" sz="72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43448" y="2915208"/>
            <a:ext cx="433388" cy="105727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2482007" y="4017764"/>
            <a:ext cx="26020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72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Thu</a:t>
            </a:r>
            <a:endParaRPr lang="en-US" sz="72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85480" y="3205907"/>
            <a:ext cx="433388" cy="766763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049786" y="4017764"/>
            <a:ext cx="193261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72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Fri</a:t>
            </a:r>
            <a:endParaRPr lang="en-US" sz="72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27512" y="2915208"/>
            <a:ext cx="433388" cy="1057275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3575521" y="4017764"/>
            <a:ext cx="23563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72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Sat</a:t>
            </a:r>
            <a:endParaRPr lang="en-US" sz="72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69544" y="3009528"/>
            <a:ext cx="433388" cy="962025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4107284" y="4017764"/>
            <a:ext cx="26233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72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Sun</a:t>
            </a:r>
            <a:endParaRPr lang="en-US" sz="720" dirty="0"/>
          </a:p>
        </p:txBody>
      </p:sp>
      <p:sp>
        <p:nvSpPr>
          <p:cNvPr id="35" name="Shape 25"/>
          <p:cNvSpPr/>
          <p:nvPr/>
        </p:nvSpPr>
        <p:spPr>
          <a:xfrm>
            <a:off x="4937820" y="2416969"/>
            <a:ext cx="3657600" cy="2043113"/>
          </a:xfrm>
          <a:prstGeom prst="roundRect">
            <a:avLst>
              <a:gd name="adj" fmla="val 4476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6" name="Text 26"/>
          <p:cNvSpPr/>
          <p:nvPr/>
        </p:nvSpPr>
        <p:spPr>
          <a:xfrm>
            <a:off x="5107112" y="2600995"/>
            <a:ext cx="20297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Listening by category</a:t>
            </a:r>
            <a:endParaRPr lang="en-US" sz="1080" dirty="0"/>
          </a:p>
        </p:txBody>
      </p:sp>
      <p:sp>
        <p:nvSpPr>
          <p:cNvPr id="37" name="Text 27"/>
          <p:cNvSpPr/>
          <p:nvPr/>
        </p:nvSpPr>
        <p:spPr>
          <a:xfrm>
            <a:off x="5107112" y="2925291"/>
            <a:ext cx="839086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Technology</a:t>
            </a:r>
            <a:endParaRPr lang="en-US" sz="900" dirty="0"/>
          </a:p>
        </p:txBody>
      </p:sp>
      <p:sp>
        <p:nvSpPr>
          <p:cNvPr id="38" name="Text 28"/>
          <p:cNvSpPr/>
          <p:nvPr/>
        </p:nvSpPr>
        <p:spPr>
          <a:xfrm>
            <a:off x="8197007" y="2925291"/>
            <a:ext cx="355007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46%</a:t>
            </a:r>
            <a:endParaRPr lang="en-US" sz="900" dirty="0"/>
          </a:p>
        </p:txBody>
      </p:sp>
      <p:sp>
        <p:nvSpPr>
          <p:cNvPr id="39" name="Shape 29"/>
          <p:cNvSpPr/>
          <p:nvPr/>
        </p:nvSpPr>
        <p:spPr>
          <a:xfrm>
            <a:off x="5106888" y="3118284"/>
            <a:ext cx="3319462" cy="71438"/>
          </a:xfrm>
          <a:prstGeom prst="roundRect">
            <a:avLst>
              <a:gd name="adj" fmla="val 50000"/>
            </a:avLst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06070" y="3118284"/>
            <a:ext cx="1528763" cy="71438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5107112" y="3292078"/>
            <a:ext cx="756181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Interviews</a:t>
            </a:r>
            <a:endParaRPr lang="en-US" sz="900" dirty="0"/>
          </a:p>
        </p:txBody>
      </p:sp>
      <p:sp>
        <p:nvSpPr>
          <p:cNvPr id="42" name="Text 31"/>
          <p:cNvSpPr/>
          <p:nvPr/>
        </p:nvSpPr>
        <p:spPr>
          <a:xfrm>
            <a:off x="8202885" y="3292078"/>
            <a:ext cx="347365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28%</a:t>
            </a:r>
            <a:endParaRPr lang="en-US" sz="900" dirty="0"/>
          </a:p>
        </p:txBody>
      </p:sp>
      <p:sp>
        <p:nvSpPr>
          <p:cNvPr id="43" name="Shape 32"/>
          <p:cNvSpPr/>
          <p:nvPr/>
        </p:nvSpPr>
        <p:spPr>
          <a:xfrm>
            <a:off x="5106888" y="3485071"/>
            <a:ext cx="3319462" cy="71438"/>
          </a:xfrm>
          <a:prstGeom prst="roundRect">
            <a:avLst>
              <a:gd name="adj" fmla="val 50000"/>
            </a:avLst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07409" y="3485071"/>
            <a:ext cx="928688" cy="71438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5107112" y="3658865"/>
            <a:ext cx="750473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Education</a:t>
            </a:r>
            <a:endParaRPr lang="en-US" sz="900" dirty="0"/>
          </a:p>
        </p:txBody>
      </p:sp>
      <p:sp>
        <p:nvSpPr>
          <p:cNvPr id="46" name="Text 34"/>
          <p:cNvSpPr/>
          <p:nvPr/>
        </p:nvSpPr>
        <p:spPr>
          <a:xfrm>
            <a:off x="8230716" y="3658865"/>
            <a:ext cx="311185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16%</a:t>
            </a:r>
            <a:endParaRPr lang="en-US" sz="900" dirty="0"/>
          </a:p>
        </p:txBody>
      </p:sp>
      <p:sp>
        <p:nvSpPr>
          <p:cNvPr id="47" name="Shape 35"/>
          <p:cNvSpPr/>
          <p:nvPr/>
        </p:nvSpPr>
        <p:spPr>
          <a:xfrm>
            <a:off x="5106888" y="3851858"/>
            <a:ext cx="3319462" cy="71438"/>
          </a:xfrm>
          <a:prstGeom prst="roundRect">
            <a:avLst>
              <a:gd name="adj" fmla="val 50000"/>
            </a:avLst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48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05921" y="3851858"/>
            <a:ext cx="533400" cy="71438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5107112" y="4025652"/>
            <a:ext cx="429302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News</a:t>
            </a:r>
            <a:endParaRPr lang="en-US" sz="900" dirty="0"/>
          </a:p>
        </p:txBody>
      </p:sp>
      <p:sp>
        <p:nvSpPr>
          <p:cNvPr id="50" name="Text 37"/>
          <p:cNvSpPr/>
          <p:nvPr/>
        </p:nvSpPr>
        <p:spPr>
          <a:xfrm>
            <a:off x="8222382" y="4025652"/>
            <a:ext cx="322019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10%</a:t>
            </a:r>
            <a:endParaRPr lang="en-US" sz="900" dirty="0"/>
          </a:p>
        </p:txBody>
      </p:sp>
      <p:sp>
        <p:nvSpPr>
          <p:cNvPr id="51" name="Shape 38"/>
          <p:cNvSpPr/>
          <p:nvPr/>
        </p:nvSpPr>
        <p:spPr>
          <a:xfrm>
            <a:off x="5106888" y="4218645"/>
            <a:ext cx="3319462" cy="71438"/>
          </a:xfrm>
          <a:prstGeom prst="roundRect">
            <a:avLst>
              <a:gd name="adj" fmla="val 50000"/>
            </a:avLst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52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06367" y="4218645"/>
            <a:ext cx="333375" cy="7143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73498" y="1689757"/>
            <a:ext cx="5124450" cy="5124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580" y="369540"/>
            <a:ext cx="185725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21 / 28 · MODULE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48580" y="534665"/>
            <a:ext cx="5100891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600" b="1" kern="0" spc="-90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Listening History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49511" y="1167631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Text 4"/>
          <p:cNvSpPr/>
          <p:nvPr/>
        </p:nvSpPr>
        <p:spPr>
          <a:xfrm>
            <a:off x="548580" y="1777305"/>
            <a:ext cx="4757373" cy="78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23"/>
              </a:lnSpc>
              <a:buNone/>
            </a:pPr>
            <a:r>
              <a:rPr lang="en-US" sz="13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automatic, time-stamped record of</a:t>
            </a:r>
            <a:endParaRPr lang="en-US" sz="1370" dirty="0"/>
          </a:p>
          <a:p>
            <a:pPr marL="0" indent="0" algn="l">
              <a:lnSpc>
                <a:spcPts val="2223"/>
              </a:lnSpc>
              <a:buNone/>
            </a:pPr>
            <a:r>
              <a:rPr lang="en-US" sz="13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everything a user plays — the data backbone</a:t>
            </a:r>
            <a:endParaRPr lang="en-US" sz="1370" dirty="0"/>
          </a:p>
          <a:p>
            <a:pPr marL="0" indent="0" algn="l">
              <a:lnSpc>
                <a:spcPts val="2223"/>
              </a:lnSpc>
              <a:buNone/>
            </a:pPr>
            <a:r>
              <a:rPr lang="en-US" sz="137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recommendations and analytics.</a:t>
            </a:r>
            <a:endParaRPr lang="en-US" sz="1370" dirty="0"/>
          </a:p>
        </p:txBody>
      </p:sp>
      <p:sp>
        <p:nvSpPr>
          <p:cNvPr id="8" name="Shape 5"/>
          <p:cNvSpPr/>
          <p:nvPr/>
        </p:nvSpPr>
        <p:spPr>
          <a:xfrm>
            <a:off x="549213" y="2760799"/>
            <a:ext cx="80962" cy="8096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9" name="Text 6"/>
          <p:cNvSpPr/>
          <p:nvPr/>
        </p:nvSpPr>
        <p:spPr>
          <a:xfrm>
            <a:off x="740494" y="2719090"/>
            <a:ext cx="438019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Logs episode, progress, and timestamp on each play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549213" y="3031592"/>
            <a:ext cx="80962" cy="8096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1" name="Text 8"/>
          <p:cNvSpPr/>
          <p:nvPr/>
        </p:nvSpPr>
        <p:spPr>
          <a:xfrm>
            <a:off x="740494" y="2989883"/>
            <a:ext cx="384116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Powers resume points and "continue listening"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549213" y="3302384"/>
            <a:ext cx="80962" cy="8096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3" name="Text 10"/>
          <p:cNvSpPr/>
          <p:nvPr/>
        </p:nvSpPr>
        <p:spPr>
          <a:xfrm>
            <a:off x="740494" y="3260675"/>
            <a:ext cx="342277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Aggregated into the analytics dashboard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4937820" y="1697534"/>
            <a:ext cx="3657600" cy="2405062"/>
          </a:xfrm>
          <a:prstGeom prst="roundRect">
            <a:avLst>
              <a:gd name="adj" fmla="val 4562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5" name="Text 12"/>
          <p:cNvSpPr/>
          <p:nvPr/>
        </p:nvSpPr>
        <p:spPr>
          <a:xfrm>
            <a:off x="5125417" y="1889671"/>
            <a:ext cx="151093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158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RECENT ACTIVITY</a:t>
            </a:r>
            <a:endParaRPr lang="en-US" sz="790" dirty="0"/>
          </a:p>
        </p:txBody>
      </p:sp>
      <p:sp>
        <p:nvSpPr>
          <p:cNvPr id="16" name="Shape 13"/>
          <p:cNvSpPr/>
          <p:nvPr/>
        </p:nvSpPr>
        <p:spPr>
          <a:xfrm>
            <a:off x="5125938" y="2128279"/>
            <a:ext cx="3281363" cy="409575"/>
          </a:xfrm>
          <a:prstGeom prst="rect">
            <a:avLst/>
          </a:prstGeom>
          <a:ln/>
        </p:spPr>
        <p:txBody>
          <a:bodyPr/>
          <a:lstStyle/>
          <a:p>
            <a:endParaRPr lang="ar-EG"/>
          </a:p>
        </p:txBody>
      </p:sp>
      <p:sp>
        <p:nvSpPr>
          <p:cNvPr id="17" name="Text 14"/>
          <p:cNvSpPr/>
          <p:nvPr/>
        </p:nvSpPr>
        <p:spPr>
          <a:xfrm>
            <a:off x="5125417" y="2137916"/>
            <a:ext cx="229809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Episode 42 — The Build Hour</a:t>
            </a:r>
            <a:endParaRPr lang="en-US" sz="1010" dirty="0"/>
          </a:p>
        </p:txBody>
      </p:sp>
      <p:sp>
        <p:nvSpPr>
          <p:cNvPr id="18" name="Text 15"/>
          <p:cNvSpPr/>
          <p:nvPr/>
        </p:nvSpPr>
        <p:spPr>
          <a:xfrm>
            <a:off x="5125417" y="2325142"/>
            <a:ext cx="56183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Finished</a:t>
            </a:r>
            <a:endParaRPr lang="en-US" sz="790" dirty="0"/>
          </a:p>
        </p:txBody>
      </p:sp>
      <p:sp>
        <p:nvSpPr>
          <p:cNvPr id="19" name="Text 16"/>
          <p:cNvSpPr/>
          <p:nvPr/>
        </p:nvSpPr>
        <p:spPr>
          <a:xfrm>
            <a:off x="8103319" y="2227064"/>
            <a:ext cx="45300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Today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5125938" y="2609590"/>
            <a:ext cx="3281363" cy="409575"/>
          </a:xfrm>
          <a:prstGeom prst="rect">
            <a:avLst/>
          </a:prstGeom>
          <a:ln/>
        </p:spPr>
        <p:txBody>
          <a:bodyPr/>
          <a:lstStyle/>
          <a:p>
            <a:endParaRPr lang="ar-EG"/>
          </a:p>
        </p:txBody>
      </p:sp>
      <p:sp>
        <p:nvSpPr>
          <p:cNvPr id="21" name="Text 18"/>
          <p:cNvSpPr/>
          <p:nvPr/>
        </p:nvSpPr>
        <p:spPr>
          <a:xfrm>
            <a:off x="5125417" y="2619226"/>
            <a:ext cx="226152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Episode 12 — Founder Notes</a:t>
            </a:r>
            <a:endParaRPr lang="en-US" sz="1010" dirty="0"/>
          </a:p>
        </p:txBody>
      </p:sp>
      <p:sp>
        <p:nvSpPr>
          <p:cNvPr id="22" name="Text 19"/>
          <p:cNvSpPr/>
          <p:nvPr/>
        </p:nvSpPr>
        <p:spPr>
          <a:xfrm>
            <a:off x="5125417" y="2806452"/>
            <a:ext cx="86578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58% · resume</a:t>
            </a:r>
            <a:endParaRPr lang="en-US" sz="790" dirty="0"/>
          </a:p>
        </p:txBody>
      </p:sp>
      <p:sp>
        <p:nvSpPr>
          <p:cNvPr id="23" name="Text 20"/>
          <p:cNvSpPr/>
          <p:nvPr/>
        </p:nvSpPr>
        <p:spPr>
          <a:xfrm>
            <a:off x="7908727" y="2708374"/>
            <a:ext cx="70597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Yesterday</a:t>
            </a:r>
            <a:endParaRPr lang="en-US" sz="860" dirty="0"/>
          </a:p>
        </p:txBody>
      </p:sp>
      <p:sp>
        <p:nvSpPr>
          <p:cNvPr id="24" name="Shape 21"/>
          <p:cNvSpPr/>
          <p:nvPr/>
        </p:nvSpPr>
        <p:spPr>
          <a:xfrm>
            <a:off x="5125938" y="3090900"/>
            <a:ext cx="3281363" cy="409575"/>
          </a:xfrm>
          <a:prstGeom prst="rect">
            <a:avLst/>
          </a:prstGeom>
          <a:ln/>
        </p:spPr>
        <p:txBody>
          <a:bodyPr/>
          <a:lstStyle/>
          <a:p>
            <a:endParaRPr lang="ar-EG"/>
          </a:p>
        </p:txBody>
      </p:sp>
      <p:sp>
        <p:nvSpPr>
          <p:cNvPr id="25" name="Text 22"/>
          <p:cNvSpPr/>
          <p:nvPr/>
        </p:nvSpPr>
        <p:spPr>
          <a:xfrm>
            <a:off x="5125417" y="3100536"/>
            <a:ext cx="227032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Episode 31 — Code &amp; Coffee</a:t>
            </a:r>
            <a:endParaRPr lang="en-US" sz="1010" dirty="0"/>
          </a:p>
        </p:txBody>
      </p:sp>
      <p:sp>
        <p:nvSpPr>
          <p:cNvPr id="26" name="Text 23"/>
          <p:cNvSpPr/>
          <p:nvPr/>
        </p:nvSpPr>
        <p:spPr>
          <a:xfrm>
            <a:off x="5125417" y="3287762"/>
            <a:ext cx="56183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Finished</a:t>
            </a:r>
            <a:endParaRPr lang="en-US" sz="790" dirty="0"/>
          </a:p>
        </p:txBody>
      </p:sp>
      <p:sp>
        <p:nvSpPr>
          <p:cNvPr id="27" name="Text 24"/>
          <p:cNvSpPr/>
          <p:nvPr/>
        </p:nvSpPr>
        <p:spPr>
          <a:xfrm>
            <a:off x="7862887" y="3189684"/>
            <a:ext cx="76556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days ago</a:t>
            </a:r>
            <a:endParaRPr lang="en-US" sz="860" dirty="0"/>
          </a:p>
        </p:txBody>
      </p:sp>
      <p:sp>
        <p:nvSpPr>
          <p:cNvPr id="28" name="Text 25"/>
          <p:cNvSpPr/>
          <p:nvPr/>
        </p:nvSpPr>
        <p:spPr>
          <a:xfrm>
            <a:off x="5125417" y="3581846"/>
            <a:ext cx="208565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Episode 07 — Deep Focus</a:t>
            </a:r>
            <a:endParaRPr lang="en-US" sz="1010" dirty="0"/>
          </a:p>
        </p:txBody>
      </p:sp>
      <p:sp>
        <p:nvSpPr>
          <p:cNvPr id="29" name="Text 26"/>
          <p:cNvSpPr/>
          <p:nvPr/>
        </p:nvSpPr>
        <p:spPr>
          <a:xfrm>
            <a:off x="5125417" y="3769072"/>
            <a:ext cx="85717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22% · resume</a:t>
            </a:r>
            <a:endParaRPr lang="en-US" sz="790" dirty="0"/>
          </a:p>
        </p:txBody>
      </p:sp>
      <p:sp>
        <p:nvSpPr>
          <p:cNvPr id="30" name="Text 27"/>
          <p:cNvSpPr/>
          <p:nvPr/>
        </p:nvSpPr>
        <p:spPr>
          <a:xfrm>
            <a:off x="7861250" y="3670995"/>
            <a:ext cx="76769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days ago</a:t>
            </a:r>
            <a:endParaRPr lang="en-US" sz="860" dirty="0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25938" y="2128279"/>
            <a:ext cx="3281363" cy="409575"/>
          </a:xfrm>
          <a:prstGeom prst="rect">
            <a:avLst/>
          </a:prstGeom>
        </p:spPr>
      </p:pic>
      <p:pic>
        <p:nvPicPr>
          <p:cNvPr id="3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25938" y="2609590"/>
            <a:ext cx="3281363" cy="409575"/>
          </a:xfrm>
          <a:prstGeom prst="rect">
            <a:avLst/>
          </a:prstGeom>
        </p:spPr>
      </p:pic>
      <p:pic>
        <p:nvPicPr>
          <p:cNvPr id="3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25938" y="3090900"/>
            <a:ext cx="3281363" cy="4095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74953" y="-1568723"/>
            <a:ext cx="4943475" cy="49434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580" y="369540"/>
            <a:ext cx="81944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22 / 28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48580" y="534665"/>
            <a:ext cx="4378836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600" b="1" kern="0" spc="-90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UML Overview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49511" y="1167631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Shape 4"/>
          <p:cNvSpPr/>
          <p:nvPr/>
        </p:nvSpPr>
        <p:spPr>
          <a:xfrm>
            <a:off x="547650" y="1697906"/>
            <a:ext cx="2562225" cy="1604963"/>
          </a:xfrm>
          <a:prstGeom prst="roundRect">
            <a:avLst>
              <a:gd name="adj" fmla="val 6837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Text 5"/>
          <p:cNvSpPr/>
          <p:nvPr/>
        </p:nvSpPr>
        <p:spPr>
          <a:xfrm>
            <a:off x="736178" y="1903958"/>
            <a:ext cx="117931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Use Case</a:t>
            </a:r>
            <a:endParaRPr lang="en-US" sz="1440" dirty="0"/>
          </a:p>
        </p:txBody>
      </p:sp>
      <p:sp>
        <p:nvSpPr>
          <p:cNvPr id="9" name="Text 6"/>
          <p:cNvSpPr/>
          <p:nvPr/>
        </p:nvSpPr>
        <p:spPr>
          <a:xfrm>
            <a:off x="736178" y="2251844"/>
            <a:ext cx="228155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97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Actors: Guest, Listener, Admin</a:t>
            </a:r>
            <a:endParaRPr lang="en-US" sz="970" dirty="0"/>
          </a:p>
        </p:txBody>
      </p:sp>
      <p:sp>
        <p:nvSpPr>
          <p:cNvPr id="10" name="Text 7"/>
          <p:cNvSpPr/>
          <p:nvPr/>
        </p:nvSpPr>
        <p:spPr>
          <a:xfrm>
            <a:off x="736178" y="2483272"/>
            <a:ext cx="205276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97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 &amp; browse podcasts</a:t>
            </a:r>
            <a:endParaRPr lang="en-US" sz="970" dirty="0"/>
          </a:p>
        </p:txBody>
      </p:sp>
      <p:sp>
        <p:nvSpPr>
          <p:cNvPr id="11" name="Text 8"/>
          <p:cNvSpPr/>
          <p:nvPr/>
        </p:nvSpPr>
        <p:spPr>
          <a:xfrm>
            <a:off x="736178" y="2714699"/>
            <a:ext cx="194257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97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Play, favorite, view history</a:t>
            </a:r>
            <a:endParaRPr lang="en-US" sz="970" dirty="0"/>
          </a:p>
        </p:txBody>
      </p:sp>
      <p:sp>
        <p:nvSpPr>
          <p:cNvPr id="12" name="Text 9"/>
          <p:cNvSpPr/>
          <p:nvPr/>
        </p:nvSpPr>
        <p:spPr>
          <a:xfrm>
            <a:off x="736178" y="2946127"/>
            <a:ext cx="183965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Manage catalog (admin)</a:t>
            </a:r>
            <a:endParaRPr lang="en-US" sz="970" dirty="0"/>
          </a:p>
        </p:txBody>
      </p:sp>
      <p:sp>
        <p:nvSpPr>
          <p:cNvPr id="13" name="Shape 10"/>
          <p:cNvSpPr/>
          <p:nvPr/>
        </p:nvSpPr>
        <p:spPr>
          <a:xfrm>
            <a:off x="3290850" y="1697906"/>
            <a:ext cx="2562225" cy="1604963"/>
          </a:xfrm>
          <a:prstGeom prst="roundRect">
            <a:avLst>
              <a:gd name="adj" fmla="val 6837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4" name="Text 11"/>
          <p:cNvSpPr/>
          <p:nvPr/>
        </p:nvSpPr>
        <p:spPr>
          <a:xfrm>
            <a:off x="3479378" y="1903958"/>
            <a:ext cx="7203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Class</a:t>
            </a:r>
            <a:endParaRPr lang="en-US" sz="1440" dirty="0"/>
          </a:p>
        </p:txBody>
      </p:sp>
      <p:sp>
        <p:nvSpPr>
          <p:cNvPr id="15" name="Text 12"/>
          <p:cNvSpPr/>
          <p:nvPr/>
        </p:nvSpPr>
        <p:spPr>
          <a:xfrm>
            <a:off x="3479378" y="2251844"/>
            <a:ext cx="174000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97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User, Podcast, Episode</a:t>
            </a:r>
            <a:endParaRPr lang="en-US" sz="970" dirty="0"/>
          </a:p>
        </p:txBody>
      </p:sp>
      <p:sp>
        <p:nvSpPr>
          <p:cNvPr id="16" name="Text 13"/>
          <p:cNvSpPr/>
          <p:nvPr/>
        </p:nvSpPr>
        <p:spPr>
          <a:xfrm>
            <a:off x="3479378" y="2483272"/>
            <a:ext cx="164182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97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Favorite, HistoryEntry</a:t>
            </a:r>
            <a:endParaRPr lang="en-US" sz="970" dirty="0"/>
          </a:p>
        </p:txBody>
      </p:sp>
      <p:sp>
        <p:nvSpPr>
          <p:cNvPr id="17" name="Text 14"/>
          <p:cNvSpPr/>
          <p:nvPr/>
        </p:nvSpPr>
        <p:spPr>
          <a:xfrm>
            <a:off x="3479378" y="2714699"/>
            <a:ext cx="191626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97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Recommendation, Metric</a:t>
            </a:r>
            <a:endParaRPr lang="en-US" sz="970" dirty="0"/>
          </a:p>
        </p:txBody>
      </p:sp>
      <p:sp>
        <p:nvSpPr>
          <p:cNvPr id="18" name="Text 15"/>
          <p:cNvSpPr/>
          <p:nvPr/>
        </p:nvSpPr>
        <p:spPr>
          <a:xfrm>
            <a:off x="3479378" y="2946127"/>
            <a:ext cx="215704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Associations &amp; multiplicities</a:t>
            </a:r>
            <a:endParaRPr lang="en-US" sz="970" dirty="0"/>
          </a:p>
        </p:txBody>
      </p:sp>
      <p:sp>
        <p:nvSpPr>
          <p:cNvPr id="19" name="Shape 16"/>
          <p:cNvSpPr/>
          <p:nvPr/>
        </p:nvSpPr>
        <p:spPr>
          <a:xfrm>
            <a:off x="6034050" y="1697906"/>
            <a:ext cx="2562225" cy="1604963"/>
          </a:xfrm>
          <a:prstGeom prst="roundRect">
            <a:avLst>
              <a:gd name="adj" fmla="val 6837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0" name="Text 17"/>
          <p:cNvSpPr/>
          <p:nvPr/>
        </p:nvSpPr>
        <p:spPr>
          <a:xfrm>
            <a:off x="6222578" y="1903958"/>
            <a:ext cx="127653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Sequence</a:t>
            </a:r>
            <a:endParaRPr lang="en-US" sz="1440" dirty="0"/>
          </a:p>
        </p:txBody>
      </p:sp>
      <p:sp>
        <p:nvSpPr>
          <p:cNvPr id="21" name="Text 18"/>
          <p:cNvSpPr/>
          <p:nvPr/>
        </p:nvSpPr>
        <p:spPr>
          <a:xfrm>
            <a:off x="6222578" y="2251844"/>
            <a:ext cx="180037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97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 requests playback</a:t>
            </a:r>
            <a:endParaRPr lang="en-US" sz="970" dirty="0"/>
          </a:p>
        </p:txBody>
      </p:sp>
      <p:sp>
        <p:nvSpPr>
          <p:cNvPr id="22" name="Text 19"/>
          <p:cNvSpPr/>
          <p:nvPr/>
        </p:nvSpPr>
        <p:spPr>
          <a:xfrm>
            <a:off x="6222578" y="2483272"/>
            <a:ext cx="178354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97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Player streams episode</a:t>
            </a:r>
            <a:endParaRPr lang="en-US" sz="970" dirty="0"/>
          </a:p>
        </p:txBody>
      </p:sp>
      <p:sp>
        <p:nvSpPr>
          <p:cNvPr id="23" name="Text 20"/>
          <p:cNvSpPr/>
          <p:nvPr/>
        </p:nvSpPr>
        <p:spPr>
          <a:xfrm>
            <a:off x="6222578" y="2714699"/>
            <a:ext cx="174881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97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History entry recorded</a:t>
            </a:r>
            <a:endParaRPr lang="en-US" sz="970" dirty="0"/>
          </a:p>
        </p:txBody>
      </p:sp>
      <p:sp>
        <p:nvSpPr>
          <p:cNvPr id="24" name="Text 21"/>
          <p:cNvSpPr/>
          <p:nvPr/>
        </p:nvSpPr>
        <p:spPr>
          <a:xfrm>
            <a:off x="6222578" y="2946127"/>
            <a:ext cx="220561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Recommendations refreshed</a:t>
            </a:r>
            <a:endParaRPr lang="en-US" sz="970" dirty="0"/>
          </a:p>
        </p:txBody>
      </p:sp>
      <p:sp>
        <p:nvSpPr>
          <p:cNvPr id="25" name="Text 22"/>
          <p:cNvSpPr/>
          <p:nvPr/>
        </p:nvSpPr>
        <p:spPr>
          <a:xfrm>
            <a:off x="548580" y="4409033"/>
            <a:ext cx="10133796" cy="358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1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models stay consistent end to end: use cases define behavior, the class diagram maps to the database schema, and sequence</a:t>
            </a:r>
            <a:endParaRPr lang="en-US" sz="1010" dirty="0"/>
          </a:p>
          <a:p>
            <a:pPr marL="0" indent="0" algn="l">
              <a:lnSpc>
                <a:spcPts val="1512"/>
              </a:lnSpc>
              <a:buNone/>
            </a:pPr>
            <a:r>
              <a:rPr lang="en-US" sz="101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diagrams trace the playback-to-recommendation loop.</a:t>
            </a:r>
            <a:endParaRPr lang="en-US" sz="101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7688" y="4270251"/>
            <a:ext cx="8048625" cy="5143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3048" y="1689757"/>
            <a:ext cx="5124450" cy="5124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580" y="369540"/>
            <a:ext cx="82215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23 / 28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48580" y="534665"/>
            <a:ext cx="4185650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600" b="1" kern="0" spc="-90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UI / UX Design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49511" y="1167631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Shape 4"/>
          <p:cNvSpPr/>
          <p:nvPr/>
        </p:nvSpPr>
        <p:spPr>
          <a:xfrm>
            <a:off x="548580" y="1747837"/>
            <a:ext cx="1828800" cy="1157288"/>
          </a:xfrm>
          <a:prstGeom prst="roundRect">
            <a:avLst>
              <a:gd name="adj" fmla="val 8691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Text 5"/>
          <p:cNvSpPr/>
          <p:nvPr/>
        </p:nvSpPr>
        <p:spPr>
          <a:xfrm>
            <a:off x="727025" y="1941463"/>
            <a:ext cx="128108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Clarity first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27025" y="2235771"/>
            <a:ext cx="1957090" cy="48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actions are always</a:t>
            </a:r>
            <a:endParaRPr lang="en-US" sz="940" dirty="0"/>
          </a:p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tap away with minimal</a:t>
            </a:r>
            <a:endParaRPr lang="en-US" sz="940" dirty="0"/>
          </a:p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chrome.</a:t>
            </a:r>
            <a:endParaRPr lang="en-US" sz="940" dirty="0"/>
          </a:p>
        </p:txBody>
      </p:sp>
      <p:sp>
        <p:nvSpPr>
          <p:cNvPr id="10" name="Shape 7"/>
          <p:cNvSpPr/>
          <p:nvPr/>
        </p:nvSpPr>
        <p:spPr>
          <a:xfrm>
            <a:off x="2560216" y="1747837"/>
            <a:ext cx="1828800" cy="1157288"/>
          </a:xfrm>
          <a:prstGeom prst="roundRect">
            <a:avLst>
              <a:gd name="adj" fmla="val 8691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1" name="Text 8"/>
          <p:cNvSpPr/>
          <p:nvPr/>
        </p:nvSpPr>
        <p:spPr>
          <a:xfrm>
            <a:off x="2738661" y="1941463"/>
            <a:ext cx="142967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Consistency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738661" y="2235771"/>
            <a:ext cx="1562881" cy="48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shared component</a:t>
            </a:r>
            <a:endParaRPr lang="en-US" sz="940" dirty="0"/>
          </a:p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system keeps every</a:t>
            </a:r>
            <a:endParaRPr lang="en-US" sz="940" dirty="0"/>
          </a:p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screen familiar.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548580" y="3086174"/>
            <a:ext cx="1828800" cy="1157288"/>
          </a:xfrm>
          <a:prstGeom prst="roundRect">
            <a:avLst>
              <a:gd name="adj" fmla="val 8691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4" name="Text 11"/>
          <p:cNvSpPr/>
          <p:nvPr/>
        </p:nvSpPr>
        <p:spPr>
          <a:xfrm>
            <a:off x="727025" y="3279800"/>
            <a:ext cx="133428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Responsive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27025" y="3574107"/>
            <a:ext cx="1769127" cy="320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Layouts adapt cleanly</a:t>
            </a:r>
            <a:endParaRPr lang="en-US" sz="940" dirty="0"/>
          </a:p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desktop to mobile.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2560216" y="3086174"/>
            <a:ext cx="1828800" cy="1157288"/>
          </a:xfrm>
          <a:prstGeom prst="roundRect">
            <a:avLst>
              <a:gd name="adj" fmla="val 8691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7" name="Text 14"/>
          <p:cNvSpPr/>
          <p:nvPr/>
        </p:nvSpPr>
        <p:spPr>
          <a:xfrm>
            <a:off x="2738661" y="3279800"/>
            <a:ext cx="12660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Accessible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738661" y="3574107"/>
            <a:ext cx="1791184" cy="48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Readable contrast, clear</a:t>
            </a:r>
            <a:endParaRPr lang="en-US" sz="940" dirty="0"/>
          </a:p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focus, and labeled</a:t>
            </a:r>
            <a:endParaRPr lang="en-US" sz="940" dirty="0"/>
          </a:p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controls.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5119762" y="1698315"/>
            <a:ext cx="3476625" cy="2295525"/>
          </a:xfrm>
          <a:prstGeom prst="roundRect">
            <a:avLst>
              <a:gd name="adj" fmla="val 5577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0" name="Text 17"/>
          <p:cNvSpPr/>
          <p:nvPr/>
        </p:nvSpPr>
        <p:spPr>
          <a:xfrm>
            <a:off x="5308327" y="1889671"/>
            <a:ext cx="136456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158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DESIGN SYSTEM</a:t>
            </a:r>
            <a:endParaRPr lang="en-US" sz="790" dirty="0"/>
          </a:p>
        </p:txBody>
      </p:sp>
      <p:sp>
        <p:nvSpPr>
          <p:cNvPr id="21" name="Shape 18"/>
          <p:cNvSpPr/>
          <p:nvPr/>
        </p:nvSpPr>
        <p:spPr>
          <a:xfrm>
            <a:off x="5307843" y="2127907"/>
            <a:ext cx="366712" cy="366712"/>
          </a:xfrm>
          <a:prstGeom prst="roundRect">
            <a:avLst>
              <a:gd name="adj" fmla="val 17455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2" name="Shape 19"/>
          <p:cNvSpPr/>
          <p:nvPr/>
        </p:nvSpPr>
        <p:spPr>
          <a:xfrm>
            <a:off x="5783275" y="2127907"/>
            <a:ext cx="366712" cy="366712"/>
          </a:xfrm>
          <a:prstGeom prst="roundRect">
            <a:avLst>
              <a:gd name="adj" fmla="val 17455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3" name="Shape 20"/>
          <p:cNvSpPr/>
          <p:nvPr/>
        </p:nvSpPr>
        <p:spPr>
          <a:xfrm>
            <a:off x="6258706" y="2127907"/>
            <a:ext cx="366712" cy="366712"/>
          </a:xfrm>
          <a:prstGeom prst="roundRect">
            <a:avLst>
              <a:gd name="adj" fmla="val 17455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4" name="Shape 21"/>
          <p:cNvSpPr/>
          <p:nvPr/>
        </p:nvSpPr>
        <p:spPr>
          <a:xfrm>
            <a:off x="6734138" y="2127907"/>
            <a:ext cx="366712" cy="366712"/>
          </a:xfrm>
          <a:prstGeom prst="roundRect">
            <a:avLst>
              <a:gd name="adj" fmla="val 17455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5" name="Text 22"/>
          <p:cNvSpPr/>
          <p:nvPr/>
        </p:nvSpPr>
        <p:spPr>
          <a:xfrm>
            <a:off x="5308327" y="2631058"/>
            <a:ext cx="221567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173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Sora — Display</a:t>
            </a:r>
            <a:endParaRPr lang="en-US" sz="1730" dirty="0"/>
          </a:p>
        </p:txBody>
      </p:sp>
      <p:sp>
        <p:nvSpPr>
          <p:cNvPr id="26" name="Text 23"/>
          <p:cNvSpPr/>
          <p:nvPr/>
        </p:nvSpPr>
        <p:spPr>
          <a:xfrm>
            <a:off x="5308327" y="3012356"/>
            <a:ext cx="3884116" cy="4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DM Sans — Body text for readable interface</a:t>
            </a:r>
            <a:endParaRPr lang="en-US" sz="1150" dirty="0"/>
          </a:p>
          <a:p>
            <a:pPr marL="0" indent="0" algn="l">
              <a:lnSpc>
                <a:spcPts val="1728"/>
              </a:lnSpc>
              <a:buNone/>
            </a:pPr>
            <a:r>
              <a:rPr lang="en-US" sz="115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copy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5307323" y="3550072"/>
            <a:ext cx="962025" cy="257175"/>
          </a:xfrm>
          <a:prstGeom prst="roundRect">
            <a:avLst>
              <a:gd name="adj" fmla="val 21333"/>
            </a:avLst>
          </a:prstGeom>
          <a:solidFill>
            <a:srgbClr val="0A0820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8" name="Text 25"/>
          <p:cNvSpPr/>
          <p:nvPr/>
        </p:nvSpPr>
        <p:spPr>
          <a:xfrm>
            <a:off x="5637981" y="3605882"/>
            <a:ext cx="44806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Cards</a:t>
            </a:r>
            <a:endParaRPr lang="en-US" sz="860" dirty="0"/>
          </a:p>
        </p:txBody>
      </p:sp>
      <p:sp>
        <p:nvSpPr>
          <p:cNvPr id="29" name="Shape 26"/>
          <p:cNvSpPr/>
          <p:nvPr/>
        </p:nvSpPr>
        <p:spPr>
          <a:xfrm>
            <a:off x="6377025" y="3550072"/>
            <a:ext cx="962025" cy="257175"/>
          </a:xfrm>
          <a:prstGeom prst="roundRect">
            <a:avLst>
              <a:gd name="adj" fmla="val 21333"/>
            </a:avLst>
          </a:prstGeom>
          <a:solidFill>
            <a:srgbClr val="0A0820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0" name="Text 27"/>
          <p:cNvSpPr/>
          <p:nvPr/>
        </p:nvSpPr>
        <p:spPr>
          <a:xfrm>
            <a:off x="6705600" y="3605882"/>
            <a:ext cx="45348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Player</a:t>
            </a:r>
            <a:endParaRPr lang="en-US" sz="860" dirty="0"/>
          </a:p>
        </p:txBody>
      </p:sp>
      <p:sp>
        <p:nvSpPr>
          <p:cNvPr id="31" name="Shape 28"/>
          <p:cNvSpPr/>
          <p:nvPr/>
        </p:nvSpPr>
        <p:spPr>
          <a:xfrm>
            <a:off x="7446727" y="3550072"/>
            <a:ext cx="962025" cy="257175"/>
          </a:xfrm>
          <a:prstGeom prst="roundRect">
            <a:avLst>
              <a:gd name="adj" fmla="val 21333"/>
            </a:avLst>
          </a:prstGeom>
          <a:solidFill>
            <a:srgbClr val="0A0820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2" name="Text 29"/>
          <p:cNvSpPr/>
          <p:nvPr/>
        </p:nvSpPr>
        <p:spPr>
          <a:xfrm>
            <a:off x="7757666" y="3605882"/>
            <a:ext cx="49924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Charts</a:t>
            </a:r>
            <a:endParaRPr lang="en-US" sz="86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74428" y="-1568723"/>
            <a:ext cx="4943475" cy="49434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580" y="369540"/>
            <a:ext cx="82389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24 / 28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48580" y="534665"/>
            <a:ext cx="4882165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600" b="1" kern="0" spc="-90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Testing Strategy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49511" y="1167631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Shape 4"/>
          <p:cNvSpPr/>
          <p:nvPr/>
        </p:nvSpPr>
        <p:spPr>
          <a:xfrm>
            <a:off x="548097" y="1697385"/>
            <a:ext cx="4024312" cy="800100"/>
          </a:xfrm>
          <a:prstGeom prst="roundRect">
            <a:avLst>
              <a:gd name="adj" fmla="val 11429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Text 5"/>
          <p:cNvSpPr/>
          <p:nvPr/>
        </p:nvSpPr>
        <p:spPr>
          <a:xfrm>
            <a:off x="717872" y="1880890"/>
            <a:ext cx="135847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Unit testing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17872" y="2164928"/>
            <a:ext cx="456834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Individual components and utility functions verified in isolation.</a:t>
            </a:r>
            <a:endParaRPr lang="en-US" sz="940" dirty="0"/>
          </a:p>
        </p:txBody>
      </p:sp>
      <p:sp>
        <p:nvSpPr>
          <p:cNvPr id="10" name="Shape 7"/>
          <p:cNvSpPr/>
          <p:nvPr/>
        </p:nvSpPr>
        <p:spPr>
          <a:xfrm>
            <a:off x="548097" y="2600474"/>
            <a:ext cx="4024312" cy="800100"/>
          </a:xfrm>
          <a:prstGeom prst="roundRect">
            <a:avLst>
              <a:gd name="adj" fmla="val 11429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1" name="Text 8"/>
          <p:cNvSpPr/>
          <p:nvPr/>
        </p:nvSpPr>
        <p:spPr>
          <a:xfrm>
            <a:off x="717872" y="2783979"/>
            <a:ext cx="212976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Integration testing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17872" y="3068017"/>
            <a:ext cx="415479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Search, playback, and data flow checked across modules.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548097" y="3503563"/>
            <a:ext cx="4024312" cy="800100"/>
          </a:xfrm>
          <a:prstGeom prst="roundRect">
            <a:avLst>
              <a:gd name="adj" fmla="val 11429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4" name="Text 11"/>
          <p:cNvSpPr/>
          <p:nvPr/>
        </p:nvSpPr>
        <p:spPr>
          <a:xfrm>
            <a:off x="717872" y="3687068"/>
            <a:ext cx="186751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Usability testing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17872" y="3971106"/>
            <a:ext cx="442788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 users complete core tasks; feedback drives refinements.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5304197" y="1698092"/>
            <a:ext cx="1571625" cy="881063"/>
          </a:xfrm>
          <a:prstGeom prst="roundRect">
            <a:avLst>
              <a:gd name="adj" fmla="val 10378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7" name="Text 14"/>
          <p:cNvSpPr/>
          <p:nvPr/>
        </p:nvSpPr>
        <p:spPr>
          <a:xfrm>
            <a:off x="5609630" y="1823740"/>
            <a:ext cx="960686" cy="390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92%</a:t>
            </a:r>
            <a:endParaRPr lang="en-US" sz="2450" dirty="0"/>
          </a:p>
        </p:txBody>
      </p:sp>
      <p:sp>
        <p:nvSpPr>
          <p:cNvPr id="18" name="Text 15"/>
          <p:cNvSpPr/>
          <p:nvPr/>
        </p:nvSpPr>
        <p:spPr>
          <a:xfrm>
            <a:off x="5581189" y="2248719"/>
            <a:ext cx="1017568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486"/>
              </a:spcBef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 pass rate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023236" y="1698092"/>
            <a:ext cx="1571625" cy="881063"/>
          </a:xfrm>
          <a:prstGeom prst="roundRect">
            <a:avLst>
              <a:gd name="adj" fmla="val 10378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0" name="Text 17"/>
          <p:cNvSpPr/>
          <p:nvPr/>
        </p:nvSpPr>
        <p:spPr>
          <a:xfrm>
            <a:off x="7366482" y="1823740"/>
            <a:ext cx="885133" cy="390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40+</a:t>
            </a:r>
            <a:endParaRPr lang="en-US" sz="2450" dirty="0"/>
          </a:p>
        </p:txBody>
      </p:sp>
      <p:sp>
        <p:nvSpPr>
          <p:cNvPr id="21" name="Text 18"/>
          <p:cNvSpPr/>
          <p:nvPr/>
        </p:nvSpPr>
        <p:spPr>
          <a:xfrm>
            <a:off x="7419011" y="2248719"/>
            <a:ext cx="780075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486"/>
              </a:spcBef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 cases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304197" y="2727015"/>
            <a:ext cx="1571625" cy="881063"/>
          </a:xfrm>
          <a:prstGeom prst="roundRect">
            <a:avLst>
              <a:gd name="adj" fmla="val 10378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3" name="Text 20"/>
          <p:cNvSpPr/>
          <p:nvPr/>
        </p:nvSpPr>
        <p:spPr>
          <a:xfrm>
            <a:off x="5920740" y="2852663"/>
            <a:ext cx="338465" cy="390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6</a:t>
            </a:r>
            <a:endParaRPr lang="en-US" sz="2450" dirty="0"/>
          </a:p>
        </p:txBody>
      </p:sp>
      <p:sp>
        <p:nvSpPr>
          <p:cNvPr id="24" name="Text 21"/>
          <p:cNvSpPr/>
          <p:nvPr/>
        </p:nvSpPr>
        <p:spPr>
          <a:xfrm>
            <a:off x="5470810" y="3277642"/>
            <a:ext cx="1238324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486"/>
              </a:spcBef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Modules covered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7023236" y="2727015"/>
            <a:ext cx="1571625" cy="881063"/>
          </a:xfrm>
          <a:prstGeom prst="roundRect">
            <a:avLst>
              <a:gd name="adj" fmla="val 10378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6" name="Text 23"/>
          <p:cNvSpPr/>
          <p:nvPr/>
        </p:nvSpPr>
        <p:spPr>
          <a:xfrm>
            <a:off x="7459169" y="2852663"/>
            <a:ext cx="699686" cy="390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&lt;1s</a:t>
            </a:r>
            <a:endParaRPr lang="en-US" sz="2450" dirty="0"/>
          </a:p>
        </p:txBody>
      </p:sp>
      <p:sp>
        <p:nvSpPr>
          <p:cNvPr id="27" name="Text 24"/>
          <p:cNvSpPr/>
          <p:nvPr/>
        </p:nvSpPr>
        <p:spPr>
          <a:xfrm>
            <a:off x="7205413" y="3277642"/>
            <a:ext cx="1207271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486"/>
              </a:spcBef>
              <a:buNone/>
            </a:pPr>
            <a:r>
              <a:rPr lang="en-US" sz="90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 response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73498" y="1689757"/>
            <a:ext cx="5124450" cy="5124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580" y="369540"/>
            <a:ext cx="8247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/ 28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48580" y="534665"/>
            <a:ext cx="6872168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600" b="1" kern="0" spc="-90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Challenges &amp; Solutions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49511" y="1167631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Shape 4"/>
          <p:cNvSpPr/>
          <p:nvPr/>
        </p:nvSpPr>
        <p:spPr>
          <a:xfrm>
            <a:off x="548580" y="1696269"/>
            <a:ext cx="3657600" cy="971550"/>
          </a:xfrm>
          <a:prstGeom prst="roundRect">
            <a:avLst>
              <a:gd name="adj" fmla="val 9412"/>
            </a:avLst>
          </a:prstGeom>
          <a:solidFill>
            <a:srgbClr val="14102E">
              <a:alpha val="50196"/>
            </a:srgbClr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Text 5"/>
          <p:cNvSpPr/>
          <p:nvPr/>
        </p:nvSpPr>
        <p:spPr>
          <a:xfrm>
            <a:off x="717872" y="1871365"/>
            <a:ext cx="103681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158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CHALLENGE</a:t>
            </a:r>
            <a:endParaRPr lang="en-US" sz="790" dirty="0"/>
          </a:p>
        </p:txBody>
      </p:sp>
      <p:sp>
        <p:nvSpPr>
          <p:cNvPr id="9" name="Text 6"/>
          <p:cNvSpPr/>
          <p:nvPr/>
        </p:nvSpPr>
        <p:spPr>
          <a:xfrm>
            <a:off x="717872" y="2072878"/>
            <a:ext cx="391410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115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Recommendations were cold for new users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389016" y="2072878"/>
            <a:ext cx="23640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09480" y="1696269"/>
            <a:ext cx="3886200" cy="971550"/>
          </a:xfrm>
          <a:prstGeom prst="roundRect">
            <a:avLst>
              <a:gd name="adj" fmla="val 9412"/>
            </a:avLst>
          </a:prstGeom>
          <a:solidFill>
            <a:srgbClr val="14102E"/>
          </a:solidFill>
          <a:ln w="4763">
            <a:solidFill>
              <a:srgbClr val="7D39E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2" name="Text 9"/>
          <p:cNvSpPr/>
          <p:nvPr/>
        </p:nvSpPr>
        <p:spPr>
          <a:xfrm>
            <a:off x="4879032" y="1871365"/>
            <a:ext cx="88929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158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SOLUTION</a:t>
            </a:r>
            <a:endParaRPr lang="en-US" sz="790" dirty="0"/>
          </a:p>
        </p:txBody>
      </p:sp>
      <p:sp>
        <p:nvSpPr>
          <p:cNvPr id="13" name="Text 10"/>
          <p:cNvSpPr/>
          <p:nvPr/>
        </p:nvSpPr>
        <p:spPr>
          <a:xfrm>
            <a:off x="4879032" y="2072878"/>
            <a:ext cx="3636757" cy="4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Seed with category and popularity, then</a:t>
            </a:r>
            <a:endParaRPr lang="en-US" sz="1150" dirty="0"/>
          </a:p>
          <a:p>
            <a:pPr marL="0" indent="0" algn="l">
              <a:lnSpc>
                <a:spcPts val="1728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personalize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580" y="2770770"/>
            <a:ext cx="3657600" cy="747712"/>
          </a:xfrm>
          <a:prstGeom prst="roundRect">
            <a:avLst>
              <a:gd name="adj" fmla="val 12229"/>
            </a:avLst>
          </a:prstGeom>
          <a:solidFill>
            <a:srgbClr val="14102E">
              <a:alpha val="50196"/>
            </a:srgbClr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5" name="Text 12"/>
          <p:cNvSpPr/>
          <p:nvPr/>
        </p:nvSpPr>
        <p:spPr>
          <a:xfrm>
            <a:off x="717872" y="2943671"/>
            <a:ext cx="103681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158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CHALLENGE</a:t>
            </a:r>
            <a:endParaRPr lang="en-US" sz="790" dirty="0"/>
          </a:p>
        </p:txBody>
      </p:sp>
      <p:sp>
        <p:nvSpPr>
          <p:cNvPr id="16" name="Text 13"/>
          <p:cNvSpPr/>
          <p:nvPr/>
        </p:nvSpPr>
        <p:spPr>
          <a:xfrm>
            <a:off x="717872" y="3145185"/>
            <a:ext cx="314513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115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 slowed as the catalog grew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389016" y="3035424"/>
            <a:ext cx="23640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709480" y="2770770"/>
            <a:ext cx="3886200" cy="747712"/>
          </a:xfrm>
          <a:prstGeom prst="roundRect">
            <a:avLst>
              <a:gd name="adj" fmla="val 12229"/>
            </a:avLst>
          </a:prstGeom>
          <a:solidFill>
            <a:srgbClr val="14102E"/>
          </a:solidFill>
          <a:ln w="4763">
            <a:solidFill>
              <a:srgbClr val="7D39E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9" name="Text 16"/>
          <p:cNvSpPr/>
          <p:nvPr/>
        </p:nvSpPr>
        <p:spPr>
          <a:xfrm>
            <a:off x="4879032" y="2943671"/>
            <a:ext cx="88929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158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SOLUTION</a:t>
            </a:r>
            <a:endParaRPr lang="en-US" sz="790" dirty="0"/>
          </a:p>
        </p:txBody>
      </p:sp>
      <p:sp>
        <p:nvSpPr>
          <p:cNvPr id="20" name="Text 17"/>
          <p:cNvSpPr/>
          <p:nvPr/>
        </p:nvSpPr>
        <p:spPr>
          <a:xfrm>
            <a:off x="4879032" y="3145185"/>
            <a:ext cx="348565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115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Indexed fields and debounced queries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580" y="3623630"/>
            <a:ext cx="3657600" cy="747712"/>
          </a:xfrm>
          <a:prstGeom prst="roundRect">
            <a:avLst>
              <a:gd name="adj" fmla="val 12229"/>
            </a:avLst>
          </a:prstGeom>
          <a:solidFill>
            <a:srgbClr val="14102E">
              <a:alpha val="50196"/>
            </a:srgbClr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2" name="Text 19"/>
          <p:cNvSpPr/>
          <p:nvPr/>
        </p:nvSpPr>
        <p:spPr>
          <a:xfrm>
            <a:off x="717872" y="3796531"/>
            <a:ext cx="103681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158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CHALLENGE</a:t>
            </a:r>
            <a:endParaRPr lang="en-US" sz="790" dirty="0"/>
          </a:p>
        </p:txBody>
      </p:sp>
      <p:sp>
        <p:nvSpPr>
          <p:cNvPr id="23" name="Text 20"/>
          <p:cNvSpPr/>
          <p:nvPr/>
        </p:nvSpPr>
        <p:spPr>
          <a:xfrm>
            <a:off x="717872" y="3998044"/>
            <a:ext cx="299944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115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Playback state lost on navigation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389016" y="3888284"/>
            <a:ext cx="23640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709480" y="3623630"/>
            <a:ext cx="3886200" cy="747712"/>
          </a:xfrm>
          <a:prstGeom prst="roundRect">
            <a:avLst>
              <a:gd name="adj" fmla="val 12229"/>
            </a:avLst>
          </a:prstGeom>
          <a:solidFill>
            <a:srgbClr val="14102E"/>
          </a:solidFill>
          <a:ln w="4763">
            <a:solidFill>
              <a:srgbClr val="7D39E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6" name="Text 23"/>
          <p:cNvSpPr/>
          <p:nvPr/>
        </p:nvSpPr>
        <p:spPr>
          <a:xfrm>
            <a:off x="4879032" y="3796531"/>
            <a:ext cx="88929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158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SOLUTION</a:t>
            </a:r>
            <a:endParaRPr lang="en-US" sz="790" dirty="0"/>
          </a:p>
        </p:txBody>
      </p:sp>
      <p:sp>
        <p:nvSpPr>
          <p:cNvPr id="27" name="Text 24"/>
          <p:cNvSpPr/>
          <p:nvPr/>
        </p:nvSpPr>
        <p:spPr>
          <a:xfrm>
            <a:off x="4879032" y="3998044"/>
            <a:ext cx="322465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115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Global player with centralized state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74953" y="-1568723"/>
            <a:ext cx="4943475" cy="49434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580" y="369540"/>
            <a:ext cx="82718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26 / 28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548580" y="534665"/>
            <a:ext cx="6437040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600" b="1" kern="0" spc="-90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Future Enhancements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49511" y="1167631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Shape 4"/>
          <p:cNvSpPr/>
          <p:nvPr/>
        </p:nvSpPr>
        <p:spPr>
          <a:xfrm>
            <a:off x="547650" y="1748842"/>
            <a:ext cx="2562225" cy="1023937"/>
          </a:xfrm>
          <a:prstGeom prst="roundRect">
            <a:avLst>
              <a:gd name="adj" fmla="val 10716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Text 5"/>
          <p:cNvSpPr/>
          <p:nvPr/>
        </p:nvSpPr>
        <p:spPr>
          <a:xfrm>
            <a:off x="736178" y="1955378"/>
            <a:ext cx="230960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Native mobile apps</a:t>
            </a:r>
            <a:endParaRPr lang="en-US" sz="1370" dirty="0"/>
          </a:p>
        </p:txBody>
      </p:sp>
      <p:sp>
        <p:nvSpPr>
          <p:cNvPr id="9" name="Text 6"/>
          <p:cNvSpPr/>
          <p:nvPr/>
        </p:nvSpPr>
        <p:spPr>
          <a:xfrm>
            <a:off x="736178" y="2258616"/>
            <a:ext cx="2569830" cy="320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iOS and Android clients with offline</a:t>
            </a:r>
            <a:endParaRPr lang="en-US" sz="940" dirty="0"/>
          </a:p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downloads.</a:t>
            </a:r>
            <a:endParaRPr lang="en-US" sz="940" dirty="0"/>
          </a:p>
        </p:txBody>
      </p:sp>
      <p:sp>
        <p:nvSpPr>
          <p:cNvPr id="10" name="Shape 7"/>
          <p:cNvSpPr/>
          <p:nvPr/>
        </p:nvSpPr>
        <p:spPr>
          <a:xfrm>
            <a:off x="3290850" y="1748842"/>
            <a:ext cx="2562225" cy="1023937"/>
          </a:xfrm>
          <a:prstGeom prst="roundRect">
            <a:avLst>
              <a:gd name="adj" fmla="val 10716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1" name="Text 8"/>
          <p:cNvSpPr/>
          <p:nvPr/>
        </p:nvSpPr>
        <p:spPr>
          <a:xfrm>
            <a:off x="3479378" y="1955378"/>
            <a:ext cx="128746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Smarter AI</a:t>
            </a:r>
            <a:endParaRPr lang="en-US" sz="1370" dirty="0"/>
          </a:p>
        </p:txBody>
      </p:sp>
      <p:sp>
        <p:nvSpPr>
          <p:cNvPr id="12" name="Text 9"/>
          <p:cNvSpPr/>
          <p:nvPr/>
        </p:nvSpPr>
        <p:spPr>
          <a:xfrm>
            <a:off x="3479378" y="2258616"/>
            <a:ext cx="2700814" cy="320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Deeper models using transcripts and</a:t>
            </a:r>
            <a:endParaRPr lang="en-US" sz="940" dirty="0"/>
          </a:p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topic embeddings.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6034050" y="1748842"/>
            <a:ext cx="2562225" cy="1023937"/>
          </a:xfrm>
          <a:prstGeom prst="roundRect">
            <a:avLst>
              <a:gd name="adj" fmla="val 10716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4" name="Text 11"/>
          <p:cNvSpPr/>
          <p:nvPr/>
        </p:nvSpPr>
        <p:spPr>
          <a:xfrm>
            <a:off x="6222578" y="1955378"/>
            <a:ext cx="178112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Social features</a:t>
            </a:r>
            <a:endParaRPr lang="en-US" sz="1370" dirty="0"/>
          </a:p>
        </p:txBody>
      </p:sp>
      <p:sp>
        <p:nvSpPr>
          <p:cNvPr id="15" name="Text 12"/>
          <p:cNvSpPr/>
          <p:nvPr/>
        </p:nvSpPr>
        <p:spPr>
          <a:xfrm>
            <a:off x="6222578" y="2258616"/>
            <a:ext cx="2084301" cy="320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Shared playlists, follows, and</a:t>
            </a:r>
            <a:endParaRPr lang="en-US" sz="940" dirty="0"/>
          </a:p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recommendations.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547650" y="2955838"/>
            <a:ext cx="2562225" cy="1023937"/>
          </a:xfrm>
          <a:prstGeom prst="roundRect">
            <a:avLst>
              <a:gd name="adj" fmla="val 10716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7" name="Text 14"/>
          <p:cNvSpPr/>
          <p:nvPr/>
        </p:nvSpPr>
        <p:spPr>
          <a:xfrm>
            <a:off x="736178" y="3162374"/>
            <a:ext cx="159258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Creator tools</a:t>
            </a:r>
            <a:endParaRPr lang="en-US" sz="1370" dirty="0"/>
          </a:p>
        </p:txBody>
      </p:sp>
      <p:sp>
        <p:nvSpPr>
          <p:cNvPr id="18" name="Text 15"/>
          <p:cNvSpPr/>
          <p:nvPr/>
        </p:nvSpPr>
        <p:spPr>
          <a:xfrm>
            <a:off x="736178" y="3465612"/>
            <a:ext cx="277007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Upload, hosting, and creator analytics.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3290850" y="2955838"/>
            <a:ext cx="2562225" cy="1023937"/>
          </a:xfrm>
          <a:prstGeom prst="roundRect">
            <a:avLst>
              <a:gd name="adj" fmla="val 10716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0" name="Text 17"/>
          <p:cNvSpPr/>
          <p:nvPr/>
        </p:nvSpPr>
        <p:spPr>
          <a:xfrm>
            <a:off x="3479378" y="3162374"/>
            <a:ext cx="2401119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Transcripts &amp; search</a:t>
            </a:r>
            <a:endParaRPr lang="en-US" sz="1370" dirty="0"/>
          </a:p>
        </p:txBody>
      </p:sp>
      <p:sp>
        <p:nvSpPr>
          <p:cNvPr id="21" name="Text 18"/>
          <p:cNvSpPr/>
          <p:nvPr/>
        </p:nvSpPr>
        <p:spPr>
          <a:xfrm>
            <a:off x="3479378" y="3465612"/>
            <a:ext cx="273486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Full-text search inside episode audio.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6034050" y="2955838"/>
            <a:ext cx="2562225" cy="1023937"/>
          </a:xfrm>
          <a:prstGeom prst="roundRect">
            <a:avLst>
              <a:gd name="adj" fmla="val 10716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3" name="Text 20"/>
          <p:cNvSpPr/>
          <p:nvPr/>
        </p:nvSpPr>
        <p:spPr>
          <a:xfrm>
            <a:off x="6222578" y="3162374"/>
            <a:ext cx="156433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Accessibility</a:t>
            </a:r>
            <a:endParaRPr lang="en-US" sz="1370" dirty="0"/>
          </a:p>
        </p:txBody>
      </p:sp>
      <p:sp>
        <p:nvSpPr>
          <p:cNvPr id="24" name="Text 21"/>
          <p:cNvSpPr/>
          <p:nvPr/>
        </p:nvSpPr>
        <p:spPr>
          <a:xfrm>
            <a:off x="6222578" y="3465612"/>
            <a:ext cx="2505112" cy="320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Captions, keyboard shortcuts, and</a:t>
            </a:r>
            <a:endParaRPr lang="en-US" sz="940" dirty="0"/>
          </a:p>
          <a:p>
            <a:pPr marL="0" indent="0" algn="l">
              <a:lnSpc>
                <a:spcPts val="1286"/>
              </a:lnSpc>
              <a:buNone/>
            </a:pPr>
            <a:r>
              <a:rPr lang="en-US" sz="94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screen-reader polish.</a:t>
            </a:r>
            <a:endParaRPr lang="en-US" sz="94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74911" y="-1672121"/>
            <a:ext cx="5310187" cy="531018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74953" y="1871663"/>
            <a:ext cx="4943475" cy="49434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580" y="369540"/>
            <a:ext cx="81161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kern="0" spc="259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27 / 28</a:t>
            </a:r>
            <a:endParaRPr lang="en-US" sz="860" dirty="0"/>
          </a:p>
        </p:txBody>
      </p:sp>
      <p:sp>
        <p:nvSpPr>
          <p:cNvPr id="6" name="Text 2"/>
          <p:cNvSpPr/>
          <p:nvPr/>
        </p:nvSpPr>
        <p:spPr>
          <a:xfrm>
            <a:off x="548580" y="534665"/>
            <a:ext cx="3456340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3600" b="1" kern="0" spc="-90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7" name="Shape 3"/>
          <p:cNvSpPr/>
          <p:nvPr/>
        </p:nvSpPr>
        <p:spPr>
          <a:xfrm>
            <a:off x="549511" y="1167631"/>
            <a:ext cx="1095375" cy="190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8" name="Text 4"/>
          <p:cNvSpPr/>
          <p:nvPr/>
        </p:nvSpPr>
        <p:spPr>
          <a:xfrm>
            <a:off x="548580" y="1743968"/>
            <a:ext cx="5549079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2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Podcast Platform turns listening</a:t>
            </a:r>
            <a:endParaRPr lang="en-US" sz="2020" dirty="0"/>
          </a:p>
        </p:txBody>
      </p:sp>
      <p:sp>
        <p:nvSpPr>
          <p:cNvPr id="9" name="Text 5"/>
          <p:cNvSpPr/>
          <p:nvPr/>
        </p:nvSpPr>
        <p:spPr>
          <a:xfrm>
            <a:off x="548580" y="2064023"/>
            <a:ext cx="4832635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2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into a personal, measurable,</a:t>
            </a:r>
            <a:endParaRPr lang="en-US" sz="2020" dirty="0"/>
          </a:p>
        </p:txBody>
      </p:sp>
      <p:sp>
        <p:nvSpPr>
          <p:cNvPr id="10" name="Text 6"/>
          <p:cNvSpPr/>
          <p:nvPr/>
        </p:nvSpPr>
        <p:spPr>
          <a:xfrm>
            <a:off x="548580" y="2384078"/>
            <a:ext cx="4387833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2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and cohesive experience.</a:t>
            </a:r>
            <a:endParaRPr lang="en-US" sz="2020" dirty="0"/>
          </a:p>
        </p:txBody>
      </p:sp>
      <p:sp>
        <p:nvSpPr>
          <p:cNvPr id="11" name="Text 7"/>
          <p:cNvSpPr/>
          <p:nvPr/>
        </p:nvSpPr>
        <p:spPr>
          <a:xfrm>
            <a:off x="548580" y="2882205"/>
            <a:ext cx="5609540" cy="665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71"/>
              </a:lnSpc>
              <a:buNone/>
            </a:pPr>
            <a:r>
              <a:rPr lang="en-US" sz="115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modular React application that unifies discovery, playback, AI</a:t>
            </a:r>
            <a:endParaRPr lang="en-US" sz="1150" dirty="0"/>
          </a:p>
          <a:p>
            <a:pPr marL="0" indent="0" algn="l">
              <a:lnSpc>
                <a:spcPts val="1871"/>
              </a:lnSpc>
              <a:buNone/>
            </a:pPr>
            <a:r>
              <a:rPr lang="en-US" sz="115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recommendations, and analytics — built on an architecture</a:t>
            </a:r>
            <a:endParaRPr lang="en-US" sz="1150" dirty="0"/>
          </a:p>
          <a:p>
            <a:pPr marL="0" indent="0" algn="l">
              <a:lnSpc>
                <a:spcPts val="1871"/>
              </a:lnSpc>
              <a:buNone/>
            </a:pPr>
            <a:r>
              <a:rPr lang="en-US" sz="115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designed to scale.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304086" y="1801267"/>
            <a:ext cx="3290887" cy="557213"/>
          </a:xfrm>
          <a:prstGeom prst="roundRect">
            <a:avLst>
              <a:gd name="adj" fmla="val 16410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3" name="Shape 9"/>
          <p:cNvSpPr/>
          <p:nvPr/>
        </p:nvSpPr>
        <p:spPr>
          <a:xfrm>
            <a:off x="5453546" y="1951286"/>
            <a:ext cx="57150" cy="2571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4" name="Text 10"/>
          <p:cNvSpPr/>
          <p:nvPr/>
        </p:nvSpPr>
        <p:spPr>
          <a:xfrm>
            <a:off x="5637535" y="1984400"/>
            <a:ext cx="32282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six modules delivered and tested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304086" y="2461394"/>
            <a:ext cx="3290887" cy="742950"/>
          </a:xfrm>
          <a:prstGeom prst="roundRect">
            <a:avLst>
              <a:gd name="adj" fmla="val 12308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6" name="Shape 12"/>
          <p:cNvSpPr/>
          <p:nvPr/>
        </p:nvSpPr>
        <p:spPr>
          <a:xfrm>
            <a:off x="5455295" y="2704281"/>
            <a:ext cx="52388" cy="2571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7" name="Text 13"/>
          <p:cNvSpPr/>
          <p:nvPr/>
        </p:nvSpPr>
        <p:spPr>
          <a:xfrm>
            <a:off x="5636270" y="2627709"/>
            <a:ext cx="2488763" cy="4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and analytics as the core</a:t>
            </a:r>
            <a:endParaRPr lang="en-US" sz="1150" dirty="0"/>
          </a:p>
          <a:p>
            <a:pPr marL="0" indent="0" algn="l">
              <a:lnSpc>
                <a:spcPts val="1728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differentiators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304086" y="3307259"/>
            <a:ext cx="3290887" cy="557213"/>
          </a:xfrm>
          <a:prstGeom prst="roundRect">
            <a:avLst>
              <a:gd name="adj" fmla="val 16410"/>
            </a:avLst>
          </a:prstGeom>
          <a:solidFill>
            <a:srgbClr val="14102E"/>
          </a:solidFill>
          <a:ln w="4763">
            <a:solidFill>
              <a:srgbClr val="2A235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9" name="Shape 15"/>
          <p:cNvSpPr/>
          <p:nvPr/>
        </p:nvSpPr>
        <p:spPr>
          <a:xfrm>
            <a:off x="5453546" y="3457277"/>
            <a:ext cx="57150" cy="25717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0" name="Text 16"/>
          <p:cNvSpPr/>
          <p:nvPr/>
        </p:nvSpPr>
        <p:spPr>
          <a:xfrm>
            <a:off x="5637535" y="3490392"/>
            <a:ext cx="336434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clear roadmap for what comes next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548580" y="4587329"/>
            <a:ext cx="720282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Thank you to our supervisor and the evaluation committee for their guidance and time.</a:t>
            </a:r>
            <a:endParaRPr lang="en-US" sz="108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7688" y="4449887"/>
            <a:ext cx="8048625" cy="33337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2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86263" y="-1671637"/>
            <a:ext cx="6315075" cy="631507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740173" y="1671638"/>
            <a:ext cx="5400675" cy="5400675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>
            <a:alphaModFix amt="6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548357" y="359792"/>
            <a:ext cx="238125" cy="238125"/>
          </a:xfrm>
          <a:prstGeom prst="roundRect">
            <a:avLst>
              <a:gd name="adj" fmla="val 2304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Shape 2"/>
          <p:cNvSpPr/>
          <p:nvPr/>
        </p:nvSpPr>
        <p:spPr>
          <a:xfrm>
            <a:off x="622176" y="433611"/>
            <a:ext cx="90488" cy="90488"/>
          </a:xfrm>
          <a:prstGeom prst="ellipse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8" name="Text 3"/>
          <p:cNvSpPr/>
          <p:nvPr/>
        </p:nvSpPr>
        <p:spPr>
          <a:xfrm>
            <a:off x="877639" y="390302"/>
            <a:ext cx="156481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-27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Podcast Platform</a:t>
            </a:r>
            <a:endParaRPr lang="en-US" sz="1080" dirty="0"/>
          </a:p>
        </p:txBody>
      </p:sp>
      <p:sp>
        <p:nvSpPr>
          <p:cNvPr id="9" name="Text 4"/>
          <p:cNvSpPr/>
          <p:nvPr/>
        </p:nvSpPr>
        <p:spPr>
          <a:xfrm>
            <a:off x="8056587" y="395660"/>
            <a:ext cx="75763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238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28 / 28</a:t>
            </a:r>
            <a:endParaRPr lang="en-US" sz="790" dirty="0"/>
          </a:p>
        </p:txBody>
      </p:sp>
      <p:sp>
        <p:nvSpPr>
          <p:cNvPr id="10" name="Text 5"/>
          <p:cNvSpPr/>
          <p:nvPr/>
        </p:nvSpPr>
        <p:spPr>
          <a:xfrm>
            <a:off x="548580" y="1964010"/>
            <a:ext cx="155765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1010" kern="0" spc="323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DISCUSSION</a:t>
            </a:r>
            <a:endParaRPr lang="en-US" sz="1010" dirty="0"/>
          </a:p>
        </p:txBody>
      </p:sp>
      <p:sp>
        <p:nvSpPr>
          <p:cNvPr id="11" name="Text 6"/>
          <p:cNvSpPr/>
          <p:nvPr/>
        </p:nvSpPr>
        <p:spPr>
          <a:xfrm>
            <a:off x="548580" y="2130251"/>
            <a:ext cx="5449052" cy="923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760" b="1" kern="0" spc="-144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Questions?</a:t>
            </a:r>
            <a:endParaRPr lang="en-US" sz="576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580" y="3099383"/>
            <a:ext cx="1828800" cy="2381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8580" y="3307705"/>
            <a:ext cx="7055294" cy="53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68"/>
              </a:lnSpc>
              <a:buNone/>
            </a:pPr>
            <a:r>
              <a:rPr lang="en-US" sz="151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Thank you. We welcome your questions and feedback on the</a:t>
            </a:r>
            <a:endParaRPr lang="en-US" sz="1510" dirty="0"/>
          </a:p>
          <a:p>
            <a:pPr marL="0" indent="0" algn="l">
              <a:lnSpc>
                <a:spcPts val="2268"/>
              </a:lnSpc>
              <a:buNone/>
            </a:pPr>
            <a:r>
              <a:rPr lang="en-US" sz="151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design, implementation, and results.</a:t>
            </a:r>
            <a:endParaRPr lang="en-US" sz="1510" dirty="0"/>
          </a:p>
        </p:txBody>
      </p:sp>
      <p:sp>
        <p:nvSpPr>
          <p:cNvPr id="14" name="Shape 8"/>
          <p:cNvSpPr/>
          <p:nvPr/>
        </p:nvSpPr>
        <p:spPr>
          <a:xfrm>
            <a:off x="547688" y="4435859"/>
            <a:ext cx="8048625" cy="347663"/>
          </a:xfrm>
          <a:prstGeom prst="rect">
            <a:avLst/>
          </a:prstGeom>
          <a:ln/>
        </p:spPr>
        <p:txBody>
          <a:bodyPr/>
          <a:lstStyle/>
          <a:p>
            <a:endParaRPr lang="ar-EG"/>
          </a:p>
        </p:txBody>
      </p:sp>
      <p:sp>
        <p:nvSpPr>
          <p:cNvPr id="15" name="Text 9"/>
          <p:cNvSpPr/>
          <p:nvPr/>
        </p:nvSpPr>
        <p:spPr>
          <a:xfrm>
            <a:off x="548580" y="4578325"/>
            <a:ext cx="386148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1F5F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Podcast Platform — Graduation Project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6882854" y="4601021"/>
            <a:ext cx="228348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9A94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React · Vite · JavaScript · CSS</a:t>
            </a:r>
            <a:endParaRPr lang="en-US" sz="101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7688" y="4435859"/>
            <a:ext cx="8048625" cy="34766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05D3218-372F-E43C-0783-776533DFB7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8683" y="623088"/>
            <a:ext cx="716217" cy="71621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27219AB-5658-05BD-11AD-2D1718A8C7D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94650" y="597917"/>
            <a:ext cx="637585" cy="6952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1996</Words>
  <Application>Microsoft Office PowerPoint</Application>
  <PresentationFormat>On-screen Show (16:9)</PresentationFormat>
  <Paragraphs>581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Bahnschrift SemiCondensed</vt:lpstr>
      <vt:lpstr>DM Sans</vt:lpstr>
      <vt:lpstr>Sora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adel alkady</cp:lastModifiedBy>
  <cp:revision>4</cp:revision>
  <dcterms:created xsi:type="dcterms:W3CDTF">2026-06-26T08:17:12Z</dcterms:created>
  <dcterms:modified xsi:type="dcterms:W3CDTF">2026-06-26T21:19:25Z</dcterms:modified>
</cp:coreProperties>
</file>